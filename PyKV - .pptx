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</p:sldIdLst>
  <p:sldSz cx="18288000" cy="10287000"/>
  <p:notesSz cx="6858000" cy="9144000"/>
  <p:embeddedFontLst>
    <p:embeddedFont>
      <p:font typeface="Montserrat" panose="00000500000000000000" pitchFamily="2" charset="0"/>
      <p:regular r:id="rId24"/>
    </p:embeddedFont>
    <p:embeddedFont>
      <p:font typeface="Montserrat Bold" panose="020B0604020202020204" charset="0"/>
      <p:regular r:id="rId25"/>
    </p:embeddedFont>
    <p:embeddedFont>
      <p:font typeface="Montserrat Italics" panose="020B0604020202020204" charset="0"/>
      <p:regular r:id="rId26"/>
    </p:embeddedFont>
    <p:embeddedFont>
      <p:font typeface="Roboto Bold" panose="020B0604020202020204" charset="0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33" d="100"/>
          <a:sy n="33" d="100"/>
        </p:scale>
        <p:origin x="1954" y="6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16:32:16.84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14 94 4915,'-1'9'421,"1"0"-1,-2 0 1,1-1-1,-1 1 1,-6 16-1,11-69-439,-1 3-160,-1 24 119,3-18-116,-4 34 190,0 0-1,0 0 1,0-1 0,1 1-1,-1 0 1,0 0-1,1 0 1,-1 0-1,1 0 1,-1 0-1,1 0 1,-1 0 0,1 0-1,0 0 1,0 0-1,-1 0 1,1 0-1,0 1 1,0-1-1,2-1 1,-3 2 18,1 0-1,0-1 1,0 1 0,0 0-1,0 0 1,0 0 0,0 0-1,0 1 1,0-1 0,0 0-1,0 0 1,0 0 0,-1 1-1,1-1 1,0 1 0,0-1-1,0 0 1,0 1 0,-1 0-1,1-1 1,0 1 0,0-1-1,-1 1 1,1 0 0,-1-1-1,1 1 1,0 0 0,-1 0-1,1 1 1,15 32 802,-4-9 48,-7-20-669,0 0-1,0-1 1,1 0 0,0 1-1,-1-2 1,1 1 0,1-1-1,-1 0 1,0 0 0,11 3 0,-15-6-166,-1 1 0,1-1 1,0 0-1,0 0 0,0 0 1,-1 0-1,1 0 1,0 0-1,0 0 0,0 0 1,0-1-1,-1 1 1,1 0-1,0-1 0,-1 0 1,1 1-1,3-3 0,-4 1-64,1 1 0,-1-1 0,0 1 0,1-1-1,-1 0 1,0 0 0,0 0 0,0 1-1,-1-1 1,1 0 0,0 0 0,-1 0-1,1 0 1,-1-1 0,0 1 0,1 0 0,-1 0-1,0 0 1,-1-3 0,-2-36-519,3 39 521,0 1-1,-1-1 0,1 0 0,0 1 1,-1-1-1,1 0 0,-1 1 1,1-1-1,-1 1 0,0-1 0,0 1 1,0-1-1,0 1 0,0 0 1,0-1-1,0 1 0,0 0 0,0 0 1,-1 0-1,1 0 0,-2-1 1,2 2 39,1 0 1,-1 1 0,0-1 0,1 0 0,-1 1 0,1-1 0,-1 1 0,1-1 0,-1 1 0,1-1 0,-1 1 0,1 0 0,-1-1-1,1 1 1,0 0 0,-1-1 0,1 1 0,0 0 0,-1-1 0,1 1 0,0 0 0,0-1 0,0 1 0,0 0 0,0 0 0,0-1-1,0 2 1,-3 22 328,3-15-176,1 0 0,0 0 0,1 0 0,0-1-1,0 1 1,1 0 0,0-1 0,0 0 0,1 0 0,8 14 0,-5-11 96,0 0 0,1 0-1,1-1 1,0 0 0,0 0 0,16 12 0,-18-18-137,-1 1 0,1-2 0,0 1 0,0-1 0,0 0 0,14 3 0,-16-4-68,-1-1 0,0-1 0,1 1 1,-1 0-1,1-1 0,-1 0 0,0 0 0,1-1 0,-1 1 1,1-1-1,-1 0 0,0 0 0,7-2 0,-10 2-101,0 0-1,1 0 1,-1 0-1,0 0 1,0 0-1,0 0 1,1 0-1,-1-1 0,0 1 1,-1 0-1,1-1 1,0 1-1,0-1 1,-1 1-1,1-1 1,0 1-1,-1-1 1,0 1-1,1-1 0,-1 0 1,0 1-1,0-1 1,0 0-1,0 1 1,0-1-1,0 1 1,0-1-1,-1 0 1,1 1-1,0-1 0,-2-2 1,0-1-105,1 0 0,-1 0 0,0 1 0,-1-1 0,1 1 0,-1-1 0,0 1 0,-6-7 0,4 7 167,0 0 0,0 1-1,-1 0 1,1 0-1,-8-4 1,11 7-9,1-1 1,-1 0-1,0 0 0,1 1 1,-1-1-1,0 0 0,1 1 1,-1 0-1,0-1 1,0 1-1,1 0 0,-1 0 1,0 0-1,0 0 0,1 0 1,-1 1-1,0-1 0,1 0 1,-1 1-1,0-1 0,1 1 1,-4 1-1,4-1-13,1-1-1,0 0 1,-1 0-1,1 1 1,0-1 0,-1 0-1,1 1 1,0-1-1,-1 0 1,1 1 0,0-1-1,-1 0 1,1 1-1,0-1 1,0 1 0,0-1-1,-1 0 1,1 1-1,0-1 1,0 1 0,0-1-1,0 1 1,0-1-1,0 1 1,0-1 0,0 1-1,0-1 1,0 0-1,0 1 1,0-1 0,0 1-1,0-1 1,1 1-1,-1-1 1,0 1 0,0-1-1,0 0 1,1 1-1,-1-1 1,0 1-1,0-1 1,1 0 0,-1 1-1,0-1 1,1 0-1,-1 0 1,1 1 0,-1-1-1,0 0 1,1 0-1,-1 1 1,1-1 0,-1 0-1,0 0 1,1 0-1,1 1-3,-1-1-1,1 0 0,-1 1 1,1-1-1,-1 0 0,1 0 1,0 0-1,-1 0 0,1 0 0,-1 0 1,1-1-1,-1 1 0,1-1 1,-1 1-1,0-1 0,3 0 1,2-4-144,0 1 1,0-1 0,-1 1-1,1-2 1,-1 1 0,-1-1-1,1 1 1,-1-1 0,0 0-1,0-1 1,3-8 0,-6 15 146,-1 0 1,0-1 0,0 1-1,0 0 1,0-1-1,0 1 1,0 0 0,0-1-1,0 1 1,-1 0-1,1-1 1,0 1 0,0 0-1,0-1 1,0 1-1,0 0 1,0 0 0,-1-1-1,1 1 1,0 0-1,0 0 1,0-1 0,-1 1-1,1 0 1,0 0-1,0-1 1,-1 1 0,1 0-1,0 0 1,-1 0-1,1 0 1,0-1 0,-1 1-1,1 0 1,-19-3 170,-15 4 172,74 8 783,331 31 2311,-370-42-3159,-1 2-275,0 0 0,0 0 10,0 0-10,0 0 0,0 0 0,-16-8 343,-26-7 198,17 9-454,0 1-1,-1 2 0,1 0 0,-1 1 0,-48 4 0,68-1-95,7 1 0,14 2 0,23 3 0,-31-7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16:32:28.94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0 305 20800,'1080'-92'0,"-1614"-121"0,1068 426 0,-1025 87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16:32:32.53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 4915,'0'0'0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16:33:06.05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 4915,'0'0'0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16:59:32.28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99 0 7430,'-99'57'0,"99"55"0,99-56 0,-2-112 0,-97-56 0,-97 55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17:00:09.37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0 175 4915,'1'2'67,"-1"1"-1,1-1 1,0 0-1,0 0 1,0 0 0,0 0-1,0 0 1,1 0-1,-1 0 1,1 0 0,-1 0-1,1-1 1,-1 1-1,1-1 1,3 3 0,-1-1 23,0 0 0,0 0 0,0-1 0,0 1 0,1-1 1,6 3-1,-2-3 90,0 1-1,0 0 1,-1 0 0,1 1 0,-1 0 0,11 7 0,-17-10-142,0 1 1,0-1 0,0 1-1,0 0 1,0-1-1,-1 1 1,1 0 0,-1 0-1,1 0 1,-1 0-1,0 0 1,1 0 0,-1 1-1,0-1 1,-1 0 0,1 0-1,0 1 1,-1-1-1,1 1 1,-1-1 0,0 1-1,0-1 1,0 0-1,0 1 1,0-1 0,0 1-1,-1-1 1,1 1 0,-2 2-1,1-3-13,1-1-1,-1 0 0,1 1 1,-1-1-1,0 0 0,0 0 1,0 0-1,0 0 1,0 0-1,0 0 0,0 0 1,0 0-1,0 0 0,0 0 1,0 0-1,0-1 1,-1 1-1,1 0 0,0-1 1,-1 1-1,1-1 0,0 0 1,-1 1-1,1-1 1,-1 0-1,1 0 0,0 0 1,-1 0-1,1 0 0,-1 0 1,1 0-1,-1 0 1,1-1-1,0 1 0,-1 0 1,-1-2-1,-1 1 1,1 0 0,-1-1 0,0 1 0,1-1 0,-1 0 0,1 0 0,0 0 0,0 0 0,0-1 0,0 1 0,0-1 0,-3-3 0,-2-6-23,0 0 0,1 0-1,1-1 1,-9-23 0,14 34 6,0 0 0,0 0-1,0 0 1,1 0 0,-1 0 0,1 0 0,0 0 0,-1 0 0,1 0 0,0 0 0,0-1 0,0 1 0,1 0 0,-1 0 0,0 0 0,1 0 0,0 0 0,-1 0 0,1 0 0,0 0 0,0 0 0,0 0 0,0 1 0,0-1 0,1 0 0,-1 1 0,0-1 0,1 0 0,-1 1 0,1 0-1,0-1 1,-1 1 0,1 0 0,0 0 0,0 0 0,0 0 0,0 0 0,0 0 0,0 1 0,0-1 0,4 0 0,2 0 84,0 1 0,0 0 0,0 0-1,1 1 1,-1 0 0,0 0 0,12 4 0,18 3 281,-34-8-322,0 1 1,1 1-1,-1-1 1,0 0 0,0 1-1,0 0 1,0 0-1,0 0 1,0 1-1,-1-1 1,1 1-1,-1 0 1,1 0-1,2 3 1,-5-4-24,1-1 0,-1 1 0,0-1 0,0 1 0,0-1 0,0 1 0,0 0 0,0 0 0,-1-1 1,1 1-1,0 0 0,-1 0 0,1 0 0,-1 0 0,0 0 0,0 0 0,0-1 0,0 1 0,0 0 0,0 0 1,0 0-1,-1 0 0,1 0 0,0 0 0,-1 0 0,0-1 0,1 1 0,-1 0 0,0 0 0,0-1 0,0 1 1,0 0-1,-2 1 0,-18 24 364,16-19-253,-1 0 0,0-1 0,0 0 0,-1 0 0,-8 7-1,13-12-110,0-1 1,0 0-1,0 1 0,-1-1 0,1 0 0,0 0 0,-1 0 0,1-1 0,-1 1 0,1-1 0,-1 1 0,1-1 1,-1 0-1,1 0 0,-1 0 0,1 0 0,-1 0 0,1-1 0,-1 1 0,1-1 0,-1 1 0,1-1 0,0 0 0,-4-2 1,4 2-44,0-1 0,0 0 1,0 0-1,0 0 0,0 0 1,1-1-1,-1 1 0,1 0 1,-1-1-1,1 1 1,0-1-1,0 0 0,0 1 1,0-1-1,1 0 0,-1 1 1,1-1-1,-1 0 0,1 0 1,0 0-1,0-2 1,0-4-76,0 0 0,0 0 1,1 0-1,0 0 0,4-13 1,-4 20 87,-1 0 0,1-1 0,0 1 0,0 0 0,0 0 0,0 0 0,0 0 0,1 0 0,-1 0 0,1 0 0,-1 0 0,1 1 0,0-1 0,-1 0 0,1 1 0,0 0 0,0-1 0,0 1 0,0 0 0,0 0 0,3-1 0,1 1 56,-1 0 0,1 0 1,0 1-1,0-1 0,0 1 1,9 2-1,-10-2-11,0 1-1,0-1 1,0 0-1,0 0 1,0 0 0,0-1-1,0 0 1,0 0 0,0 0-1,7-3 1,-10 3-54,0-1-1,0 1 1,0-1 0,0 0 0,0 0-1,-1 0 1,1 0 0,-1 0 0,1 0-1,-1 0 1,0 0 0,0-1 0,0 1-1,0 0 1,0-1 0,-1 1 0,1 0 0,-1-1-1,1 1 1,-1-1 0,0 1 0,0-1-1,-1-4 1,0-7-165,0 0 1,-7-27-1,5 30 86,2 8 93,1 1 0,-1 0 0,0-1-1,0 1 1,0 0 0,0-1 0,0 1 0,-1 0 0,1 0 0,-1 0 0,1 0-1,-1 0 1,0 0 0,0 0 0,0 1 0,0-1 0,0 1 0,0-1 0,0 1-1,-1 0 1,1 0 0,0 0 0,-1 0 0,1 0 0,-1 1 0,1-1 0,-1 1-1,1-1 1,-1 1 0,1 0 0,-1 0 0,1 0 0,-1 0 0,1 1 0,-1-1-1,-2 2 1,-3-1 67,0 1-1,0 0 0,0 0 1,1 1-1,-1 0 1,1 1-1,0 0 0,-1 0 1,2 0-1,-10 8 1,-1 2 117,13-11-136,0 0 0,1 0 0,-1 0 0,1 0 0,0 1 0,0-1 0,-4 8 0,6-9-29,0 0 1,0 0-1,1 1 0,0-1 0,-1 0 1,1 0-1,0 1 0,0-1 0,0 0 1,0 0-1,1 0 0,-1 1 0,0-1 0,1 0 1,0 0-1,-1 0 0,1 0 0,0 0 1,0 0-1,2 4 0,2 0 43,0 1 1,0-1-1,1 0 0,-1-1 1,1 1-1,0-1 0,1 0 1,0 0-1,-1-1 1,1 0-1,1 0 0,14 5 1,-22-9-61,1 0 0,0 0 1,0 1-1,0-1 1,0 0-1,0 0 1,0 0-1,0 0 0,-1 0 1,1 0-1,0-1 1,0 1-1,0 0 1,0 0-1,0-1 0,0 1 1,-1 0-1,1-1 1,0 1-1,0-1 1,0 1-1,-1-1 0,1 1 1,0-1-1,0-1 1,1 0-32,-1-1 1,1 1-1,-1 0 1,0-1-1,0 1 1,0-1-1,0 1 1,1-6-1,0-2-107,-1 1-1,0-1 1,-2-19-1,-7 2-139,2 17 252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16:59:40.63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0 184 4915,'1'1'30,"7"16"515,1-1 0,13 18 0,-24-37-519,0-1 0,0 0 1,1 0-1,-1 0 1,1 0-1,0 0 1,0 0-1,1 0 1,-1-1-1,1-4 1,0-56-170,1 40 132,0-8-35,0 17 17,0 0 1,-4-26 0,3 41 34,0 1 1,0 0-1,0 0 1,0 0-1,0-1 0,0 1 1,0 0-1,0 0 1,0 0-1,0-1 1,0 1-1,0 0 0,0 0 1,0 0-1,0 0 1,-1-1-1,1 1 0,0 0 1,0 0-1,0 0 1,0 0-1,0-1 1,0 1-1,-1 0 0,1 0 1,0 0-1,0 0 1,0 0-1,0 0 1,-1 0-1,1-1 0,0 1 1,0 0-1,0 0 1,-1 0-1,1 0 0,0 0 1,0 0-1,0 0 1,-1 0-1,1 0 1,-3 2 20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16:59:41.93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4915,'-1'34'783,"1"35"101,1-65-810,-1 0 0,1 0 0,0 0 0,0 0 0,0 0 0,1 0 0,0 0 0,-1 0 0,1 0 0,0 0 0,1-1 0,-1 1 0,4 3 0,7 12 327,-7-11 111,-5-23-444,-1 1-81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17:00:17.12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2 115 4915,'0'-78'315,"0"48"-72,0 27-146,0 11-31,0 29 595,2-1 0,7 41-1,-7-50-265,-3-23-323,1 0 0,0 0 0,1 1 1,-1-1-1,1 0 0,0 0 1,0 0-1,0 0 0,0 0 0,0 0 1,3 4-1,-13-59-116,3 28-25,2-1 0,1 0 0,1-1 0,1 1 1,3-29-1,-2 36 302,-1 104 741,3 98 972,10-121-1186,-12-123-1052,1 22 63,-8-52-251,0-5-37,7 88 494,1-22-133,-1 27 163,0 0-1,0 1 1,0-1-1,0 0 0,0 1 1,0-1-1,1 0 1,-1 0-1,0 1 1,0-1-1,1 0 0,-1 1 1,0-1-1,1 1 1,-1-1-1,1 0 0,-1 1 1,1-1-1,-1 1 1,1-1-1,-1 1 1,1-1-1,0 1 0,-1 0 1,1-1-1,0 1 1,-1 0-1,1-1 1,0 1-1,0 0 0,0 0 9,0 1 0,0-1 0,0 0-1,0 1 1,-1 0 0,1-1-1,0 1 1,0-1 0,-1 1 0,1 0-1,0-1 1,-1 1 0,1 0-1,-1 0 1,1 0 0,-1 0 0,1-1-1,-1 1 1,0 0 0,1 0 0,-1 0-1,0 0 1,0 0 0,0 0-1,0 0 1,0 0 0,0 0 0,0 1-1,2 34 247,-2-32-208,1 59 476,-4 103 917,3-163-1406,0 0 0,0 0 0,-1 0-1,0 0 1,1 1 0,-1-1 0,0 0 0,-1-1-1,1 1 1,0 0 0,-1 0 0,1 0-1,-1-1 1,-3 4 0,1-4-19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1.png"/><Relationship Id="rId18" Type="http://schemas.openxmlformats.org/officeDocument/2006/relationships/customXml" Target="../ink/ink8.xml"/><Relationship Id="rId3" Type="http://schemas.openxmlformats.org/officeDocument/2006/relationships/image" Target="../media/image6.png"/><Relationship Id="rId21" Type="http://schemas.openxmlformats.org/officeDocument/2006/relationships/image" Target="../media/image15.png"/><Relationship Id="rId7" Type="http://schemas.openxmlformats.org/officeDocument/2006/relationships/customXml" Target="../ink/ink2.xml"/><Relationship Id="rId12" Type="http://schemas.openxmlformats.org/officeDocument/2006/relationships/customXml" Target="../ink/ink5.xml"/><Relationship Id="rId17" Type="http://schemas.openxmlformats.org/officeDocument/2006/relationships/image" Target="../media/image13.png"/><Relationship Id="rId2" Type="http://schemas.openxmlformats.org/officeDocument/2006/relationships/image" Target="../media/image5.png"/><Relationship Id="rId16" Type="http://schemas.openxmlformats.org/officeDocument/2006/relationships/customXml" Target="../ink/ink7.xml"/><Relationship Id="rId20" Type="http://schemas.openxmlformats.org/officeDocument/2006/relationships/customXml" Target="../ink/ink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11" Type="http://schemas.openxmlformats.org/officeDocument/2006/relationships/customXml" Target="../ink/ink4.xml"/><Relationship Id="rId5" Type="http://schemas.openxmlformats.org/officeDocument/2006/relationships/customXml" Target="../ink/ink1.xml"/><Relationship Id="rId15" Type="http://schemas.openxmlformats.org/officeDocument/2006/relationships/image" Target="../media/image12.png"/><Relationship Id="rId10" Type="http://schemas.openxmlformats.org/officeDocument/2006/relationships/image" Target="../media/image10.png"/><Relationship Id="rId19" Type="http://schemas.openxmlformats.org/officeDocument/2006/relationships/image" Target="../media/image14.png"/><Relationship Id="rId4" Type="http://schemas.openxmlformats.org/officeDocument/2006/relationships/image" Target="../media/image7.png"/><Relationship Id="rId9" Type="http://schemas.openxmlformats.org/officeDocument/2006/relationships/customXml" Target="../ink/ink3.xml"/><Relationship Id="rId14" Type="http://schemas.openxmlformats.org/officeDocument/2006/relationships/customXml" Target="../ink/ink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7860083" y="-7849000"/>
            <a:ext cx="2470892" cy="18191058"/>
            <a:chOff x="0" y="0"/>
            <a:chExt cx="100195" cy="102075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0195" cy="1020753"/>
            </a:xfrm>
            <a:custGeom>
              <a:avLst/>
              <a:gdLst/>
              <a:ahLst/>
              <a:cxnLst/>
              <a:rect l="l" t="t" r="r" b="b"/>
              <a:pathLst>
                <a:path w="100195" h="1020753">
                  <a:moveTo>
                    <a:pt x="0" y="0"/>
                  </a:moveTo>
                  <a:lnTo>
                    <a:pt x="100195" y="0"/>
                  </a:lnTo>
                  <a:lnTo>
                    <a:pt x="100195" y="1020753"/>
                  </a:lnTo>
                  <a:lnTo>
                    <a:pt x="0" y="1020753"/>
                  </a:lnTo>
                  <a:close/>
                </a:path>
              </a:pathLst>
            </a:custGeom>
            <a:solidFill>
              <a:srgbClr val="1D6CAA"/>
            </a:soli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00195" cy="10588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 dirty="0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0152817" y="6164717"/>
            <a:ext cx="5225342" cy="38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00"/>
              </a:lnSpc>
              <a:spcBef>
                <a:spcPct val="0"/>
              </a:spcBef>
            </a:pPr>
            <a:r>
              <a:rPr lang="en-US" sz="2500" b="1" dirty="0">
                <a:solidFill>
                  <a:srgbClr val="F4F6F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Internal Data Structure Used: </a:t>
            </a:r>
          </a:p>
        </p:txBody>
      </p:sp>
      <p:sp>
        <p:nvSpPr>
          <p:cNvPr id="6" name="Freeform 6"/>
          <p:cNvSpPr/>
          <p:nvPr/>
        </p:nvSpPr>
        <p:spPr>
          <a:xfrm>
            <a:off x="9601200" y="2916413"/>
            <a:ext cx="8102715" cy="5963787"/>
          </a:xfrm>
          <a:custGeom>
            <a:avLst/>
            <a:gdLst/>
            <a:ahLst/>
            <a:cxnLst/>
            <a:rect l="l" t="t" r="r" b="b"/>
            <a:pathLst>
              <a:path w="8102715" h="5963787">
                <a:moveTo>
                  <a:pt x="0" y="0"/>
                </a:moveTo>
                <a:lnTo>
                  <a:pt x="8102716" y="0"/>
                </a:lnTo>
                <a:lnTo>
                  <a:pt x="8102716" y="5963787"/>
                </a:lnTo>
                <a:lnTo>
                  <a:pt x="0" y="59637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893" t="-5671" r="-13702" b="-8995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7" name="TextBox 7"/>
          <p:cNvSpPr txBox="1"/>
          <p:nvPr/>
        </p:nvSpPr>
        <p:spPr>
          <a:xfrm>
            <a:off x="780609" y="235018"/>
            <a:ext cx="16629840" cy="21067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394"/>
              </a:lnSpc>
              <a:spcBef>
                <a:spcPct val="0"/>
              </a:spcBef>
            </a:pPr>
            <a:r>
              <a:rPr lang="en-US" sz="6000" b="1" dirty="0">
                <a:solidFill>
                  <a:srgbClr val="F4F6F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PyKV : A Scalable Key-Value Store </a:t>
            </a:r>
          </a:p>
          <a:p>
            <a:pPr marL="0" lvl="0" indent="0" algn="ctr">
              <a:lnSpc>
                <a:spcPts val="8394"/>
              </a:lnSpc>
              <a:spcBef>
                <a:spcPct val="0"/>
              </a:spcBef>
            </a:pPr>
            <a:r>
              <a:rPr lang="en-US" sz="6000" b="1" dirty="0">
                <a:solidFill>
                  <a:srgbClr val="F4F6F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with Persistence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84085" y="3390900"/>
            <a:ext cx="8102714" cy="4744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720"/>
              </a:lnSpc>
              <a:spcBef>
                <a:spcPct val="0"/>
              </a:spcBef>
            </a:pPr>
            <a:r>
              <a:rPr lang="en-US" sz="3100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PyKV : Python-based Key-Value Store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80609" y="4538118"/>
            <a:ext cx="8115300" cy="44843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96569" lvl="1" indent="-248284" algn="just">
              <a:lnSpc>
                <a:spcPts val="3219"/>
              </a:lnSpc>
              <a:buFont typeface="Arial"/>
              <a:buChar char="•"/>
            </a:pPr>
            <a:r>
              <a:rPr lang="en-US" sz="2299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PyKV is a high-performance, in-memory key-value store designed to solve the core challenges of modern data systems – </a:t>
            </a:r>
            <a:r>
              <a:rPr lang="en-US" sz="2299" b="1" dirty="0">
                <a:latin typeface="Montserrat"/>
                <a:ea typeface="Montserrat"/>
                <a:cs typeface="Montserrat"/>
                <a:sym typeface="Montserrat"/>
              </a:rPr>
              <a:t>low latency access</a:t>
            </a:r>
            <a:r>
              <a:rPr lang="en-US" sz="2299" dirty="0"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lang="en-US" sz="2299" b="1" dirty="0">
                <a:latin typeface="Montserrat"/>
                <a:ea typeface="Montserrat"/>
                <a:cs typeface="Montserrat"/>
                <a:sym typeface="Montserrat"/>
              </a:rPr>
              <a:t>data durability</a:t>
            </a:r>
            <a:r>
              <a:rPr lang="en-US" sz="2299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lang="en-US" sz="2299" b="1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fault tolerance </a:t>
            </a:r>
            <a:r>
              <a:rPr lang="en-US" sz="2299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and </a:t>
            </a:r>
            <a:r>
              <a:rPr lang="en-US" sz="2299" b="1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concurrent request handling</a:t>
            </a:r>
          </a:p>
          <a:p>
            <a:pPr marL="496569" lvl="1" indent="-248284" algn="just">
              <a:lnSpc>
                <a:spcPts val="3219"/>
              </a:lnSpc>
              <a:buFont typeface="Arial"/>
              <a:buChar char="•"/>
            </a:pPr>
            <a:endParaRPr lang="en-US" sz="2299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96569" lvl="1" indent="-248284" algn="just">
              <a:lnSpc>
                <a:spcPts val="3219"/>
              </a:lnSpc>
              <a:buFont typeface="Arial"/>
              <a:buChar char="•"/>
            </a:pPr>
            <a:r>
              <a:rPr lang="en-US" sz="2299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The system follows a modular architecture, enabling independent design, testing, and benchmarking of key components like caching, persistence, replication and concurrency control.</a:t>
            </a:r>
          </a:p>
          <a:p>
            <a:pPr algn="just">
              <a:lnSpc>
                <a:spcPts val="3219"/>
              </a:lnSpc>
            </a:pPr>
            <a:endParaRPr lang="en-US" sz="2299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A93E5B7-ECAA-70BA-7C02-EBCB540DB82F}"/>
              </a:ext>
            </a:extLst>
          </p:cNvPr>
          <p:cNvSpPr txBox="1"/>
          <p:nvPr/>
        </p:nvSpPr>
        <p:spPr>
          <a:xfrm>
            <a:off x="13499169" y="8887820"/>
            <a:ext cx="4174266" cy="5052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>
              <a:lnSpc>
                <a:spcPts val="3720"/>
              </a:lnSpc>
              <a:spcBef>
                <a:spcPct val="0"/>
              </a:spcBef>
            </a:pPr>
            <a:r>
              <a:rPr lang="en-US" sz="1800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~ Presented by Rupali Shewale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335780" y="7075170"/>
            <a:ext cx="416243" cy="416243"/>
            <a:chOff x="0" y="0"/>
            <a:chExt cx="554990" cy="554990"/>
          </a:xfrm>
        </p:grpSpPr>
        <p:sp>
          <p:nvSpPr>
            <p:cNvPr id="3" name="Freeform 3"/>
            <p:cNvSpPr/>
            <p:nvPr/>
          </p:nvSpPr>
          <p:spPr>
            <a:xfrm>
              <a:off x="50316" y="47338"/>
              <a:ext cx="446254" cy="457333"/>
            </a:xfrm>
            <a:custGeom>
              <a:avLst/>
              <a:gdLst/>
              <a:ahLst/>
              <a:cxnLst/>
              <a:rect l="l" t="t" r="r" b="b"/>
              <a:pathLst>
                <a:path w="446254" h="457333">
                  <a:moveTo>
                    <a:pt x="446254" y="160942"/>
                  </a:moveTo>
                  <a:cubicBezTo>
                    <a:pt x="446254" y="304452"/>
                    <a:pt x="429744" y="341282"/>
                    <a:pt x="408154" y="369222"/>
                  </a:cubicBezTo>
                  <a:cubicBezTo>
                    <a:pt x="386564" y="397162"/>
                    <a:pt x="354814" y="422562"/>
                    <a:pt x="321794" y="436532"/>
                  </a:cubicBezTo>
                  <a:cubicBezTo>
                    <a:pt x="290044" y="451772"/>
                    <a:pt x="249404" y="459392"/>
                    <a:pt x="213844" y="456852"/>
                  </a:cubicBezTo>
                  <a:cubicBezTo>
                    <a:pt x="179554" y="454312"/>
                    <a:pt x="140184" y="442882"/>
                    <a:pt x="109704" y="423832"/>
                  </a:cubicBezTo>
                  <a:cubicBezTo>
                    <a:pt x="79224" y="406052"/>
                    <a:pt x="51284" y="376842"/>
                    <a:pt x="32234" y="346362"/>
                  </a:cubicBezTo>
                  <a:cubicBezTo>
                    <a:pt x="14454" y="317152"/>
                    <a:pt x="1754" y="277782"/>
                    <a:pt x="484" y="242222"/>
                  </a:cubicBezTo>
                  <a:cubicBezTo>
                    <a:pt x="-2056" y="206662"/>
                    <a:pt x="5564" y="167292"/>
                    <a:pt x="19534" y="134272"/>
                  </a:cubicBezTo>
                  <a:cubicBezTo>
                    <a:pt x="34774" y="102522"/>
                    <a:pt x="58904" y="70772"/>
                    <a:pt x="86844" y="49182"/>
                  </a:cubicBezTo>
                  <a:cubicBezTo>
                    <a:pt x="114784" y="26322"/>
                    <a:pt x="151614" y="9812"/>
                    <a:pt x="187174" y="3462"/>
                  </a:cubicBezTo>
                  <a:cubicBezTo>
                    <a:pt x="221464" y="-2888"/>
                    <a:pt x="262104" y="-348"/>
                    <a:pt x="296394" y="9812"/>
                  </a:cubicBezTo>
                  <a:cubicBezTo>
                    <a:pt x="330684" y="21242"/>
                    <a:pt x="390374" y="66962"/>
                    <a:pt x="390374" y="66962"/>
                  </a:cubicBezTo>
                </a:path>
              </a:pathLst>
            </a:custGeom>
            <a:solidFill>
              <a:srgbClr val="FFFFFF">
                <a:alpha val="2470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 dirty="0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4800600" y="7035165"/>
            <a:ext cx="184785" cy="184785"/>
            <a:chOff x="0" y="0"/>
            <a:chExt cx="246380" cy="246380"/>
          </a:xfrm>
        </p:grpSpPr>
        <p:sp>
          <p:nvSpPr>
            <p:cNvPr id="5" name="Freeform 5"/>
            <p:cNvSpPr/>
            <p:nvPr/>
          </p:nvSpPr>
          <p:spPr>
            <a:xfrm>
              <a:off x="47752" y="50749"/>
              <a:ext cx="145288" cy="148600"/>
            </a:xfrm>
            <a:custGeom>
              <a:avLst/>
              <a:gdLst/>
              <a:ahLst/>
              <a:cxnLst/>
              <a:rect l="l" t="t" r="r" b="b"/>
              <a:pathLst>
                <a:path w="145288" h="148600">
                  <a:moveTo>
                    <a:pt x="145288" y="52121"/>
                  </a:moveTo>
                  <a:cubicBezTo>
                    <a:pt x="141478" y="106731"/>
                    <a:pt x="122428" y="135941"/>
                    <a:pt x="103378" y="144831"/>
                  </a:cubicBezTo>
                  <a:cubicBezTo>
                    <a:pt x="84328" y="152451"/>
                    <a:pt x="50038" y="147371"/>
                    <a:pt x="33528" y="139751"/>
                  </a:cubicBezTo>
                  <a:cubicBezTo>
                    <a:pt x="20828" y="134671"/>
                    <a:pt x="13208" y="125781"/>
                    <a:pt x="6858" y="114351"/>
                  </a:cubicBezTo>
                  <a:cubicBezTo>
                    <a:pt x="-762" y="97841"/>
                    <a:pt x="-2032" y="61011"/>
                    <a:pt x="3048" y="43231"/>
                  </a:cubicBezTo>
                  <a:cubicBezTo>
                    <a:pt x="6858" y="30531"/>
                    <a:pt x="15748" y="21641"/>
                    <a:pt x="25908" y="15291"/>
                  </a:cubicBezTo>
                  <a:cubicBezTo>
                    <a:pt x="34798" y="7671"/>
                    <a:pt x="44958" y="1321"/>
                    <a:pt x="58928" y="51"/>
                  </a:cubicBezTo>
                  <a:cubicBezTo>
                    <a:pt x="76708" y="-1219"/>
                    <a:pt x="126238" y="21641"/>
                    <a:pt x="126238" y="21641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 dirty="0"/>
            </a:p>
          </p:txBody>
        </p:sp>
      </p:grpSp>
      <p:sp>
        <p:nvSpPr>
          <p:cNvPr id="6" name="Freeform 6"/>
          <p:cNvSpPr/>
          <p:nvPr/>
        </p:nvSpPr>
        <p:spPr>
          <a:xfrm>
            <a:off x="1840405" y="1886728"/>
            <a:ext cx="14607190" cy="7632257"/>
          </a:xfrm>
          <a:custGeom>
            <a:avLst/>
            <a:gdLst/>
            <a:ahLst/>
            <a:cxnLst/>
            <a:rect l="l" t="t" r="r" b="b"/>
            <a:pathLst>
              <a:path w="14607190" h="7632257">
                <a:moveTo>
                  <a:pt x="0" y="0"/>
                </a:moveTo>
                <a:lnTo>
                  <a:pt x="14607190" y="0"/>
                </a:lnTo>
                <a:lnTo>
                  <a:pt x="14607190" y="7632256"/>
                </a:lnTo>
                <a:lnTo>
                  <a:pt x="0" y="76322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7" name="TextBox 7"/>
          <p:cNvSpPr txBox="1"/>
          <p:nvPr/>
        </p:nvSpPr>
        <p:spPr>
          <a:xfrm>
            <a:off x="1028700" y="538162"/>
            <a:ext cx="16629840" cy="981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794"/>
              </a:lnSpc>
              <a:spcBef>
                <a:spcPct val="0"/>
              </a:spcBef>
            </a:pPr>
            <a:r>
              <a:rPr lang="en-US" sz="6495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System Architecture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10420212" y="-5709155"/>
            <a:ext cx="2061691" cy="13480001"/>
            <a:chOff x="0" y="0"/>
            <a:chExt cx="115687" cy="75640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5687" cy="756402"/>
            </a:xfrm>
            <a:custGeom>
              <a:avLst/>
              <a:gdLst/>
              <a:ahLst/>
              <a:cxnLst/>
              <a:rect l="l" t="t" r="r" b="b"/>
              <a:pathLst>
                <a:path w="115687" h="756402">
                  <a:moveTo>
                    <a:pt x="0" y="0"/>
                  </a:moveTo>
                  <a:lnTo>
                    <a:pt x="115687" y="0"/>
                  </a:lnTo>
                  <a:lnTo>
                    <a:pt x="115687" y="756402"/>
                  </a:lnTo>
                  <a:lnTo>
                    <a:pt x="0" y="756402"/>
                  </a:lnTo>
                  <a:close/>
                </a:path>
              </a:pathLst>
            </a:custGeom>
            <a:solidFill>
              <a:srgbClr val="193C6F"/>
            </a:soli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15687" cy="7945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 dirty="0"/>
            </a:p>
          </p:txBody>
        </p:sp>
      </p:grpSp>
      <p:grpSp>
        <p:nvGrpSpPr>
          <p:cNvPr id="5" name="Group 5"/>
          <p:cNvGrpSpPr/>
          <p:nvPr/>
        </p:nvGrpSpPr>
        <p:grpSpPr>
          <a:xfrm rot="5400000">
            <a:off x="3457393" y="3882935"/>
            <a:ext cx="3137573" cy="9177207"/>
            <a:chOff x="0" y="0"/>
            <a:chExt cx="165486" cy="48403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65486" cy="484038"/>
            </a:xfrm>
            <a:custGeom>
              <a:avLst/>
              <a:gdLst/>
              <a:ahLst/>
              <a:cxnLst/>
              <a:rect l="l" t="t" r="r" b="b"/>
              <a:pathLst>
                <a:path w="165486" h="484038">
                  <a:moveTo>
                    <a:pt x="0" y="0"/>
                  </a:moveTo>
                  <a:lnTo>
                    <a:pt x="165486" y="0"/>
                  </a:lnTo>
                  <a:lnTo>
                    <a:pt x="165486" y="484038"/>
                  </a:lnTo>
                  <a:lnTo>
                    <a:pt x="0" y="484038"/>
                  </a:lnTo>
                  <a:close/>
                </a:path>
              </a:pathLst>
            </a:custGeom>
            <a:solidFill>
              <a:srgbClr val="49A5EF"/>
            </a:soli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65486" cy="5221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 dirty="0"/>
            </a:p>
          </p:txBody>
        </p:sp>
      </p:grpSp>
      <p:grpSp>
        <p:nvGrpSpPr>
          <p:cNvPr id="8" name="Group 8"/>
          <p:cNvGrpSpPr/>
          <p:nvPr/>
        </p:nvGrpSpPr>
        <p:grpSpPr>
          <a:xfrm rot="5400000">
            <a:off x="2854335" y="-4904"/>
            <a:ext cx="4343690" cy="9177207"/>
            <a:chOff x="0" y="0"/>
            <a:chExt cx="229101" cy="48403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29101" cy="484038"/>
            </a:xfrm>
            <a:custGeom>
              <a:avLst/>
              <a:gdLst/>
              <a:ahLst/>
              <a:cxnLst/>
              <a:rect l="l" t="t" r="r" b="b"/>
              <a:pathLst>
                <a:path w="229101" h="484038">
                  <a:moveTo>
                    <a:pt x="0" y="0"/>
                  </a:moveTo>
                  <a:lnTo>
                    <a:pt x="229101" y="0"/>
                  </a:lnTo>
                  <a:lnTo>
                    <a:pt x="229101" y="484038"/>
                  </a:lnTo>
                  <a:lnTo>
                    <a:pt x="0" y="484038"/>
                  </a:lnTo>
                  <a:close/>
                </a:path>
              </a:pathLst>
            </a:custGeom>
            <a:solidFill>
              <a:srgbClr val="8063E8"/>
            </a:soli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229101" cy="5221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 dirty="0"/>
            </a:p>
          </p:txBody>
        </p:sp>
      </p:grpSp>
      <p:grpSp>
        <p:nvGrpSpPr>
          <p:cNvPr id="11" name="Group 11"/>
          <p:cNvGrpSpPr/>
          <p:nvPr/>
        </p:nvGrpSpPr>
        <p:grpSpPr>
          <a:xfrm rot="5400000">
            <a:off x="1192523" y="-1192523"/>
            <a:ext cx="2073635" cy="4458681"/>
            <a:chOff x="0" y="0"/>
            <a:chExt cx="116358" cy="25018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16358" cy="250189"/>
            </a:xfrm>
            <a:custGeom>
              <a:avLst/>
              <a:gdLst/>
              <a:ahLst/>
              <a:cxnLst/>
              <a:rect l="l" t="t" r="r" b="b"/>
              <a:pathLst>
                <a:path w="116358" h="250189">
                  <a:moveTo>
                    <a:pt x="0" y="0"/>
                  </a:moveTo>
                  <a:lnTo>
                    <a:pt x="116358" y="0"/>
                  </a:lnTo>
                  <a:lnTo>
                    <a:pt x="116358" y="250189"/>
                  </a:lnTo>
                  <a:lnTo>
                    <a:pt x="0" y="250189"/>
                  </a:lnTo>
                  <a:close/>
                </a:path>
              </a:pathLst>
            </a:custGeom>
            <a:solidFill>
              <a:srgbClr val="193C6F"/>
            </a:soli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16358" cy="2882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 dirty="0"/>
            </a:p>
          </p:txBody>
        </p:sp>
      </p:grpSp>
      <p:sp>
        <p:nvSpPr>
          <p:cNvPr id="14" name="Freeform 14"/>
          <p:cNvSpPr/>
          <p:nvPr/>
        </p:nvSpPr>
        <p:spPr>
          <a:xfrm>
            <a:off x="9986930" y="3058357"/>
            <a:ext cx="7704072" cy="6199943"/>
          </a:xfrm>
          <a:custGeom>
            <a:avLst/>
            <a:gdLst/>
            <a:ahLst/>
            <a:cxnLst/>
            <a:rect l="l" t="t" r="r" b="b"/>
            <a:pathLst>
              <a:path w="7704072" h="6199943">
                <a:moveTo>
                  <a:pt x="0" y="0"/>
                </a:moveTo>
                <a:lnTo>
                  <a:pt x="7704072" y="0"/>
                </a:lnTo>
                <a:lnTo>
                  <a:pt x="7704072" y="6199943"/>
                </a:lnTo>
                <a:lnTo>
                  <a:pt x="0" y="61999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15" name="TextBox 15"/>
          <p:cNvSpPr txBox="1"/>
          <p:nvPr/>
        </p:nvSpPr>
        <p:spPr>
          <a:xfrm>
            <a:off x="5287898" y="538162"/>
            <a:ext cx="11407785" cy="981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794"/>
              </a:lnSpc>
              <a:spcBef>
                <a:spcPct val="0"/>
              </a:spcBef>
            </a:pPr>
            <a:r>
              <a:rPr lang="en-US" sz="6495" b="1" dirty="0">
                <a:solidFill>
                  <a:srgbClr val="F4F6F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The Core Data Store 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51279" y="614362"/>
            <a:ext cx="3356123" cy="828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99"/>
              </a:lnSpc>
              <a:spcBef>
                <a:spcPct val="0"/>
              </a:spcBef>
            </a:pPr>
            <a:r>
              <a:rPr lang="en-US" sz="5499" b="1" dirty="0">
                <a:solidFill>
                  <a:srgbClr val="F4F6F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Module 1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28700" y="7107970"/>
            <a:ext cx="5225342" cy="38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00"/>
              </a:lnSpc>
              <a:spcBef>
                <a:spcPct val="0"/>
              </a:spcBef>
            </a:pPr>
            <a:r>
              <a:rPr lang="en-US" sz="2500" b="1" dirty="0">
                <a:solidFill>
                  <a:srgbClr val="F4F6F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Internal Data Structure Used: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52263" y="7650895"/>
            <a:ext cx="8347834" cy="21375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 Combination of a Doubly Linked List and a HashMap (Python Dictionary) ⟶ True O(1) Cache Operations</a:t>
            </a:r>
          </a:p>
          <a:p>
            <a:pPr algn="l">
              <a:lnSpc>
                <a:spcPts val="2760"/>
              </a:lnSpc>
            </a:pPr>
            <a:endParaRPr lang="en-US" sz="230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96585" lvl="1" indent="-248293" algn="l">
              <a:lnSpc>
                <a:spcPts val="2760"/>
              </a:lnSpc>
              <a:buFont typeface="Arial"/>
              <a:buChar char="•"/>
            </a:pPr>
            <a:r>
              <a:rPr lang="en-US" sz="2300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Doubly Linked List :</a:t>
            </a:r>
            <a:r>
              <a:rPr lang="en-US" sz="23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 Maintains usage order of keys</a:t>
            </a:r>
          </a:p>
          <a:p>
            <a:pPr algn="l">
              <a:lnSpc>
                <a:spcPts val="2760"/>
              </a:lnSpc>
            </a:pPr>
            <a:r>
              <a:rPr lang="en-US" sz="23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           Head = LRU   Tail = MRU</a:t>
            </a:r>
          </a:p>
          <a:p>
            <a:pPr marL="496585" lvl="1" indent="-248293" algn="l">
              <a:lnSpc>
                <a:spcPts val="2760"/>
              </a:lnSpc>
              <a:spcBef>
                <a:spcPct val="0"/>
              </a:spcBef>
              <a:buFont typeface="Arial"/>
              <a:buChar char="•"/>
            </a:pPr>
            <a:r>
              <a:rPr lang="en-US" sz="2300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Dictionary </a:t>
            </a:r>
            <a:r>
              <a:rPr lang="en-US" sz="23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: Maps Keys to DLL nodes for fast lookup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51279" y="2590552"/>
            <a:ext cx="8347834" cy="4010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75" lvl="1" indent="-259087" algn="just">
              <a:lnSpc>
                <a:spcPts val="2880"/>
              </a:lnSpc>
              <a:buFont typeface="Arial"/>
              <a:buChar char="•"/>
            </a:pPr>
            <a:r>
              <a:rPr lang="en-US" sz="2400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Core Purpose:</a:t>
            </a:r>
            <a:r>
              <a:rPr lang="en-US" sz="24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To hold all key-value pairs in memory for O(1) access and enforce a strict memory usage policy via an LRU eviction</a:t>
            </a:r>
          </a:p>
          <a:p>
            <a:pPr algn="just">
              <a:lnSpc>
                <a:spcPts val="2880"/>
              </a:lnSpc>
            </a:pPr>
            <a:endParaRPr lang="en-US" sz="240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518175" lvl="1" indent="-259087" algn="just">
              <a:lnSpc>
                <a:spcPts val="2880"/>
              </a:lnSpc>
              <a:buFont typeface="Arial"/>
              <a:buChar char="•"/>
            </a:pPr>
            <a:r>
              <a:rPr lang="en-US" sz="24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The LRU Cache stores key-value pairs</a:t>
            </a:r>
          </a:p>
          <a:p>
            <a:pPr marL="518175" lvl="1" indent="-259087" algn="just">
              <a:lnSpc>
                <a:spcPts val="2880"/>
              </a:lnSpc>
              <a:buFont typeface="Arial"/>
              <a:buChar char="•"/>
            </a:pPr>
            <a:r>
              <a:rPr lang="en-US" sz="24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Every key access updates its “recent usage” status.</a:t>
            </a:r>
          </a:p>
          <a:p>
            <a:pPr marL="518175" lvl="1" indent="-259087" algn="just">
              <a:lnSpc>
                <a:spcPts val="2880"/>
              </a:lnSpc>
              <a:buFont typeface="Arial"/>
              <a:buChar char="•"/>
            </a:pPr>
            <a:r>
              <a:rPr lang="en-US" sz="24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When the cache reaches maximum capacity, the least recently accessed key is removed automatically.</a:t>
            </a:r>
          </a:p>
          <a:p>
            <a:pPr marL="539764" lvl="1" indent="-269882" algn="just">
              <a:lnSpc>
                <a:spcPts val="3000"/>
              </a:lnSpc>
              <a:spcBef>
                <a:spcPct val="0"/>
              </a:spcBef>
              <a:buFont typeface="Arial"/>
              <a:buChar char="•"/>
            </a:pPr>
            <a:r>
              <a:rPr lang="en-US" sz="25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Each Cache entry is represented as a node that can be reordered efficiently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38260" y="5429570"/>
            <a:ext cx="8265976" cy="4201600"/>
            <a:chOff x="0" y="0"/>
            <a:chExt cx="1995082" cy="101410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995082" cy="1014101"/>
            </a:xfrm>
            <a:custGeom>
              <a:avLst/>
              <a:gdLst/>
              <a:ahLst/>
              <a:cxnLst/>
              <a:rect l="l" t="t" r="r" b="b"/>
              <a:pathLst>
                <a:path w="1995082" h="1014101">
                  <a:moveTo>
                    <a:pt x="14049" y="0"/>
                  </a:moveTo>
                  <a:lnTo>
                    <a:pt x="1981033" y="0"/>
                  </a:lnTo>
                  <a:cubicBezTo>
                    <a:pt x="1988792" y="0"/>
                    <a:pt x="1995082" y="6290"/>
                    <a:pt x="1995082" y="14049"/>
                  </a:cubicBezTo>
                  <a:lnTo>
                    <a:pt x="1995082" y="1000052"/>
                  </a:lnTo>
                  <a:cubicBezTo>
                    <a:pt x="1995082" y="1007811"/>
                    <a:pt x="1988792" y="1014101"/>
                    <a:pt x="1981033" y="1014101"/>
                  </a:cubicBezTo>
                  <a:lnTo>
                    <a:pt x="14049" y="1014101"/>
                  </a:lnTo>
                  <a:cubicBezTo>
                    <a:pt x="6290" y="1014101"/>
                    <a:pt x="0" y="1007811"/>
                    <a:pt x="0" y="1000052"/>
                  </a:cubicBezTo>
                  <a:lnTo>
                    <a:pt x="0" y="14049"/>
                  </a:lnTo>
                  <a:cubicBezTo>
                    <a:pt x="0" y="6290"/>
                    <a:pt x="6290" y="0"/>
                    <a:pt x="14049" y="0"/>
                  </a:cubicBezTo>
                  <a:close/>
                </a:path>
              </a:pathLst>
            </a:custGeom>
            <a:solidFill>
              <a:srgbClr val="3272D1"/>
            </a:soli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995082" cy="10522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 dirty="0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38260" y="1028700"/>
            <a:ext cx="8265976" cy="4204469"/>
            <a:chOff x="0" y="0"/>
            <a:chExt cx="1995082" cy="101479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995082" cy="1014794"/>
            </a:xfrm>
            <a:custGeom>
              <a:avLst/>
              <a:gdLst/>
              <a:ahLst/>
              <a:cxnLst/>
              <a:rect l="l" t="t" r="r" b="b"/>
              <a:pathLst>
                <a:path w="1995082" h="1014794">
                  <a:moveTo>
                    <a:pt x="14049" y="0"/>
                  </a:moveTo>
                  <a:lnTo>
                    <a:pt x="1981033" y="0"/>
                  </a:lnTo>
                  <a:cubicBezTo>
                    <a:pt x="1988792" y="0"/>
                    <a:pt x="1995082" y="6290"/>
                    <a:pt x="1995082" y="14049"/>
                  </a:cubicBezTo>
                  <a:lnTo>
                    <a:pt x="1995082" y="1000745"/>
                  </a:lnTo>
                  <a:cubicBezTo>
                    <a:pt x="1995082" y="1008504"/>
                    <a:pt x="1988792" y="1014794"/>
                    <a:pt x="1981033" y="1014794"/>
                  </a:cubicBezTo>
                  <a:lnTo>
                    <a:pt x="14049" y="1014794"/>
                  </a:lnTo>
                  <a:cubicBezTo>
                    <a:pt x="6290" y="1014794"/>
                    <a:pt x="0" y="1008504"/>
                    <a:pt x="0" y="1000745"/>
                  </a:cubicBezTo>
                  <a:lnTo>
                    <a:pt x="0" y="14049"/>
                  </a:lnTo>
                  <a:cubicBezTo>
                    <a:pt x="0" y="6290"/>
                    <a:pt x="6290" y="0"/>
                    <a:pt x="14049" y="0"/>
                  </a:cubicBezTo>
                  <a:close/>
                </a:path>
              </a:pathLst>
            </a:custGeom>
            <a:solidFill>
              <a:srgbClr val="8063E8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995082" cy="10528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60"/>
                </a:lnSpc>
                <a:spcBef>
                  <a:spcPct val="0"/>
                </a:spcBef>
              </a:pPr>
              <a:endParaRPr dirty="0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2324848" y="1198982"/>
            <a:ext cx="4767452" cy="839955"/>
            <a:chOff x="0" y="0"/>
            <a:chExt cx="1742613" cy="30702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742612" cy="307023"/>
            </a:xfrm>
            <a:custGeom>
              <a:avLst/>
              <a:gdLst/>
              <a:ahLst/>
              <a:cxnLst/>
              <a:rect l="l" t="t" r="r" b="b"/>
              <a:pathLst>
                <a:path w="1742612" h="307023">
                  <a:moveTo>
                    <a:pt x="74700" y="0"/>
                  </a:moveTo>
                  <a:lnTo>
                    <a:pt x="1667913" y="0"/>
                  </a:lnTo>
                  <a:cubicBezTo>
                    <a:pt x="1709168" y="0"/>
                    <a:pt x="1742612" y="33444"/>
                    <a:pt x="1742612" y="74700"/>
                  </a:cubicBezTo>
                  <a:lnTo>
                    <a:pt x="1742612" y="232323"/>
                  </a:lnTo>
                  <a:cubicBezTo>
                    <a:pt x="1742612" y="273578"/>
                    <a:pt x="1709168" y="307023"/>
                    <a:pt x="1667913" y="307023"/>
                  </a:cubicBezTo>
                  <a:lnTo>
                    <a:pt x="74700" y="307023"/>
                  </a:lnTo>
                  <a:cubicBezTo>
                    <a:pt x="33444" y="307023"/>
                    <a:pt x="0" y="273578"/>
                    <a:pt x="0" y="232323"/>
                  </a:cubicBezTo>
                  <a:lnTo>
                    <a:pt x="0" y="74700"/>
                  </a:lnTo>
                  <a:cubicBezTo>
                    <a:pt x="0" y="33444"/>
                    <a:pt x="33444" y="0"/>
                    <a:pt x="74700" y="0"/>
                  </a:cubicBezTo>
                  <a:close/>
                </a:path>
              </a:pathLst>
            </a:custGeom>
            <a:solidFill>
              <a:srgbClr val="F4F6FC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66675"/>
              <a:ext cx="1742613" cy="37369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339"/>
                </a:lnSpc>
              </a:pPr>
              <a:r>
                <a:rPr lang="en-US" sz="3099" b="1" dirty="0">
                  <a:solidFill>
                    <a:srgbClr val="120052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Doubly Linked List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2281866" y="5647694"/>
            <a:ext cx="4853417" cy="839955"/>
            <a:chOff x="0" y="0"/>
            <a:chExt cx="1774035" cy="30702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774035" cy="307023"/>
            </a:xfrm>
            <a:custGeom>
              <a:avLst/>
              <a:gdLst/>
              <a:ahLst/>
              <a:cxnLst/>
              <a:rect l="l" t="t" r="r" b="b"/>
              <a:pathLst>
                <a:path w="1774035" h="307023">
                  <a:moveTo>
                    <a:pt x="73377" y="0"/>
                  </a:moveTo>
                  <a:lnTo>
                    <a:pt x="1700658" y="0"/>
                  </a:lnTo>
                  <a:cubicBezTo>
                    <a:pt x="1720118" y="0"/>
                    <a:pt x="1738782" y="7731"/>
                    <a:pt x="1752543" y="21492"/>
                  </a:cubicBezTo>
                  <a:cubicBezTo>
                    <a:pt x="1766304" y="35252"/>
                    <a:pt x="1774035" y="53916"/>
                    <a:pt x="1774035" y="73377"/>
                  </a:cubicBezTo>
                  <a:lnTo>
                    <a:pt x="1774035" y="233646"/>
                  </a:lnTo>
                  <a:cubicBezTo>
                    <a:pt x="1774035" y="253107"/>
                    <a:pt x="1766304" y="271770"/>
                    <a:pt x="1752543" y="285531"/>
                  </a:cubicBezTo>
                  <a:cubicBezTo>
                    <a:pt x="1738782" y="299292"/>
                    <a:pt x="1720118" y="307023"/>
                    <a:pt x="1700658" y="307023"/>
                  </a:cubicBezTo>
                  <a:lnTo>
                    <a:pt x="73377" y="307023"/>
                  </a:lnTo>
                  <a:cubicBezTo>
                    <a:pt x="32852" y="307023"/>
                    <a:pt x="0" y="274171"/>
                    <a:pt x="0" y="233646"/>
                  </a:cubicBezTo>
                  <a:lnTo>
                    <a:pt x="0" y="73377"/>
                  </a:lnTo>
                  <a:cubicBezTo>
                    <a:pt x="0" y="32852"/>
                    <a:pt x="32852" y="0"/>
                    <a:pt x="73377" y="0"/>
                  </a:cubicBezTo>
                  <a:close/>
                </a:path>
              </a:pathLst>
            </a:custGeom>
            <a:solidFill>
              <a:srgbClr val="F4F6FC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66675"/>
              <a:ext cx="1774035" cy="37369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339"/>
                </a:lnSpc>
              </a:pPr>
              <a:r>
                <a:rPr lang="en-US" sz="3099" b="1" dirty="0">
                  <a:solidFill>
                    <a:srgbClr val="120052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HashMap / Dictionary</a:t>
              </a:r>
            </a:p>
          </p:txBody>
        </p:sp>
      </p:grpSp>
      <p:sp>
        <p:nvSpPr>
          <p:cNvPr id="14" name="Freeform 14"/>
          <p:cNvSpPr/>
          <p:nvPr/>
        </p:nvSpPr>
        <p:spPr>
          <a:xfrm>
            <a:off x="9366585" y="2775077"/>
            <a:ext cx="8480049" cy="5745233"/>
          </a:xfrm>
          <a:custGeom>
            <a:avLst/>
            <a:gdLst/>
            <a:ahLst/>
            <a:cxnLst/>
            <a:rect l="l" t="t" r="r" b="b"/>
            <a:pathLst>
              <a:path w="8480049" h="5745233">
                <a:moveTo>
                  <a:pt x="0" y="0"/>
                </a:moveTo>
                <a:lnTo>
                  <a:pt x="8480049" y="0"/>
                </a:lnTo>
                <a:lnTo>
                  <a:pt x="8480049" y="5745233"/>
                </a:lnTo>
                <a:lnTo>
                  <a:pt x="0" y="57452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15" name="TextBox 15"/>
          <p:cNvSpPr txBox="1"/>
          <p:nvPr/>
        </p:nvSpPr>
        <p:spPr>
          <a:xfrm>
            <a:off x="7661272" y="1198982"/>
            <a:ext cx="12284386" cy="105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60"/>
              </a:lnSpc>
            </a:pPr>
            <a:r>
              <a:rPr lang="en-US" sz="6967" b="1" dirty="0">
                <a:solidFill>
                  <a:srgbClr val="10101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Data Structures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19541" y="2218157"/>
            <a:ext cx="7703414" cy="29565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3390" lvl="1" indent="-226695" algn="just">
              <a:lnSpc>
                <a:spcPts val="2940"/>
              </a:lnSpc>
              <a:buFont typeface="Arial"/>
              <a:buChar char="•"/>
            </a:pPr>
            <a:r>
              <a:rPr lang="en-US" sz="21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MRU items → tail ,  LRU items → head</a:t>
            </a:r>
          </a:p>
          <a:p>
            <a:pPr algn="just">
              <a:lnSpc>
                <a:spcPts val="2940"/>
              </a:lnSpc>
            </a:pPr>
            <a:endParaRPr lang="en-US" sz="210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3390" lvl="1" indent="-226695" algn="just">
              <a:lnSpc>
                <a:spcPts val="2940"/>
              </a:lnSpc>
              <a:buFont typeface="Arial"/>
              <a:buChar char="•"/>
            </a:pPr>
            <a:r>
              <a:rPr lang="en-US" sz="21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add_to_tail(node) – Adds a new node at tail | </a:t>
            </a:r>
            <a:r>
              <a:rPr lang="en-US" sz="2100" i="1" dirty="0">
                <a:solidFill>
                  <a:srgbClr val="FFFFFF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Insertion</a:t>
            </a:r>
            <a:r>
              <a:rPr lang="en-US" sz="21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</a:p>
          <a:p>
            <a:pPr marL="453390" lvl="1" indent="-226695" algn="just">
              <a:lnSpc>
                <a:spcPts val="2940"/>
              </a:lnSpc>
              <a:buFont typeface="Arial"/>
              <a:buChar char="•"/>
            </a:pPr>
            <a:r>
              <a:rPr lang="en-US" sz="21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move_to_tail(node) – Moves an existing node to tail | </a:t>
            </a:r>
            <a:r>
              <a:rPr lang="en-US" sz="2100" i="1" dirty="0">
                <a:solidFill>
                  <a:srgbClr val="FFFFFF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Access/Update</a:t>
            </a:r>
          </a:p>
          <a:p>
            <a:pPr marL="453390" lvl="1" indent="-226695" algn="just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sz="21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remove_head() – Removes the node from head | </a:t>
            </a:r>
            <a:r>
              <a:rPr lang="en-US" sz="2100" i="1" dirty="0">
                <a:solidFill>
                  <a:srgbClr val="FFFFFF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Eviction when full.</a:t>
            </a:r>
          </a:p>
          <a:p>
            <a:pPr marL="0" lvl="0" indent="0" algn="just">
              <a:lnSpc>
                <a:spcPts val="2940"/>
              </a:lnSpc>
              <a:spcBef>
                <a:spcPct val="0"/>
              </a:spcBef>
            </a:pPr>
            <a:endParaRPr lang="en-US" sz="2100" i="1" dirty="0">
              <a:solidFill>
                <a:srgbClr val="FFFFFF"/>
              </a:solidFill>
              <a:latin typeface="Montserrat Italics"/>
              <a:ea typeface="Montserrat Italics"/>
              <a:cs typeface="Montserrat Italics"/>
              <a:sym typeface="Montserrat Italics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034668" y="6620999"/>
            <a:ext cx="7473161" cy="25850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3390" lvl="1" indent="-226695" algn="just">
              <a:lnSpc>
                <a:spcPts val="2940"/>
              </a:lnSpc>
              <a:buFont typeface="Arial"/>
              <a:buChar char="•"/>
            </a:pPr>
            <a:r>
              <a:rPr lang="en-US" sz="21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Stores references to nodes of the DLL for fast access by key.</a:t>
            </a:r>
          </a:p>
          <a:p>
            <a:pPr algn="just">
              <a:lnSpc>
                <a:spcPts val="2940"/>
              </a:lnSpc>
            </a:pPr>
            <a:endParaRPr lang="en-US" sz="210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3390" lvl="1" indent="-226695" algn="just">
              <a:lnSpc>
                <a:spcPts val="2940"/>
              </a:lnSpc>
              <a:buFont typeface="Arial"/>
              <a:buChar char="•"/>
            </a:pPr>
            <a:r>
              <a:rPr lang="en-US" sz="21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Insert: Add new key with reference to its DLL node.</a:t>
            </a:r>
          </a:p>
          <a:p>
            <a:pPr marL="453390" lvl="1" indent="-226695" algn="just">
              <a:lnSpc>
                <a:spcPts val="2940"/>
              </a:lnSpc>
              <a:buFont typeface="Arial"/>
              <a:buChar char="•"/>
            </a:pPr>
            <a:r>
              <a:rPr lang="en-US" sz="21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Search: Retrieve node from dictionary quickly.</a:t>
            </a:r>
          </a:p>
          <a:p>
            <a:pPr marL="453390" lvl="1" indent="-226695" algn="just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sz="21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Delete: Remove key when node is evicted from DLL.</a:t>
            </a:r>
          </a:p>
          <a:p>
            <a:pPr marL="0" lvl="0" indent="0" algn="just">
              <a:lnSpc>
                <a:spcPts val="2940"/>
              </a:lnSpc>
              <a:spcBef>
                <a:spcPct val="0"/>
              </a:spcBef>
            </a:pPr>
            <a:endParaRPr lang="en-US" sz="210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95400" y="266700"/>
            <a:ext cx="16001244" cy="9234175"/>
            <a:chOff x="0" y="9525"/>
            <a:chExt cx="21334991" cy="12312233"/>
          </a:xfrm>
        </p:grpSpPr>
        <p:sp>
          <p:nvSpPr>
            <p:cNvPr id="3" name="Freeform 3"/>
            <p:cNvSpPr/>
            <p:nvPr/>
          </p:nvSpPr>
          <p:spPr>
            <a:xfrm>
              <a:off x="8195052" y="1431404"/>
              <a:ext cx="11886967" cy="6963777"/>
            </a:xfrm>
            <a:custGeom>
              <a:avLst/>
              <a:gdLst/>
              <a:ahLst/>
              <a:cxnLst/>
              <a:rect l="l" t="t" r="r" b="b"/>
              <a:pathLst>
                <a:path w="11886968" h="6963777">
                  <a:moveTo>
                    <a:pt x="0" y="0"/>
                  </a:moveTo>
                  <a:lnTo>
                    <a:pt x="11886968" y="0"/>
                  </a:lnTo>
                  <a:lnTo>
                    <a:pt x="11886968" y="6963777"/>
                  </a:lnTo>
                  <a:lnTo>
                    <a:pt x="0" y="69637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2719" b="-11007"/>
              </a:stretch>
            </a:blip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4" name="AutoShape 4"/>
            <p:cNvSpPr/>
            <p:nvPr/>
          </p:nvSpPr>
          <p:spPr>
            <a:xfrm flipH="1" flipV="1">
              <a:off x="16130230" y="3909277"/>
              <a:ext cx="0" cy="2804162"/>
            </a:xfrm>
            <a:prstGeom prst="line">
              <a:avLst/>
            </a:prstGeom>
            <a:ln w="50800" cap="flat">
              <a:solidFill>
                <a:srgbClr val="193C6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5" name="AutoShape 5"/>
            <p:cNvSpPr/>
            <p:nvPr/>
          </p:nvSpPr>
          <p:spPr>
            <a:xfrm flipV="1">
              <a:off x="15473958" y="6700740"/>
              <a:ext cx="656272" cy="12700"/>
            </a:xfrm>
            <a:prstGeom prst="line">
              <a:avLst/>
            </a:prstGeom>
            <a:ln w="50800" cap="flat">
              <a:solidFill>
                <a:srgbClr val="193C6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IN" dirty="0"/>
            </a:p>
          </p:txBody>
        </p:sp>
        <p:grpSp>
          <p:nvGrpSpPr>
            <p:cNvPr id="6" name="Group 6"/>
            <p:cNvGrpSpPr/>
            <p:nvPr/>
          </p:nvGrpSpPr>
          <p:grpSpPr>
            <a:xfrm>
              <a:off x="14902441" y="9836370"/>
              <a:ext cx="251460" cy="246380"/>
              <a:chOff x="0" y="0"/>
              <a:chExt cx="251460" cy="24638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50604" y="50749"/>
                <a:ext cx="148786" cy="147533"/>
              </a:xfrm>
              <a:custGeom>
                <a:avLst/>
                <a:gdLst/>
                <a:ahLst/>
                <a:cxnLst/>
                <a:rect l="l" t="t" r="r" b="b"/>
                <a:pathLst>
                  <a:path w="148786" h="147533">
                    <a:moveTo>
                      <a:pt x="148786" y="52121"/>
                    </a:moveTo>
                    <a:cubicBezTo>
                      <a:pt x="128466" y="133401"/>
                      <a:pt x="119576" y="141021"/>
                      <a:pt x="106876" y="144831"/>
                    </a:cubicBezTo>
                    <a:cubicBezTo>
                      <a:pt x="89096" y="149911"/>
                      <a:pt x="53536" y="147371"/>
                      <a:pt x="35756" y="141021"/>
                    </a:cubicBezTo>
                    <a:cubicBezTo>
                      <a:pt x="24326" y="134671"/>
                      <a:pt x="16706" y="124511"/>
                      <a:pt x="10356" y="114351"/>
                    </a:cubicBezTo>
                    <a:cubicBezTo>
                      <a:pt x="4006" y="104191"/>
                      <a:pt x="-1074" y="92761"/>
                      <a:pt x="196" y="80061"/>
                    </a:cubicBezTo>
                    <a:cubicBezTo>
                      <a:pt x="196" y="61011"/>
                      <a:pt x="15436" y="27991"/>
                      <a:pt x="28136" y="15291"/>
                    </a:cubicBezTo>
                    <a:cubicBezTo>
                      <a:pt x="38296" y="6401"/>
                      <a:pt x="48456" y="1321"/>
                      <a:pt x="62426" y="51"/>
                    </a:cubicBezTo>
                    <a:cubicBezTo>
                      <a:pt x="80206" y="-1219"/>
                      <a:pt x="129736" y="21641"/>
                      <a:pt x="129736" y="21641"/>
                    </a:cubicBezTo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 dirty="0"/>
              </a:p>
            </p:txBody>
          </p:sp>
        </p:grpSp>
        <p:grpSp>
          <p:nvGrpSpPr>
            <p:cNvPr id="8" name="Group 8"/>
            <p:cNvGrpSpPr/>
            <p:nvPr/>
          </p:nvGrpSpPr>
          <p:grpSpPr>
            <a:xfrm>
              <a:off x="14860531" y="10073860"/>
              <a:ext cx="251460" cy="246380"/>
              <a:chOff x="0" y="0"/>
              <a:chExt cx="251460" cy="24638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50636" y="50749"/>
                <a:ext cx="148754" cy="147533"/>
              </a:xfrm>
              <a:custGeom>
                <a:avLst/>
                <a:gdLst/>
                <a:ahLst/>
                <a:cxnLst/>
                <a:rect l="l" t="t" r="r" b="b"/>
                <a:pathLst>
                  <a:path w="148754" h="147533">
                    <a:moveTo>
                      <a:pt x="148754" y="52121"/>
                    </a:moveTo>
                    <a:cubicBezTo>
                      <a:pt x="129704" y="133401"/>
                      <a:pt x="119544" y="141021"/>
                      <a:pt x="106844" y="144831"/>
                    </a:cubicBezTo>
                    <a:cubicBezTo>
                      <a:pt x="89064" y="149911"/>
                      <a:pt x="53504" y="147371"/>
                      <a:pt x="36994" y="141021"/>
                    </a:cubicBezTo>
                    <a:cubicBezTo>
                      <a:pt x="24294" y="134671"/>
                      <a:pt x="16674" y="124511"/>
                      <a:pt x="10324" y="114351"/>
                    </a:cubicBezTo>
                    <a:cubicBezTo>
                      <a:pt x="5244" y="104191"/>
                      <a:pt x="-1106" y="92761"/>
                      <a:pt x="164" y="80061"/>
                    </a:cubicBezTo>
                    <a:cubicBezTo>
                      <a:pt x="1434" y="61011"/>
                      <a:pt x="15404" y="27991"/>
                      <a:pt x="29374" y="15291"/>
                    </a:cubicBezTo>
                    <a:cubicBezTo>
                      <a:pt x="38264" y="6401"/>
                      <a:pt x="48424" y="1321"/>
                      <a:pt x="62394" y="51"/>
                    </a:cubicBezTo>
                    <a:cubicBezTo>
                      <a:pt x="80174" y="-1219"/>
                      <a:pt x="129704" y="21641"/>
                      <a:pt x="129704" y="21641"/>
                    </a:cubicBezTo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 dirty="0"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>
              <a:off x="11845551" y="10684730"/>
              <a:ext cx="251460" cy="246380"/>
              <a:chOff x="0" y="0"/>
              <a:chExt cx="251460" cy="24638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50604" y="50749"/>
                <a:ext cx="148786" cy="147474"/>
              </a:xfrm>
              <a:custGeom>
                <a:avLst/>
                <a:gdLst/>
                <a:ahLst/>
                <a:cxnLst/>
                <a:rect l="l" t="t" r="r" b="b"/>
                <a:pathLst>
                  <a:path w="148786" h="147474">
                    <a:moveTo>
                      <a:pt x="148786" y="52121"/>
                    </a:moveTo>
                    <a:cubicBezTo>
                      <a:pt x="128466" y="133401"/>
                      <a:pt x="119576" y="141021"/>
                      <a:pt x="106876" y="144831"/>
                    </a:cubicBezTo>
                    <a:cubicBezTo>
                      <a:pt x="89096" y="149911"/>
                      <a:pt x="53536" y="147371"/>
                      <a:pt x="35756" y="139751"/>
                    </a:cubicBezTo>
                    <a:cubicBezTo>
                      <a:pt x="24326" y="134671"/>
                      <a:pt x="16706" y="124511"/>
                      <a:pt x="10356" y="114351"/>
                    </a:cubicBezTo>
                    <a:cubicBezTo>
                      <a:pt x="4006" y="104191"/>
                      <a:pt x="-1074" y="92761"/>
                      <a:pt x="196" y="80061"/>
                    </a:cubicBezTo>
                    <a:cubicBezTo>
                      <a:pt x="196" y="61011"/>
                      <a:pt x="15436" y="27991"/>
                      <a:pt x="28136" y="15291"/>
                    </a:cubicBezTo>
                    <a:cubicBezTo>
                      <a:pt x="38296" y="6401"/>
                      <a:pt x="48456" y="1321"/>
                      <a:pt x="62426" y="51"/>
                    </a:cubicBezTo>
                    <a:cubicBezTo>
                      <a:pt x="80206" y="-1219"/>
                      <a:pt x="129736" y="21641"/>
                      <a:pt x="129736" y="21641"/>
                    </a:cubicBezTo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 dirty="0"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11851901" y="10678380"/>
              <a:ext cx="251460" cy="246380"/>
              <a:chOff x="0" y="0"/>
              <a:chExt cx="251460" cy="24638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50636" y="50746"/>
                <a:ext cx="148754" cy="147477"/>
              </a:xfrm>
              <a:custGeom>
                <a:avLst/>
                <a:gdLst/>
                <a:ahLst/>
                <a:cxnLst/>
                <a:rect l="l" t="t" r="r" b="b"/>
                <a:pathLst>
                  <a:path w="148754" h="147477">
                    <a:moveTo>
                      <a:pt x="148754" y="52124"/>
                    </a:moveTo>
                    <a:cubicBezTo>
                      <a:pt x="129704" y="133404"/>
                      <a:pt x="119544" y="139754"/>
                      <a:pt x="106844" y="144834"/>
                    </a:cubicBezTo>
                    <a:cubicBezTo>
                      <a:pt x="89064" y="149914"/>
                      <a:pt x="53504" y="147374"/>
                      <a:pt x="36994" y="139754"/>
                    </a:cubicBezTo>
                    <a:cubicBezTo>
                      <a:pt x="24294" y="134674"/>
                      <a:pt x="16674" y="124514"/>
                      <a:pt x="10324" y="114354"/>
                    </a:cubicBezTo>
                    <a:cubicBezTo>
                      <a:pt x="5244" y="104194"/>
                      <a:pt x="-1106" y="92764"/>
                      <a:pt x="164" y="78794"/>
                    </a:cubicBezTo>
                    <a:cubicBezTo>
                      <a:pt x="1434" y="61014"/>
                      <a:pt x="15404" y="27994"/>
                      <a:pt x="29374" y="15294"/>
                    </a:cubicBezTo>
                    <a:cubicBezTo>
                      <a:pt x="38264" y="5134"/>
                      <a:pt x="48424" y="54"/>
                      <a:pt x="62394" y="54"/>
                    </a:cubicBezTo>
                    <a:cubicBezTo>
                      <a:pt x="80174" y="-1216"/>
                      <a:pt x="129704" y="20374"/>
                      <a:pt x="129704" y="20374"/>
                    </a:cubicBezTo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 dirty="0"/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>
              <a:off x="11869681" y="10677110"/>
              <a:ext cx="252730" cy="261620"/>
              <a:chOff x="0" y="0"/>
              <a:chExt cx="252730" cy="261620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50800" y="50360"/>
                <a:ext cx="151882" cy="162718"/>
              </a:xfrm>
              <a:custGeom>
                <a:avLst/>
                <a:gdLst/>
                <a:ahLst/>
                <a:cxnLst/>
                <a:rect l="l" t="t" r="r" b="b"/>
                <a:pathLst>
                  <a:path w="151882" h="162718">
                    <a:moveTo>
                      <a:pt x="0" y="121090"/>
                    </a:moveTo>
                    <a:cubicBezTo>
                      <a:pt x="8890" y="37270"/>
                      <a:pt x="20320" y="19490"/>
                      <a:pt x="35560" y="11870"/>
                    </a:cubicBezTo>
                    <a:cubicBezTo>
                      <a:pt x="53340" y="1710"/>
                      <a:pt x="87630" y="-830"/>
                      <a:pt x="106680" y="5520"/>
                    </a:cubicBezTo>
                    <a:cubicBezTo>
                      <a:pt x="123190" y="11870"/>
                      <a:pt x="147320" y="42350"/>
                      <a:pt x="146050" y="43620"/>
                    </a:cubicBezTo>
                    <a:cubicBezTo>
                      <a:pt x="144780" y="46160"/>
                      <a:pt x="80010" y="1710"/>
                      <a:pt x="80010" y="440"/>
                    </a:cubicBezTo>
                    <a:cubicBezTo>
                      <a:pt x="81280" y="-2100"/>
                      <a:pt x="114300" y="8060"/>
                      <a:pt x="125730" y="18220"/>
                    </a:cubicBezTo>
                    <a:cubicBezTo>
                      <a:pt x="138430" y="28380"/>
                      <a:pt x="148590" y="43620"/>
                      <a:pt x="151130" y="60130"/>
                    </a:cubicBezTo>
                    <a:cubicBezTo>
                      <a:pt x="153670" y="79180"/>
                      <a:pt x="147320" y="113470"/>
                      <a:pt x="132080" y="128710"/>
                    </a:cubicBezTo>
                    <a:cubicBezTo>
                      <a:pt x="118110" y="143950"/>
                      <a:pt x="85090" y="155380"/>
                      <a:pt x="64770" y="151570"/>
                    </a:cubicBezTo>
                    <a:cubicBezTo>
                      <a:pt x="43180" y="149030"/>
                      <a:pt x="16510" y="127440"/>
                      <a:pt x="7620" y="108390"/>
                    </a:cubicBezTo>
                    <a:cubicBezTo>
                      <a:pt x="-1270" y="89340"/>
                      <a:pt x="0" y="55050"/>
                      <a:pt x="11430" y="37270"/>
                    </a:cubicBezTo>
                    <a:cubicBezTo>
                      <a:pt x="21590" y="19490"/>
                      <a:pt x="50800" y="1710"/>
                      <a:pt x="72390" y="440"/>
                    </a:cubicBezTo>
                    <a:cubicBezTo>
                      <a:pt x="93980" y="-830"/>
                      <a:pt x="124460" y="13140"/>
                      <a:pt x="137160" y="29650"/>
                    </a:cubicBezTo>
                    <a:cubicBezTo>
                      <a:pt x="149860" y="47430"/>
                      <a:pt x="156210" y="80450"/>
                      <a:pt x="148590" y="100770"/>
                    </a:cubicBezTo>
                    <a:cubicBezTo>
                      <a:pt x="142240" y="121090"/>
                      <a:pt x="118110" y="146490"/>
                      <a:pt x="96520" y="150300"/>
                    </a:cubicBezTo>
                    <a:cubicBezTo>
                      <a:pt x="72390" y="154110"/>
                      <a:pt x="20320" y="129980"/>
                      <a:pt x="7620" y="108390"/>
                    </a:cubicBezTo>
                    <a:cubicBezTo>
                      <a:pt x="-3810" y="90610"/>
                      <a:pt x="0" y="56320"/>
                      <a:pt x="10160" y="37270"/>
                    </a:cubicBezTo>
                    <a:cubicBezTo>
                      <a:pt x="21590" y="19490"/>
                      <a:pt x="50800" y="2980"/>
                      <a:pt x="71120" y="440"/>
                    </a:cubicBezTo>
                    <a:cubicBezTo>
                      <a:pt x="88900" y="-2100"/>
                      <a:pt x="110490" y="6790"/>
                      <a:pt x="123190" y="15680"/>
                    </a:cubicBezTo>
                    <a:cubicBezTo>
                      <a:pt x="133350" y="22030"/>
                      <a:pt x="142240" y="30920"/>
                      <a:pt x="146050" y="43620"/>
                    </a:cubicBezTo>
                    <a:cubicBezTo>
                      <a:pt x="151130" y="61400"/>
                      <a:pt x="149860" y="91880"/>
                      <a:pt x="143510" y="110930"/>
                    </a:cubicBezTo>
                    <a:cubicBezTo>
                      <a:pt x="137160" y="127440"/>
                      <a:pt x="125730" y="145220"/>
                      <a:pt x="110490" y="154110"/>
                    </a:cubicBezTo>
                    <a:cubicBezTo>
                      <a:pt x="92710" y="163000"/>
                      <a:pt x="58420" y="165540"/>
                      <a:pt x="39370" y="159190"/>
                    </a:cubicBezTo>
                    <a:cubicBezTo>
                      <a:pt x="22860" y="152840"/>
                      <a:pt x="0" y="121090"/>
                      <a:pt x="0" y="121090"/>
                    </a:cubicBezTo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 dirty="0"/>
              </a:p>
            </p:txBody>
          </p:sp>
        </p:grpSp>
        <p:sp>
          <p:nvSpPr>
            <p:cNvPr id="18" name="Freeform 18"/>
            <p:cNvSpPr/>
            <p:nvPr/>
          </p:nvSpPr>
          <p:spPr>
            <a:xfrm>
              <a:off x="0" y="1440943"/>
              <a:ext cx="7249343" cy="10880815"/>
            </a:xfrm>
            <a:custGeom>
              <a:avLst/>
              <a:gdLst/>
              <a:ahLst/>
              <a:cxnLst/>
              <a:rect l="l" t="t" r="r" b="b"/>
              <a:pathLst>
                <a:path w="7249343" h="10880815">
                  <a:moveTo>
                    <a:pt x="0" y="0"/>
                  </a:moveTo>
                  <a:lnTo>
                    <a:pt x="7249343" y="0"/>
                  </a:lnTo>
                  <a:lnTo>
                    <a:pt x="7249343" y="10880815"/>
                  </a:lnTo>
                  <a:lnTo>
                    <a:pt x="0" y="108808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IN" dirty="0"/>
            </a:p>
          </p:txBody>
        </p:sp>
        <p:grpSp>
          <p:nvGrpSpPr>
            <p:cNvPr id="21" name="Group 21"/>
            <p:cNvGrpSpPr/>
            <p:nvPr/>
          </p:nvGrpSpPr>
          <p:grpSpPr>
            <a:xfrm>
              <a:off x="11679181" y="7643080"/>
              <a:ext cx="354330" cy="271780"/>
              <a:chOff x="0" y="0"/>
              <a:chExt cx="354330" cy="27178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49415" y="49118"/>
                <a:ext cx="257461" cy="171862"/>
              </a:xfrm>
              <a:custGeom>
                <a:avLst/>
                <a:gdLst/>
                <a:ahLst/>
                <a:cxnLst/>
                <a:rect l="l" t="t" r="r" b="b"/>
                <a:pathLst>
                  <a:path w="257461" h="171862">
                    <a:moveTo>
                      <a:pt x="181725" y="156622"/>
                    </a:moveTo>
                    <a:cubicBezTo>
                      <a:pt x="124575" y="145192"/>
                      <a:pt x="160135" y="71532"/>
                      <a:pt x="161405" y="72802"/>
                    </a:cubicBezTo>
                    <a:cubicBezTo>
                      <a:pt x="162675" y="72802"/>
                      <a:pt x="158865" y="113442"/>
                      <a:pt x="149975" y="128682"/>
                    </a:cubicBezTo>
                    <a:cubicBezTo>
                      <a:pt x="142355" y="142652"/>
                      <a:pt x="129655" y="157892"/>
                      <a:pt x="114415" y="164242"/>
                    </a:cubicBezTo>
                    <a:cubicBezTo>
                      <a:pt x="95365" y="170592"/>
                      <a:pt x="58535" y="169322"/>
                      <a:pt x="39485" y="160432"/>
                    </a:cubicBezTo>
                    <a:cubicBezTo>
                      <a:pt x="24245" y="154082"/>
                      <a:pt x="12815" y="137572"/>
                      <a:pt x="6465" y="123602"/>
                    </a:cubicBezTo>
                    <a:cubicBezTo>
                      <a:pt x="1385" y="108362"/>
                      <a:pt x="-1155" y="88042"/>
                      <a:pt x="3925" y="72802"/>
                    </a:cubicBezTo>
                    <a:cubicBezTo>
                      <a:pt x="7735" y="57562"/>
                      <a:pt x="16625" y="39782"/>
                      <a:pt x="30595" y="30892"/>
                    </a:cubicBezTo>
                    <a:cubicBezTo>
                      <a:pt x="48375" y="19462"/>
                      <a:pt x="82665" y="10572"/>
                      <a:pt x="104255" y="18192"/>
                    </a:cubicBezTo>
                    <a:cubicBezTo>
                      <a:pt x="124575" y="24542"/>
                      <a:pt x="148705" y="49942"/>
                      <a:pt x="155055" y="70262"/>
                    </a:cubicBezTo>
                    <a:cubicBezTo>
                      <a:pt x="161405" y="91852"/>
                      <a:pt x="155055" y="126142"/>
                      <a:pt x="141085" y="142652"/>
                    </a:cubicBezTo>
                    <a:cubicBezTo>
                      <a:pt x="127115" y="159162"/>
                      <a:pt x="92825" y="171862"/>
                      <a:pt x="72505" y="171862"/>
                    </a:cubicBezTo>
                    <a:cubicBezTo>
                      <a:pt x="55995" y="170592"/>
                      <a:pt x="38215" y="161702"/>
                      <a:pt x="26785" y="150272"/>
                    </a:cubicBezTo>
                    <a:cubicBezTo>
                      <a:pt x="14085" y="140112"/>
                      <a:pt x="5195" y="119792"/>
                      <a:pt x="2655" y="107092"/>
                    </a:cubicBezTo>
                    <a:cubicBezTo>
                      <a:pt x="115" y="96932"/>
                      <a:pt x="-1155" y="82962"/>
                      <a:pt x="1385" y="81692"/>
                    </a:cubicBezTo>
                    <a:cubicBezTo>
                      <a:pt x="6465" y="79152"/>
                      <a:pt x="28055" y="117252"/>
                      <a:pt x="35675" y="114712"/>
                    </a:cubicBezTo>
                    <a:cubicBezTo>
                      <a:pt x="44565" y="112172"/>
                      <a:pt x="26785" y="57562"/>
                      <a:pt x="40755" y="38512"/>
                    </a:cubicBezTo>
                    <a:cubicBezTo>
                      <a:pt x="55995" y="16922"/>
                      <a:pt x="102985" y="5492"/>
                      <a:pt x="133465" y="1682"/>
                    </a:cubicBezTo>
                    <a:cubicBezTo>
                      <a:pt x="161405" y="-2128"/>
                      <a:pt x="196965" y="412"/>
                      <a:pt x="217285" y="10572"/>
                    </a:cubicBezTo>
                    <a:cubicBezTo>
                      <a:pt x="233795" y="19462"/>
                      <a:pt x="249035" y="34702"/>
                      <a:pt x="254115" y="52482"/>
                    </a:cubicBezTo>
                    <a:cubicBezTo>
                      <a:pt x="260465" y="71532"/>
                      <a:pt x="257925" y="105822"/>
                      <a:pt x="245225" y="123602"/>
                    </a:cubicBezTo>
                    <a:cubicBezTo>
                      <a:pt x="233795" y="140112"/>
                      <a:pt x="181725" y="156622"/>
                      <a:pt x="181725" y="156622"/>
                    </a:cubicBezTo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 dirty="0"/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11685531" y="7630380"/>
              <a:ext cx="266700" cy="273050"/>
              <a:chOff x="0" y="0"/>
              <a:chExt cx="266700" cy="273050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50726" y="50800"/>
                <a:ext cx="165362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65362" h="171450">
                    <a:moveTo>
                      <a:pt x="143584" y="130810"/>
                    </a:moveTo>
                    <a:cubicBezTo>
                      <a:pt x="69924" y="172720"/>
                      <a:pt x="36904" y="163830"/>
                      <a:pt x="21664" y="148590"/>
                    </a:cubicBezTo>
                    <a:cubicBezTo>
                      <a:pt x="7694" y="133350"/>
                      <a:pt x="-2466" y="100330"/>
                      <a:pt x="1344" y="80010"/>
                    </a:cubicBezTo>
                    <a:cubicBezTo>
                      <a:pt x="5154" y="59690"/>
                      <a:pt x="26744" y="33020"/>
                      <a:pt x="45794" y="24130"/>
                    </a:cubicBezTo>
                    <a:cubicBezTo>
                      <a:pt x="66114" y="15240"/>
                      <a:pt x="100404" y="19050"/>
                      <a:pt x="118184" y="30480"/>
                    </a:cubicBezTo>
                    <a:cubicBezTo>
                      <a:pt x="135964" y="41910"/>
                      <a:pt x="152474" y="71120"/>
                      <a:pt x="152474" y="92710"/>
                    </a:cubicBezTo>
                    <a:cubicBezTo>
                      <a:pt x="153744" y="114300"/>
                      <a:pt x="135964" y="143510"/>
                      <a:pt x="120724" y="157480"/>
                    </a:cubicBezTo>
                    <a:cubicBezTo>
                      <a:pt x="108024" y="167640"/>
                      <a:pt x="88974" y="171450"/>
                      <a:pt x="73734" y="171450"/>
                    </a:cubicBezTo>
                    <a:cubicBezTo>
                      <a:pt x="58494" y="170180"/>
                      <a:pt x="40714" y="165100"/>
                      <a:pt x="28014" y="153670"/>
                    </a:cubicBezTo>
                    <a:cubicBezTo>
                      <a:pt x="14044" y="140970"/>
                      <a:pt x="-1196" y="110490"/>
                      <a:pt x="74" y="87630"/>
                    </a:cubicBezTo>
                    <a:cubicBezTo>
                      <a:pt x="1344" y="66040"/>
                      <a:pt x="19124" y="38100"/>
                      <a:pt x="35634" y="22860"/>
                    </a:cubicBezTo>
                    <a:cubicBezTo>
                      <a:pt x="49604" y="10160"/>
                      <a:pt x="68654" y="1270"/>
                      <a:pt x="85164" y="0"/>
                    </a:cubicBezTo>
                    <a:cubicBezTo>
                      <a:pt x="101674" y="0"/>
                      <a:pt x="123264" y="6350"/>
                      <a:pt x="137234" y="16510"/>
                    </a:cubicBezTo>
                    <a:cubicBezTo>
                      <a:pt x="149934" y="26670"/>
                      <a:pt x="162634" y="45720"/>
                      <a:pt x="165174" y="63500"/>
                    </a:cubicBezTo>
                    <a:cubicBezTo>
                      <a:pt x="167714" y="82550"/>
                      <a:pt x="143584" y="130810"/>
                      <a:pt x="143584" y="130810"/>
                    </a:cubicBezTo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 dirty="0"/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11662671" y="7671020"/>
              <a:ext cx="262890" cy="265430"/>
              <a:chOff x="0" y="0"/>
              <a:chExt cx="262890" cy="265430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50800" y="50610"/>
                <a:ext cx="161722" cy="165005"/>
              </a:xfrm>
              <a:custGeom>
                <a:avLst/>
                <a:gdLst/>
                <a:ahLst/>
                <a:cxnLst/>
                <a:rect l="l" t="t" r="r" b="b"/>
                <a:pathLst>
                  <a:path w="161722" h="165005">
                    <a:moveTo>
                      <a:pt x="21590" y="132270"/>
                    </a:moveTo>
                    <a:cubicBezTo>
                      <a:pt x="0" y="82740"/>
                      <a:pt x="-1270" y="62420"/>
                      <a:pt x="6350" y="47180"/>
                    </a:cubicBezTo>
                    <a:cubicBezTo>
                      <a:pt x="15240" y="29400"/>
                      <a:pt x="40640" y="6540"/>
                      <a:pt x="60960" y="1460"/>
                    </a:cubicBezTo>
                    <a:cubicBezTo>
                      <a:pt x="82550" y="-2350"/>
                      <a:pt x="115570" y="6540"/>
                      <a:pt x="130810" y="21780"/>
                    </a:cubicBezTo>
                    <a:cubicBezTo>
                      <a:pt x="146050" y="35750"/>
                      <a:pt x="156210" y="68770"/>
                      <a:pt x="152400" y="90360"/>
                    </a:cubicBezTo>
                    <a:cubicBezTo>
                      <a:pt x="149860" y="110680"/>
                      <a:pt x="128270" y="137350"/>
                      <a:pt x="109220" y="146240"/>
                    </a:cubicBezTo>
                    <a:cubicBezTo>
                      <a:pt x="88900" y="155130"/>
                      <a:pt x="54610" y="153860"/>
                      <a:pt x="36830" y="142430"/>
                    </a:cubicBezTo>
                    <a:cubicBezTo>
                      <a:pt x="19050" y="131000"/>
                      <a:pt x="1270" y="101790"/>
                      <a:pt x="0" y="80200"/>
                    </a:cubicBezTo>
                    <a:cubicBezTo>
                      <a:pt x="0" y="58610"/>
                      <a:pt x="16510" y="28130"/>
                      <a:pt x="30480" y="15430"/>
                    </a:cubicBezTo>
                    <a:cubicBezTo>
                      <a:pt x="43180" y="4000"/>
                      <a:pt x="60960" y="-1080"/>
                      <a:pt x="77470" y="190"/>
                    </a:cubicBezTo>
                    <a:cubicBezTo>
                      <a:pt x="97790" y="1460"/>
                      <a:pt x="127000" y="16700"/>
                      <a:pt x="140970" y="34480"/>
                    </a:cubicBezTo>
                    <a:cubicBezTo>
                      <a:pt x="154940" y="50990"/>
                      <a:pt x="163830" y="80200"/>
                      <a:pt x="161290" y="100520"/>
                    </a:cubicBezTo>
                    <a:cubicBezTo>
                      <a:pt x="160020" y="117030"/>
                      <a:pt x="149860" y="137350"/>
                      <a:pt x="135890" y="147510"/>
                    </a:cubicBezTo>
                    <a:cubicBezTo>
                      <a:pt x="119380" y="160210"/>
                      <a:pt x="86360" y="167830"/>
                      <a:pt x="66040" y="164020"/>
                    </a:cubicBezTo>
                    <a:cubicBezTo>
                      <a:pt x="49530" y="160210"/>
                      <a:pt x="21590" y="132270"/>
                      <a:pt x="21590" y="132270"/>
                    </a:cubicBezTo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 dirty="0"/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>
              <a:off x="14013441" y="7019510"/>
              <a:ext cx="251460" cy="246380"/>
              <a:chOff x="0" y="0"/>
              <a:chExt cx="251460" cy="246380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50800" y="50749"/>
                <a:ext cx="148590" cy="147474"/>
              </a:xfrm>
              <a:custGeom>
                <a:avLst/>
                <a:gdLst/>
                <a:ahLst/>
                <a:cxnLst/>
                <a:rect l="l" t="t" r="r" b="b"/>
                <a:pathLst>
                  <a:path w="148590" h="147474">
                    <a:moveTo>
                      <a:pt x="148590" y="52121"/>
                    </a:moveTo>
                    <a:cubicBezTo>
                      <a:pt x="129540" y="133401"/>
                      <a:pt x="120650" y="141021"/>
                      <a:pt x="107950" y="144831"/>
                    </a:cubicBezTo>
                    <a:cubicBezTo>
                      <a:pt x="90170" y="149911"/>
                      <a:pt x="53340" y="147371"/>
                      <a:pt x="36830" y="139751"/>
                    </a:cubicBezTo>
                    <a:cubicBezTo>
                      <a:pt x="24130" y="134671"/>
                      <a:pt x="16510" y="124511"/>
                      <a:pt x="11430" y="114351"/>
                    </a:cubicBezTo>
                    <a:cubicBezTo>
                      <a:pt x="5080" y="104191"/>
                      <a:pt x="0" y="92761"/>
                      <a:pt x="0" y="80061"/>
                    </a:cubicBezTo>
                    <a:cubicBezTo>
                      <a:pt x="1270" y="61011"/>
                      <a:pt x="16510" y="27991"/>
                      <a:pt x="29210" y="15291"/>
                    </a:cubicBezTo>
                    <a:cubicBezTo>
                      <a:pt x="38100" y="5131"/>
                      <a:pt x="49530" y="1321"/>
                      <a:pt x="62230" y="51"/>
                    </a:cubicBezTo>
                    <a:cubicBezTo>
                      <a:pt x="81280" y="-1219"/>
                      <a:pt x="129540" y="21641"/>
                      <a:pt x="129540" y="21641"/>
                    </a:cubicBezTo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 dirty="0"/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13938511" y="7003000"/>
              <a:ext cx="408940" cy="499110"/>
              <a:chOff x="0" y="0"/>
              <a:chExt cx="408940" cy="499110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50476" y="50567"/>
                <a:ext cx="308546" cy="399101"/>
              </a:xfrm>
              <a:custGeom>
                <a:avLst/>
                <a:gdLst/>
                <a:ahLst/>
                <a:cxnLst/>
                <a:rect l="l" t="t" r="r" b="b"/>
                <a:pathLst>
                  <a:path w="308546" h="399101">
                    <a:moveTo>
                      <a:pt x="227654" y="203433"/>
                    </a:moveTo>
                    <a:cubicBezTo>
                      <a:pt x="174314" y="235183"/>
                      <a:pt x="176854" y="296143"/>
                      <a:pt x="167964" y="296143"/>
                    </a:cubicBezTo>
                    <a:cubicBezTo>
                      <a:pt x="157804" y="297413"/>
                      <a:pt x="128594" y="212323"/>
                      <a:pt x="127324" y="212323"/>
                    </a:cubicBezTo>
                    <a:cubicBezTo>
                      <a:pt x="127324" y="212323"/>
                      <a:pt x="145104" y="294873"/>
                      <a:pt x="167964" y="306303"/>
                    </a:cubicBezTo>
                    <a:cubicBezTo>
                      <a:pt x="192094" y="316463"/>
                      <a:pt x="264484" y="292333"/>
                      <a:pt x="269564" y="274553"/>
                    </a:cubicBezTo>
                    <a:cubicBezTo>
                      <a:pt x="274644" y="259313"/>
                      <a:pt x="220034" y="211053"/>
                      <a:pt x="221304" y="211053"/>
                    </a:cubicBezTo>
                    <a:cubicBezTo>
                      <a:pt x="221304" y="209783"/>
                      <a:pt x="269564" y="250423"/>
                      <a:pt x="274644" y="275823"/>
                    </a:cubicBezTo>
                    <a:cubicBezTo>
                      <a:pt x="279724" y="306303"/>
                      <a:pt x="258134" y="360913"/>
                      <a:pt x="235274" y="381233"/>
                    </a:cubicBezTo>
                    <a:cubicBezTo>
                      <a:pt x="216224" y="397743"/>
                      <a:pt x="180664" y="401553"/>
                      <a:pt x="153994" y="397743"/>
                    </a:cubicBezTo>
                    <a:cubicBezTo>
                      <a:pt x="123514" y="392663"/>
                      <a:pt x="84144" y="367263"/>
                      <a:pt x="62554" y="345673"/>
                    </a:cubicBezTo>
                    <a:cubicBezTo>
                      <a:pt x="44774" y="326623"/>
                      <a:pt x="30804" y="303763"/>
                      <a:pt x="25724" y="278363"/>
                    </a:cubicBezTo>
                    <a:cubicBezTo>
                      <a:pt x="20644" y="249153"/>
                      <a:pt x="25724" y="208513"/>
                      <a:pt x="38424" y="179303"/>
                    </a:cubicBezTo>
                    <a:cubicBezTo>
                      <a:pt x="51124" y="151363"/>
                      <a:pt x="104464" y="122153"/>
                      <a:pt x="101924" y="106913"/>
                    </a:cubicBezTo>
                    <a:cubicBezTo>
                      <a:pt x="100654" y="99293"/>
                      <a:pt x="77794" y="100563"/>
                      <a:pt x="73984" y="91673"/>
                    </a:cubicBezTo>
                    <a:cubicBezTo>
                      <a:pt x="68904" y="81513"/>
                      <a:pt x="77794" y="62463"/>
                      <a:pt x="84144" y="49763"/>
                    </a:cubicBezTo>
                    <a:cubicBezTo>
                      <a:pt x="90494" y="37063"/>
                      <a:pt x="101924" y="24363"/>
                      <a:pt x="113354" y="16743"/>
                    </a:cubicBezTo>
                    <a:cubicBezTo>
                      <a:pt x="124784" y="9123"/>
                      <a:pt x="138754" y="1503"/>
                      <a:pt x="153994" y="1503"/>
                    </a:cubicBezTo>
                    <a:cubicBezTo>
                      <a:pt x="173044" y="233"/>
                      <a:pt x="199714" y="5313"/>
                      <a:pt x="217494" y="16743"/>
                    </a:cubicBezTo>
                    <a:cubicBezTo>
                      <a:pt x="234004" y="28173"/>
                      <a:pt x="247974" y="52303"/>
                      <a:pt x="253054" y="70083"/>
                    </a:cubicBezTo>
                    <a:cubicBezTo>
                      <a:pt x="258134" y="84053"/>
                      <a:pt x="259404" y="99293"/>
                      <a:pt x="253054" y="113263"/>
                    </a:cubicBezTo>
                    <a:cubicBezTo>
                      <a:pt x="245434" y="134853"/>
                      <a:pt x="220034" y="169143"/>
                      <a:pt x="195904" y="178033"/>
                    </a:cubicBezTo>
                    <a:cubicBezTo>
                      <a:pt x="173044" y="185653"/>
                      <a:pt x="132404" y="180573"/>
                      <a:pt x="112084" y="166603"/>
                    </a:cubicBezTo>
                    <a:cubicBezTo>
                      <a:pt x="91764" y="151363"/>
                      <a:pt x="72714" y="114533"/>
                      <a:pt x="73984" y="89133"/>
                    </a:cubicBezTo>
                    <a:cubicBezTo>
                      <a:pt x="73984" y="63733"/>
                      <a:pt x="96844" y="29443"/>
                      <a:pt x="115894" y="14203"/>
                    </a:cubicBezTo>
                    <a:cubicBezTo>
                      <a:pt x="131134" y="2773"/>
                      <a:pt x="153994" y="-1037"/>
                      <a:pt x="171774" y="233"/>
                    </a:cubicBezTo>
                    <a:cubicBezTo>
                      <a:pt x="190824" y="2773"/>
                      <a:pt x="212414" y="11663"/>
                      <a:pt x="226384" y="24363"/>
                    </a:cubicBezTo>
                    <a:cubicBezTo>
                      <a:pt x="239084" y="35793"/>
                      <a:pt x="251784" y="56113"/>
                      <a:pt x="254324" y="75163"/>
                    </a:cubicBezTo>
                    <a:cubicBezTo>
                      <a:pt x="258134" y="92943"/>
                      <a:pt x="256864" y="115803"/>
                      <a:pt x="246704" y="132313"/>
                    </a:cubicBezTo>
                    <a:cubicBezTo>
                      <a:pt x="234004" y="152633"/>
                      <a:pt x="202254" y="179303"/>
                      <a:pt x="176854" y="181843"/>
                    </a:cubicBezTo>
                    <a:cubicBezTo>
                      <a:pt x="152724" y="185653"/>
                      <a:pt x="113354" y="171683"/>
                      <a:pt x="96844" y="152633"/>
                    </a:cubicBezTo>
                    <a:cubicBezTo>
                      <a:pt x="80334" y="133583"/>
                      <a:pt x="73984" y="91673"/>
                      <a:pt x="76524" y="70083"/>
                    </a:cubicBezTo>
                    <a:cubicBezTo>
                      <a:pt x="77794" y="53573"/>
                      <a:pt x="86684" y="42143"/>
                      <a:pt x="96844" y="30713"/>
                    </a:cubicBezTo>
                    <a:cubicBezTo>
                      <a:pt x="105734" y="20553"/>
                      <a:pt x="119704" y="11663"/>
                      <a:pt x="132404" y="6583"/>
                    </a:cubicBezTo>
                    <a:cubicBezTo>
                      <a:pt x="146374" y="1503"/>
                      <a:pt x="161614" y="-1037"/>
                      <a:pt x="175584" y="1503"/>
                    </a:cubicBezTo>
                    <a:cubicBezTo>
                      <a:pt x="189554" y="2773"/>
                      <a:pt x="204794" y="9123"/>
                      <a:pt x="217494" y="16743"/>
                    </a:cubicBezTo>
                    <a:cubicBezTo>
                      <a:pt x="228924" y="24363"/>
                      <a:pt x="239084" y="37063"/>
                      <a:pt x="245434" y="49763"/>
                    </a:cubicBezTo>
                    <a:cubicBezTo>
                      <a:pt x="253054" y="62463"/>
                      <a:pt x="256864" y="72623"/>
                      <a:pt x="256864" y="91673"/>
                    </a:cubicBezTo>
                    <a:cubicBezTo>
                      <a:pt x="256864" y="128503"/>
                      <a:pt x="244164" y="233913"/>
                      <a:pt x="216224" y="251693"/>
                    </a:cubicBezTo>
                    <a:cubicBezTo>
                      <a:pt x="195904" y="264393"/>
                      <a:pt x="152724" y="225023"/>
                      <a:pt x="133674" y="235183"/>
                    </a:cubicBezTo>
                    <a:cubicBezTo>
                      <a:pt x="113354" y="245343"/>
                      <a:pt x="95574" y="287253"/>
                      <a:pt x="98114" y="310113"/>
                    </a:cubicBezTo>
                    <a:cubicBezTo>
                      <a:pt x="101924" y="331703"/>
                      <a:pt x="151454" y="368533"/>
                      <a:pt x="151454" y="368533"/>
                    </a:cubicBezTo>
                    <a:cubicBezTo>
                      <a:pt x="150184" y="368533"/>
                      <a:pt x="100654" y="330433"/>
                      <a:pt x="91764" y="305033"/>
                    </a:cubicBezTo>
                    <a:cubicBezTo>
                      <a:pt x="82874" y="278363"/>
                      <a:pt x="89224" y="240263"/>
                      <a:pt x="99384" y="213593"/>
                    </a:cubicBezTo>
                    <a:cubicBezTo>
                      <a:pt x="109544" y="190733"/>
                      <a:pt x="126054" y="165333"/>
                      <a:pt x="148914" y="153903"/>
                    </a:cubicBezTo>
                    <a:cubicBezTo>
                      <a:pt x="174314" y="141203"/>
                      <a:pt x="221304" y="134853"/>
                      <a:pt x="246704" y="147553"/>
                    </a:cubicBezTo>
                    <a:cubicBezTo>
                      <a:pt x="274644" y="160253"/>
                      <a:pt x="301314" y="207243"/>
                      <a:pt x="306394" y="236453"/>
                    </a:cubicBezTo>
                    <a:cubicBezTo>
                      <a:pt x="310204" y="263123"/>
                      <a:pt x="301314" y="294873"/>
                      <a:pt x="284804" y="316463"/>
                    </a:cubicBezTo>
                    <a:cubicBezTo>
                      <a:pt x="267024" y="340593"/>
                      <a:pt x="227654" y="358373"/>
                      <a:pt x="197174" y="368533"/>
                    </a:cubicBezTo>
                    <a:cubicBezTo>
                      <a:pt x="167964" y="378693"/>
                      <a:pt x="133674" y="382503"/>
                      <a:pt x="104464" y="378693"/>
                    </a:cubicBezTo>
                    <a:cubicBezTo>
                      <a:pt x="77794" y="373613"/>
                      <a:pt x="46044" y="364723"/>
                      <a:pt x="28264" y="345673"/>
                    </a:cubicBezTo>
                    <a:cubicBezTo>
                      <a:pt x="10484" y="326623"/>
                      <a:pt x="-2216" y="287253"/>
                      <a:pt x="324" y="261853"/>
                    </a:cubicBezTo>
                    <a:cubicBezTo>
                      <a:pt x="2864" y="236453"/>
                      <a:pt x="21914" y="212323"/>
                      <a:pt x="39694" y="193273"/>
                    </a:cubicBezTo>
                    <a:cubicBezTo>
                      <a:pt x="57474" y="172953"/>
                      <a:pt x="81604" y="152633"/>
                      <a:pt x="108274" y="143743"/>
                    </a:cubicBezTo>
                    <a:cubicBezTo>
                      <a:pt x="136214" y="133583"/>
                      <a:pt x="173044" y="133583"/>
                      <a:pt x="202254" y="137393"/>
                    </a:cubicBezTo>
                    <a:cubicBezTo>
                      <a:pt x="228924" y="142473"/>
                      <a:pt x="258134" y="148823"/>
                      <a:pt x="275914" y="167873"/>
                    </a:cubicBezTo>
                    <a:cubicBezTo>
                      <a:pt x="294964" y="190733"/>
                      <a:pt x="315284" y="241533"/>
                      <a:pt x="306394" y="269473"/>
                    </a:cubicBezTo>
                    <a:cubicBezTo>
                      <a:pt x="296234" y="297413"/>
                      <a:pt x="246704" y="326623"/>
                      <a:pt x="217494" y="334243"/>
                    </a:cubicBezTo>
                    <a:cubicBezTo>
                      <a:pt x="190824" y="340593"/>
                      <a:pt x="162884" y="331703"/>
                      <a:pt x="138754" y="322813"/>
                    </a:cubicBezTo>
                    <a:cubicBezTo>
                      <a:pt x="115894" y="312653"/>
                      <a:pt x="93034" y="297413"/>
                      <a:pt x="73984" y="279633"/>
                    </a:cubicBezTo>
                    <a:cubicBezTo>
                      <a:pt x="54934" y="260583"/>
                      <a:pt x="30804" y="236453"/>
                      <a:pt x="28264" y="209783"/>
                    </a:cubicBezTo>
                    <a:cubicBezTo>
                      <a:pt x="23184" y="180573"/>
                      <a:pt x="38424" y="132313"/>
                      <a:pt x="62554" y="106913"/>
                    </a:cubicBezTo>
                    <a:cubicBezTo>
                      <a:pt x="89224" y="77703"/>
                      <a:pt x="156534" y="57383"/>
                      <a:pt x="190824" y="54843"/>
                    </a:cubicBezTo>
                    <a:cubicBezTo>
                      <a:pt x="212414" y="53573"/>
                      <a:pt x="230194" y="57383"/>
                      <a:pt x="244164" y="67543"/>
                    </a:cubicBezTo>
                    <a:cubicBezTo>
                      <a:pt x="260674" y="80243"/>
                      <a:pt x="277184" y="110723"/>
                      <a:pt x="278454" y="131043"/>
                    </a:cubicBezTo>
                    <a:cubicBezTo>
                      <a:pt x="278454" y="148823"/>
                      <a:pt x="268294" y="170413"/>
                      <a:pt x="258134" y="183113"/>
                    </a:cubicBezTo>
                    <a:cubicBezTo>
                      <a:pt x="250514" y="193273"/>
                      <a:pt x="227654" y="203433"/>
                      <a:pt x="227654" y="203433"/>
                    </a:cubicBezTo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 dirty="0"/>
              </a:p>
            </p:txBody>
          </p:sp>
        </p:grpSp>
        <p:sp>
          <p:nvSpPr>
            <p:cNvPr id="36" name="TextBox 36"/>
            <p:cNvSpPr txBox="1"/>
            <p:nvPr/>
          </p:nvSpPr>
          <p:spPr>
            <a:xfrm>
              <a:off x="2040900" y="9525"/>
              <a:ext cx="16379181" cy="10191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080"/>
                </a:lnSpc>
              </a:pPr>
              <a:r>
                <a:rPr lang="en-US" sz="5067" b="1" dirty="0">
                  <a:solidFill>
                    <a:srgbClr val="10101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LRU Operation Flow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360537" y="9561497"/>
              <a:ext cx="804575" cy="2047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260"/>
                </a:lnSpc>
                <a:spcBef>
                  <a:spcPct val="0"/>
                </a:spcBef>
              </a:pPr>
              <a:endParaRPr lang="en-US" sz="900" b="1" dirty="0">
                <a:solidFill>
                  <a:srgbClr val="4F4F4F"/>
                </a:solidFill>
                <a:latin typeface="Montserrat Bold"/>
                <a:ea typeface="Montserrat Bold"/>
                <a:cs typeface="Montserrat Bold"/>
                <a:sym typeface="Montserrat Bold"/>
              </a:endParaRP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7973200" y="9589355"/>
              <a:ext cx="893763" cy="2047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260"/>
                </a:lnSpc>
                <a:spcBef>
                  <a:spcPct val="0"/>
                </a:spcBef>
              </a:pPr>
              <a:endParaRPr lang="en-US" sz="900" b="1" dirty="0">
                <a:solidFill>
                  <a:srgbClr val="4F4F4F"/>
                </a:solidFill>
                <a:latin typeface="Montserrat Bold"/>
                <a:ea typeface="Montserrat Bold"/>
                <a:cs typeface="Montserrat Bold"/>
                <a:sym typeface="Montserrat Bold"/>
              </a:endParaRPr>
            </a:p>
          </p:txBody>
        </p:sp>
        <p:grpSp>
          <p:nvGrpSpPr>
            <p:cNvPr id="63" name="Group 63"/>
            <p:cNvGrpSpPr/>
            <p:nvPr/>
          </p:nvGrpSpPr>
          <p:grpSpPr>
            <a:xfrm>
              <a:off x="21083531" y="10303730"/>
              <a:ext cx="251460" cy="246380"/>
              <a:chOff x="0" y="0"/>
              <a:chExt cx="251460" cy="246380"/>
            </a:xfrm>
          </p:grpSpPr>
          <p:sp>
            <p:nvSpPr>
              <p:cNvPr id="64" name="Freeform 64"/>
              <p:cNvSpPr/>
              <p:nvPr/>
            </p:nvSpPr>
            <p:spPr>
              <a:xfrm>
                <a:off x="50800" y="50749"/>
                <a:ext cx="148590" cy="147474"/>
              </a:xfrm>
              <a:custGeom>
                <a:avLst/>
                <a:gdLst/>
                <a:ahLst/>
                <a:cxnLst/>
                <a:rect l="l" t="t" r="r" b="b"/>
                <a:pathLst>
                  <a:path w="148590" h="147474">
                    <a:moveTo>
                      <a:pt x="148590" y="52121"/>
                    </a:moveTo>
                    <a:cubicBezTo>
                      <a:pt x="129540" y="133401"/>
                      <a:pt x="120650" y="141021"/>
                      <a:pt x="107950" y="144831"/>
                    </a:cubicBezTo>
                    <a:cubicBezTo>
                      <a:pt x="90170" y="149911"/>
                      <a:pt x="53340" y="147371"/>
                      <a:pt x="36830" y="139751"/>
                    </a:cubicBezTo>
                    <a:cubicBezTo>
                      <a:pt x="25400" y="134671"/>
                      <a:pt x="17780" y="124511"/>
                      <a:pt x="11430" y="114351"/>
                    </a:cubicBezTo>
                    <a:cubicBezTo>
                      <a:pt x="5080" y="104191"/>
                      <a:pt x="0" y="92761"/>
                      <a:pt x="0" y="80061"/>
                    </a:cubicBezTo>
                    <a:cubicBezTo>
                      <a:pt x="1270" y="61011"/>
                      <a:pt x="16510" y="27991"/>
                      <a:pt x="29210" y="15291"/>
                    </a:cubicBezTo>
                    <a:cubicBezTo>
                      <a:pt x="39370" y="5131"/>
                      <a:pt x="49530" y="1321"/>
                      <a:pt x="62230" y="51"/>
                    </a:cubicBezTo>
                    <a:cubicBezTo>
                      <a:pt x="81280" y="-1219"/>
                      <a:pt x="130810" y="21641"/>
                      <a:pt x="130810" y="21641"/>
                    </a:cubicBezTo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 dirty="0"/>
              </a:p>
            </p:txBody>
          </p:sp>
        </p:grpSp>
        <p:sp>
          <p:nvSpPr>
            <p:cNvPr id="65" name="TextBox 65"/>
            <p:cNvSpPr txBox="1"/>
            <p:nvPr/>
          </p:nvSpPr>
          <p:spPr>
            <a:xfrm>
              <a:off x="18859760" y="11108770"/>
              <a:ext cx="744467" cy="20475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260"/>
                </a:lnSpc>
                <a:spcBef>
                  <a:spcPct val="0"/>
                </a:spcBef>
              </a:pPr>
              <a:endParaRPr lang="en-US" sz="900" b="1" dirty="0">
                <a:solidFill>
                  <a:srgbClr val="4F4F4F"/>
                </a:solidFill>
                <a:latin typeface="Montserrat Bold"/>
                <a:ea typeface="Montserrat Bold"/>
                <a:cs typeface="Montserrat Bold"/>
                <a:sym typeface="Montserrat Bold"/>
              </a:endParaRPr>
            </a:p>
          </p:txBody>
        </p:sp>
      </p:grpSp>
      <p:pic>
        <p:nvPicPr>
          <p:cNvPr id="78" name="Picture 77">
            <a:extLst>
              <a:ext uri="{FF2B5EF4-FFF2-40B4-BE49-F238E27FC236}">
                <a16:creationId xmlns:a16="http://schemas.microsoft.com/office/drawing/2014/main" id="{68B38965-189E-78E8-43E5-47C2EFFE377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8857" y="6772771"/>
            <a:ext cx="8551788" cy="312532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13045A7F-A5D3-36E9-E4CF-69F2EC3B4E86}"/>
                  </a:ext>
                </a:extLst>
              </p14:cNvPr>
              <p14:cNvContentPartPr/>
              <p14:nvPr/>
            </p14:nvContentPartPr>
            <p14:xfrm>
              <a:off x="10228720" y="6049300"/>
              <a:ext cx="271440" cy="96480"/>
            </p14:xfrm>
          </p:contentPart>
        </mc:Choice>
        <mc:Fallback xmlns=""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13045A7F-A5D3-36E9-E4CF-69F2EC3B4E8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0165720" y="5986660"/>
                <a:ext cx="397080" cy="22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202E4F5A-1ADE-4750-309A-C19617B58567}"/>
                  </a:ext>
                </a:extLst>
              </p14:cNvPr>
              <p14:cNvContentPartPr/>
              <p14:nvPr/>
            </p14:nvContentPartPr>
            <p14:xfrm>
              <a:off x="10433476" y="6002285"/>
              <a:ext cx="389160" cy="184680"/>
            </p14:xfrm>
          </p:contentPart>
        </mc:Choice>
        <mc:Fallback xmlns=""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202E4F5A-1ADE-4750-309A-C19617B58567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0370476" y="5939408"/>
                <a:ext cx="514800" cy="31007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834A463B-A738-6F5E-F1E4-0E40B77D1640}"/>
                  </a:ext>
                </a:extLst>
              </p14:cNvPr>
              <p14:cNvContentPartPr/>
              <p14:nvPr/>
            </p14:nvContentPartPr>
            <p14:xfrm>
              <a:off x="10906600" y="6138940"/>
              <a:ext cx="360" cy="360"/>
            </p14:xfrm>
          </p:contentPart>
        </mc:Choice>
        <mc:Fallback xmlns=""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834A463B-A738-6F5E-F1E4-0E40B77D1640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0843600" y="6076300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93" name="Ink 92">
                <a:extLst>
                  <a:ext uri="{FF2B5EF4-FFF2-40B4-BE49-F238E27FC236}">
                    <a16:creationId xmlns:a16="http://schemas.microsoft.com/office/drawing/2014/main" id="{A9F58752-DD75-50F7-C080-2B71CC8D1B2A}"/>
                  </a:ext>
                </a:extLst>
              </p14:cNvPr>
              <p14:cNvContentPartPr/>
              <p14:nvPr/>
            </p14:nvContentPartPr>
            <p14:xfrm>
              <a:off x="-6025745" y="3000840"/>
              <a:ext cx="360" cy="360"/>
            </p14:xfrm>
          </p:contentPart>
        </mc:Choice>
        <mc:Fallback xmlns="">
          <p:pic>
            <p:nvPicPr>
              <p:cNvPr id="93" name="Ink 92">
                <a:extLst>
                  <a:ext uri="{FF2B5EF4-FFF2-40B4-BE49-F238E27FC236}">
                    <a16:creationId xmlns:a16="http://schemas.microsoft.com/office/drawing/2014/main" id="{A9F58752-DD75-50F7-C080-2B71CC8D1B2A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-6088385" y="2938200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F6E78A2A-A41B-66AB-209E-9EAB9E1EC1B2}"/>
                  </a:ext>
                </a:extLst>
              </p14:cNvPr>
              <p14:cNvContentPartPr/>
              <p14:nvPr/>
            </p14:nvContentPartPr>
            <p14:xfrm rot="17598703">
              <a:off x="10119195" y="6038884"/>
              <a:ext cx="71090" cy="82032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F6E78A2A-A41B-66AB-209E-9EAB9E1EC1B2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 rot="17598703">
                <a:off x="10056044" y="5975364"/>
                <a:ext cx="197031" cy="20871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36A2BDB4-310F-48EE-1E5D-CEC0E0559AD5}"/>
                  </a:ext>
                </a:extLst>
              </p14:cNvPr>
              <p14:cNvContentPartPr/>
              <p14:nvPr/>
            </p14:nvContentPartPr>
            <p14:xfrm>
              <a:off x="11851600" y="5647000"/>
              <a:ext cx="93960" cy="13032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36A2BDB4-310F-48EE-1E5D-CEC0E0559AD5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1788600" y="5584000"/>
                <a:ext cx="219600" cy="255960"/>
              </a:xfrm>
              <a:prstGeom prst="rect">
                <a:avLst/>
              </a:prstGeom>
            </p:spPr>
          </p:pic>
        </mc:Fallback>
      </mc:AlternateContent>
      <p:grpSp>
        <p:nvGrpSpPr>
          <p:cNvPr id="30" name="Group 29">
            <a:extLst>
              <a:ext uri="{FF2B5EF4-FFF2-40B4-BE49-F238E27FC236}">
                <a16:creationId xmlns:a16="http://schemas.microsoft.com/office/drawing/2014/main" id="{BF7DC689-3BA4-AD5B-3C67-180DD7FF651A}"/>
              </a:ext>
            </a:extLst>
          </p:cNvPr>
          <p:cNvGrpSpPr/>
          <p:nvPr/>
        </p:nvGrpSpPr>
        <p:grpSpPr>
          <a:xfrm>
            <a:off x="10810120" y="6085120"/>
            <a:ext cx="52200" cy="125280"/>
            <a:chOff x="10810120" y="6085120"/>
            <a:chExt cx="52200" cy="125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31C6D6E9-8E48-FB2D-37B5-9A2AB513193C}"/>
                    </a:ext>
                  </a:extLst>
                </p14:cNvPr>
                <p14:cNvContentPartPr/>
                <p14:nvPr/>
              </p14:nvContentPartPr>
              <p14:xfrm>
                <a:off x="10810120" y="6085480"/>
                <a:ext cx="14400" cy="9108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31C6D6E9-8E48-FB2D-37B5-9A2AB513193C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0747120" y="6022480"/>
                  <a:ext cx="14004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EE7542AD-E83D-1F35-81AD-7B61F35F1CA0}"/>
                    </a:ext>
                  </a:extLst>
                </p14:cNvPr>
                <p14:cNvContentPartPr/>
                <p14:nvPr/>
              </p14:nvContentPartPr>
              <p14:xfrm>
                <a:off x="10814800" y="6090880"/>
                <a:ext cx="16560" cy="680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EE7542AD-E83D-1F35-81AD-7B61F35F1CA0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0751800" y="6027880"/>
                  <a:ext cx="14220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C57885D7-FBCE-BB98-3F38-68C1ACBEE47E}"/>
                    </a:ext>
                  </a:extLst>
                </p14:cNvPr>
                <p14:cNvContentPartPr/>
                <p14:nvPr/>
              </p14:nvContentPartPr>
              <p14:xfrm>
                <a:off x="10850080" y="6085120"/>
                <a:ext cx="12240" cy="12528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C57885D7-FBCE-BB98-3F38-68C1ACBEE47E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0787080" y="6022480"/>
                  <a:ext cx="137880" cy="25092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469602" y="1936794"/>
            <a:ext cx="5850025" cy="808260"/>
            <a:chOff x="0" y="0"/>
            <a:chExt cx="2138318" cy="29543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38318" cy="295437"/>
            </a:xfrm>
            <a:custGeom>
              <a:avLst/>
              <a:gdLst/>
              <a:ahLst/>
              <a:cxnLst/>
              <a:rect l="l" t="t" r="r" b="b"/>
              <a:pathLst>
                <a:path w="2138318" h="295437">
                  <a:moveTo>
                    <a:pt x="60876" y="0"/>
                  </a:moveTo>
                  <a:lnTo>
                    <a:pt x="2077441" y="0"/>
                  </a:lnTo>
                  <a:cubicBezTo>
                    <a:pt x="2093587" y="0"/>
                    <a:pt x="2109071" y="6414"/>
                    <a:pt x="2120487" y="17830"/>
                  </a:cubicBezTo>
                  <a:cubicBezTo>
                    <a:pt x="2131904" y="29247"/>
                    <a:pt x="2138318" y="44731"/>
                    <a:pt x="2138318" y="60876"/>
                  </a:cubicBezTo>
                  <a:lnTo>
                    <a:pt x="2138318" y="234561"/>
                  </a:lnTo>
                  <a:cubicBezTo>
                    <a:pt x="2138318" y="268182"/>
                    <a:pt x="2111062" y="295437"/>
                    <a:pt x="2077441" y="295437"/>
                  </a:cubicBezTo>
                  <a:lnTo>
                    <a:pt x="60876" y="295437"/>
                  </a:lnTo>
                  <a:cubicBezTo>
                    <a:pt x="44731" y="295437"/>
                    <a:pt x="29247" y="289024"/>
                    <a:pt x="17830" y="277607"/>
                  </a:cubicBezTo>
                  <a:cubicBezTo>
                    <a:pt x="6414" y="266191"/>
                    <a:pt x="0" y="250706"/>
                    <a:pt x="0" y="234561"/>
                  </a:cubicBezTo>
                  <a:lnTo>
                    <a:pt x="0" y="60876"/>
                  </a:lnTo>
                  <a:cubicBezTo>
                    <a:pt x="0" y="44731"/>
                    <a:pt x="6414" y="29247"/>
                    <a:pt x="17830" y="17830"/>
                  </a:cubicBezTo>
                  <a:cubicBezTo>
                    <a:pt x="29247" y="6414"/>
                    <a:pt x="44731" y="0"/>
                    <a:pt x="60876" y="0"/>
                  </a:cubicBezTo>
                  <a:close/>
                </a:path>
              </a:pathLst>
            </a:custGeom>
            <a:solidFill>
              <a:srgbClr val="F4F6FC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2138318" cy="36211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899"/>
                </a:lnSpc>
              </a:pPr>
              <a:r>
                <a:rPr lang="en-US" sz="3499" b="1" dirty="0">
                  <a:solidFill>
                    <a:srgbClr val="120052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Time To Live (TTL)</a:t>
              </a:r>
            </a:p>
          </p:txBody>
        </p:sp>
      </p:grpSp>
      <p:sp>
        <p:nvSpPr>
          <p:cNvPr id="5" name="Freeform 5"/>
          <p:cNvSpPr/>
          <p:nvPr/>
        </p:nvSpPr>
        <p:spPr>
          <a:xfrm>
            <a:off x="1590612" y="6919270"/>
            <a:ext cx="15088128" cy="2228719"/>
          </a:xfrm>
          <a:custGeom>
            <a:avLst/>
            <a:gdLst/>
            <a:ahLst/>
            <a:cxnLst/>
            <a:rect l="l" t="t" r="r" b="b"/>
            <a:pathLst>
              <a:path w="15088128" h="2228719">
                <a:moveTo>
                  <a:pt x="0" y="0"/>
                </a:moveTo>
                <a:lnTo>
                  <a:pt x="15088129" y="0"/>
                </a:lnTo>
                <a:lnTo>
                  <a:pt x="15088129" y="2228719"/>
                </a:lnTo>
                <a:lnTo>
                  <a:pt x="0" y="22287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461" t="-181100" r="-3781" b="-141372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6" name="Freeform 6"/>
          <p:cNvSpPr/>
          <p:nvPr/>
        </p:nvSpPr>
        <p:spPr>
          <a:xfrm>
            <a:off x="10595330" y="4868304"/>
            <a:ext cx="6083410" cy="1719182"/>
          </a:xfrm>
          <a:custGeom>
            <a:avLst/>
            <a:gdLst/>
            <a:ahLst/>
            <a:cxnLst/>
            <a:rect l="l" t="t" r="r" b="b"/>
            <a:pathLst>
              <a:path w="6083410" h="1719182">
                <a:moveTo>
                  <a:pt x="0" y="0"/>
                </a:moveTo>
                <a:lnTo>
                  <a:pt x="6083411" y="0"/>
                </a:lnTo>
                <a:lnTo>
                  <a:pt x="6083411" y="1719182"/>
                </a:lnTo>
                <a:lnTo>
                  <a:pt x="0" y="17191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409" t="-67450" r="-2642" b="-80215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7" name="TextBox 7"/>
          <p:cNvSpPr txBox="1"/>
          <p:nvPr/>
        </p:nvSpPr>
        <p:spPr>
          <a:xfrm>
            <a:off x="1269991" y="690563"/>
            <a:ext cx="16249247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80"/>
              </a:lnSpc>
            </a:pPr>
            <a:r>
              <a:rPr lang="en-US" sz="4567" b="1" dirty="0">
                <a:solidFill>
                  <a:srgbClr val="10101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Efficient Memory Management: TTL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69991" y="3267385"/>
            <a:ext cx="7864686" cy="3328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940"/>
              </a:lnSpc>
            </a:pPr>
            <a:r>
              <a:rPr lang="en-US" sz="2100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The Bottleneck:</a:t>
            </a:r>
            <a:r>
              <a:rPr lang="en-US" sz="21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Keys in memory without an expiration can accumulate, wasting memory and reducing efficiency over time.</a:t>
            </a:r>
          </a:p>
          <a:p>
            <a:pPr algn="just">
              <a:lnSpc>
                <a:spcPts val="2940"/>
              </a:lnSpc>
            </a:pPr>
            <a:endParaRPr lang="en-US" sz="210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just">
              <a:lnSpc>
                <a:spcPts val="2940"/>
              </a:lnSpc>
            </a:pPr>
            <a:r>
              <a:rPr lang="en-US" sz="2100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The Solution: </a:t>
            </a:r>
            <a:r>
              <a:rPr lang="en-US" sz="21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TTL (Time-To-Live) allows keys to automatically expire after a specified duration, freeing memory and keeping the cache efficient without manual intervention.</a:t>
            </a:r>
          </a:p>
          <a:p>
            <a:pPr marL="0" lvl="0" indent="0" algn="just">
              <a:lnSpc>
                <a:spcPts val="2940"/>
              </a:lnSpc>
              <a:spcBef>
                <a:spcPct val="0"/>
              </a:spcBef>
            </a:pPr>
            <a:endParaRPr lang="en-US" sz="210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0003196" y="3267385"/>
            <a:ext cx="7864686" cy="1099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940"/>
              </a:lnSpc>
            </a:pPr>
            <a:r>
              <a:rPr lang="en-US" sz="21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Each node contains an optional ‘expiry’ timestamp. </a:t>
            </a:r>
          </a:p>
          <a:p>
            <a:pPr marL="0" lvl="0" indent="0" algn="just">
              <a:lnSpc>
                <a:spcPts val="2940"/>
              </a:lnSpc>
              <a:spcBef>
                <a:spcPct val="0"/>
              </a:spcBef>
            </a:pPr>
            <a:r>
              <a:rPr lang="en-US" sz="21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An ‘_is_expired()’ check is performed on ‘get’, treating expired keys as a cache miss and removing them.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828068" y="1403336"/>
            <a:ext cx="2631863" cy="839955"/>
            <a:chOff x="0" y="0"/>
            <a:chExt cx="962006" cy="30702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62006" cy="307023"/>
            </a:xfrm>
            <a:custGeom>
              <a:avLst/>
              <a:gdLst/>
              <a:ahLst/>
              <a:cxnLst/>
              <a:rect l="l" t="t" r="r" b="b"/>
              <a:pathLst>
                <a:path w="962006" h="307023">
                  <a:moveTo>
                    <a:pt x="135314" y="0"/>
                  </a:moveTo>
                  <a:lnTo>
                    <a:pt x="826692" y="0"/>
                  </a:lnTo>
                  <a:cubicBezTo>
                    <a:pt x="862580" y="0"/>
                    <a:pt x="896997" y="14256"/>
                    <a:pt x="922374" y="39633"/>
                  </a:cubicBezTo>
                  <a:cubicBezTo>
                    <a:pt x="947750" y="65009"/>
                    <a:pt x="962006" y="99427"/>
                    <a:pt x="962006" y="135314"/>
                  </a:cubicBezTo>
                  <a:lnTo>
                    <a:pt x="962006" y="171709"/>
                  </a:lnTo>
                  <a:cubicBezTo>
                    <a:pt x="962006" y="246440"/>
                    <a:pt x="901424" y="307023"/>
                    <a:pt x="826692" y="307023"/>
                  </a:cubicBezTo>
                  <a:lnTo>
                    <a:pt x="135314" y="307023"/>
                  </a:lnTo>
                  <a:cubicBezTo>
                    <a:pt x="60582" y="307023"/>
                    <a:pt x="0" y="246440"/>
                    <a:pt x="0" y="171709"/>
                  </a:cubicBezTo>
                  <a:lnTo>
                    <a:pt x="0" y="135314"/>
                  </a:lnTo>
                  <a:cubicBezTo>
                    <a:pt x="0" y="60582"/>
                    <a:pt x="60582" y="0"/>
                    <a:pt x="135314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962006" cy="37369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899"/>
                </a:lnSpc>
              </a:pPr>
              <a:r>
                <a:rPr lang="en-US" sz="3499" b="1" dirty="0">
                  <a:solidFill>
                    <a:srgbClr val="120052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Sharding</a:t>
              </a:r>
            </a:p>
          </p:txBody>
        </p:sp>
      </p:grpSp>
      <p:sp>
        <p:nvSpPr>
          <p:cNvPr id="5" name="Freeform 5"/>
          <p:cNvSpPr/>
          <p:nvPr/>
        </p:nvSpPr>
        <p:spPr>
          <a:xfrm>
            <a:off x="9510261" y="7866997"/>
            <a:ext cx="7938611" cy="1391303"/>
          </a:xfrm>
          <a:custGeom>
            <a:avLst/>
            <a:gdLst/>
            <a:ahLst/>
            <a:cxnLst/>
            <a:rect l="l" t="t" r="r" b="b"/>
            <a:pathLst>
              <a:path w="7938611" h="1391303">
                <a:moveTo>
                  <a:pt x="0" y="0"/>
                </a:moveTo>
                <a:lnTo>
                  <a:pt x="7938611" y="0"/>
                </a:lnTo>
                <a:lnTo>
                  <a:pt x="7938611" y="1391303"/>
                </a:lnTo>
                <a:lnTo>
                  <a:pt x="0" y="139130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6" name="Freeform 6"/>
          <p:cNvSpPr/>
          <p:nvPr/>
        </p:nvSpPr>
        <p:spPr>
          <a:xfrm>
            <a:off x="9144000" y="2638423"/>
            <a:ext cx="8671133" cy="4833443"/>
          </a:xfrm>
          <a:custGeom>
            <a:avLst/>
            <a:gdLst/>
            <a:ahLst/>
            <a:cxnLst/>
            <a:rect l="l" t="t" r="r" b="b"/>
            <a:pathLst>
              <a:path w="8671133" h="4833443">
                <a:moveTo>
                  <a:pt x="0" y="0"/>
                </a:moveTo>
                <a:lnTo>
                  <a:pt x="8671133" y="0"/>
                </a:lnTo>
                <a:lnTo>
                  <a:pt x="8671133" y="4833442"/>
                </a:lnTo>
                <a:lnTo>
                  <a:pt x="0" y="483344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8688" b="-9180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7" name="TextBox 7"/>
          <p:cNvSpPr txBox="1"/>
          <p:nvPr/>
        </p:nvSpPr>
        <p:spPr>
          <a:xfrm>
            <a:off x="1269991" y="538163"/>
            <a:ext cx="16249247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80"/>
              </a:lnSpc>
            </a:pPr>
            <a:r>
              <a:rPr lang="en-US" sz="4567" b="1" dirty="0">
                <a:solidFill>
                  <a:srgbClr val="10101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Scaling Concurrency with Sharding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2759233"/>
            <a:ext cx="7406208" cy="73568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219"/>
              </a:lnSpc>
            </a:pPr>
            <a:r>
              <a:rPr lang="en-US" sz="2299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The Bottleneck : </a:t>
            </a:r>
            <a:r>
              <a:rPr lang="en-US" sz="2299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In a concurrent environment a single lock protecting the entire cache would serialize all operations, nullifying the benefits of multiple threads.</a:t>
            </a:r>
          </a:p>
          <a:p>
            <a:pPr algn="just">
              <a:lnSpc>
                <a:spcPts val="3219"/>
              </a:lnSpc>
            </a:pPr>
            <a:endParaRPr lang="en-US" sz="2299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just">
              <a:lnSpc>
                <a:spcPts val="3219"/>
              </a:lnSpc>
            </a:pPr>
            <a:r>
              <a:rPr lang="en-US" sz="2299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The Solution</a:t>
            </a:r>
            <a:r>
              <a:rPr lang="en-US" sz="2299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: Sharding </a:t>
            </a:r>
          </a:p>
          <a:p>
            <a:pPr algn="just">
              <a:lnSpc>
                <a:spcPts val="3219"/>
              </a:lnSpc>
            </a:pPr>
            <a:r>
              <a:rPr lang="en-US" sz="2299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The ‘CoreStore’ is not one large cahce, but an array of smaller &amp; independent ‘LRUCache’ instances.</a:t>
            </a:r>
          </a:p>
          <a:p>
            <a:pPr algn="just">
              <a:lnSpc>
                <a:spcPts val="3219"/>
              </a:lnSpc>
            </a:pPr>
            <a:endParaRPr lang="en-US" sz="2299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just">
              <a:lnSpc>
                <a:spcPts val="3219"/>
              </a:lnSpc>
            </a:pPr>
            <a:r>
              <a:rPr lang="en-US" sz="2299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How it Works :</a:t>
            </a:r>
          </a:p>
          <a:p>
            <a:pPr marL="496569" lvl="1" indent="-248284" algn="just">
              <a:lnSpc>
                <a:spcPts val="3219"/>
              </a:lnSpc>
              <a:buFont typeface="Arial"/>
              <a:buChar char="•"/>
            </a:pPr>
            <a:r>
              <a:rPr lang="en-US" sz="2299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The total capacity is divided among ‘NUM_SHARDS’ (ex.16)</a:t>
            </a:r>
          </a:p>
          <a:p>
            <a:pPr marL="496569" lvl="1" indent="-248284" algn="just">
              <a:lnSpc>
                <a:spcPts val="3219"/>
              </a:lnSpc>
              <a:buFont typeface="Arial"/>
              <a:buChar char="•"/>
            </a:pPr>
            <a:r>
              <a:rPr lang="en-US" sz="2299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 key is deterministically assigned to a shard using a hash function :</a:t>
            </a:r>
          </a:p>
          <a:p>
            <a:pPr marL="496569" lvl="1" indent="-248284" algn="just">
              <a:lnSpc>
                <a:spcPts val="3219"/>
              </a:lnSpc>
              <a:buFont typeface="Arial"/>
              <a:buChar char="•"/>
            </a:pPr>
            <a:r>
              <a:rPr lang="en-US" sz="2299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Each shard has its own lock, so operations on keys that hash to different shards can execute in parallel without contention</a:t>
            </a:r>
          </a:p>
          <a:p>
            <a:pPr algn="just">
              <a:lnSpc>
                <a:spcPts val="3219"/>
              </a:lnSpc>
              <a:spcBef>
                <a:spcPct val="0"/>
              </a:spcBef>
            </a:pPr>
            <a:endParaRPr lang="en-US" sz="2299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10420212" y="-5709155"/>
            <a:ext cx="2061691" cy="13480001"/>
            <a:chOff x="0" y="0"/>
            <a:chExt cx="115687" cy="75640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5687" cy="756402"/>
            </a:xfrm>
            <a:custGeom>
              <a:avLst/>
              <a:gdLst/>
              <a:ahLst/>
              <a:cxnLst/>
              <a:rect l="l" t="t" r="r" b="b"/>
              <a:pathLst>
                <a:path w="115687" h="756402">
                  <a:moveTo>
                    <a:pt x="0" y="0"/>
                  </a:moveTo>
                  <a:lnTo>
                    <a:pt x="115687" y="0"/>
                  </a:lnTo>
                  <a:lnTo>
                    <a:pt x="115687" y="756402"/>
                  </a:lnTo>
                  <a:lnTo>
                    <a:pt x="0" y="756402"/>
                  </a:lnTo>
                  <a:close/>
                </a:path>
              </a:pathLst>
            </a:custGeom>
            <a:solidFill>
              <a:srgbClr val="193C6F"/>
            </a:soli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15687" cy="7945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 dirty="0"/>
            </a:p>
          </p:txBody>
        </p:sp>
      </p:grpSp>
      <p:grpSp>
        <p:nvGrpSpPr>
          <p:cNvPr id="5" name="Group 5"/>
          <p:cNvGrpSpPr/>
          <p:nvPr/>
        </p:nvGrpSpPr>
        <p:grpSpPr>
          <a:xfrm rot="5400000">
            <a:off x="1192523" y="-1192523"/>
            <a:ext cx="2073635" cy="4458681"/>
            <a:chOff x="0" y="0"/>
            <a:chExt cx="116358" cy="25018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16358" cy="250189"/>
            </a:xfrm>
            <a:custGeom>
              <a:avLst/>
              <a:gdLst/>
              <a:ahLst/>
              <a:cxnLst/>
              <a:rect l="l" t="t" r="r" b="b"/>
              <a:pathLst>
                <a:path w="116358" h="250189">
                  <a:moveTo>
                    <a:pt x="0" y="0"/>
                  </a:moveTo>
                  <a:lnTo>
                    <a:pt x="116358" y="0"/>
                  </a:lnTo>
                  <a:lnTo>
                    <a:pt x="116358" y="250189"/>
                  </a:lnTo>
                  <a:lnTo>
                    <a:pt x="0" y="250189"/>
                  </a:lnTo>
                  <a:close/>
                </a:path>
              </a:pathLst>
            </a:custGeom>
            <a:solidFill>
              <a:srgbClr val="193C6F"/>
            </a:soli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16358" cy="2882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 dirty="0"/>
            </a:p>
          </p:txBody>
        </p:sp>
      </p:grpSp>
      <p:sp>
        <p:nvSpPr>
          <p:cNvPr id="8" name="Freeform 8"/>
          <p:cNvSpPr/>
          <p:nvPr/>
        </p:nvSpPr>
        <p:spPr>
          <a:xfrm>
            <a:off x="8910983" y="2969256"/>
            <a:ext cx="8742184" cy="6391064"/>
          </a:xfrm>
          <a:custGeom>
            <a:avLst/>
            <a:gdLst/>
            <a:ahLst/>
            <a:cxnLst/>
            <a:rect l="l" t="t" r="r" b="b"/>
            <a:pathLst>
              <a:path w="8742184" h="6391064">
                <a:moveTo>
                  <a:pt x="0" y="0"/>
                </a:moveTo>
                <a:lnTo>
                  <a:pt x="8742184" y="0"/>
                </a:lnTo>
                <a:lnTo>
                  <a:pt x="8742184" y="6391064"/>
                </a:lnTo>
                <a:lnTo>
                  <a:pt x="0" y="63910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741" r="-1985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9" name="TextBox 9"/>
          <p:cNvSpPr txBox="1"/>
          <p:nvPr/>
        </p:nvSpPr>
        <p:spPr>
          <a:xfrm>
            <a:off x="6326636" y="501149"/>
            <a:ext cx="9202390" cy="981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794"/>
              </a:lnSpc>
              <a:spcBef>
                <a:spcPct val="0"/>
              </a:spcBef>
            </a:pPr>
            <a:r>
              <a:rPr lang="en-US" sz="6495" b="1" dirty="0">
                <a:solidFill>
                  <a:srgbClr val="F4F6F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FastAPI Server layer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0" y="614362"/>
            <a:ext cx="4458681" cy="828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99"/>
              </a:lnSpc>
              <a:spcBef>
                <a:spcPct val="0"/>
              </a:spcBef>
            </a:pPr>
            <a:r>
              <a:rPr lang="en-US" sz="5499" b="1" dirty="0">
                <a:solidFill>
                  <a:srgbClr val="F4F6F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Module 2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68954" y="7306393"/>
            <a:ext cx="5225342" cy="38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00"/>
              </a:lnSpc>
              <a:spcBef>
                <a:spcPct val="0"/>
              </a:spcBef>
            </a:pPr>
            <a:r>
              <a:rPr lang="en-US" sz="2500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Key Components Used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85597" y="2867236"/>
            <a:ext cx="6684206" cy="419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64" lvl="1" indent="-269882" algn="just">
              <a:lnSpc>
                <a:spcPts val="3000"/>
              </a:lnSpc>
              <a:buFont typeface="Arial"/>
              <a:buChar char="•"/>
            </a:pPr>
            <a:r>
              <a:rPr lang="en-US" sz="25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The FastAPI server acts as the primary interaction layer between external clients and the core data sore.</a:t>
            </a:r>
          </a:p>
          <a:p>
            <a:pPr algn="just">
              <a:lnSpc>
                <a:spcPts val="3000"/>
              </a:lnSpc>
            </a:pPr>
            <a:endParaRPr lang="en-US" sz="250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539764" lvl="1" indent="-269882" algn="just">
              <a:lnSpc>
                <a:spcPts val="3000"/>
              </a:lnSpc>
              <a:buFont typeface="Arial"/>
              <a:buChar char="•"/>
            </a:pPr>
            <a:r>
              <a:rPr lang="en-US" sz="25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It handles all HTTP request routing, input validation, error handling and response formatting.</a:t>
            </a:r>
          </a:p>
          <a:p>
            <a:pPr algn="just">
              <a:lnSpc>
                <a:spcPts val="3000"/>
              </a:lnSpc>
            </a:pPr>
            <a:endParaRPr lang="en-US" sz="250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539764" lvl="1" indent="-269882" algn="just">
              <a:lnSpc>
                <a:spcPts val="3000"/>
              </a:lnSpc>
              <a:spcBef>
                <a:spcPct val="0"/>
              </a:spcBef>
              <a:buFont typeface="Arial"/>
              <a:buChar char="•"/>
            </a:pPr>
            <a:r>
              <a:rPr lang="en-US" sz="25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All operations are internally routed to the ‘CoreStore’ and ‘Persistence’ layers.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68954" y="7935550"/>
            <a:ext cx="6684206" cy="1524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64" lvl="1" indent="-269882" algn="just">
              <a:lnSpc>
                <a:spcPts val="3000"/>
              </a:lnSpc>
              <a:buFont typeface="Arial"/>
              <a:buChar char="•"/>
            </a:pPr>
            <a:r>
              <a:rPr lang="en-US" sz="25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FastAPI Framework</a:t>
            </a:r>
          </a:p>
          <a:p>
            <a:pPr marL="539764" lvl="1" indent="-269882" algn="just">
              <a:lnSpc>
                <a:spcPts val="3000"/>
              </a:lnSpc>
              <a:buFont typeface="Arial"/>
              <a:buChar char="•"/>
            </a:pPr>
            <a:r>
              <a:rPr lang="en-US" sz="25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Async route handlers (‘async’ def)</a:t>
            </a:r>
          </a:p>
          <a:p>
            <a:pPr marL="539764" lvl="1" indent="-269882" algn="just">
              <a:lnSpc>
                <a:spcPts val="3000"/>
              </a:lnSpc>
              <a:buFont typeface="Arial"/>
              <a:buChar char="•"/>
            </a:pPr>
            <a:r>
              <a:rPr lang="en-US" sz="25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Pydantic modules for validation</a:t>
            </a:r>
          </a:p>
          <a:p>
            <a:pPr marL="539764" lvl="1" indent="-269882" algn="just">
              <a:lnSpc>
                <a:spcPts val="3000"/>
              </a:lnSpc>
              <a:spcBef>
                <a:spcPct val="0"/>
              </a:spcBef>
              <a:buFont typeface="Arial"/>
              <a:buChar char="•"/>
            </a:pPr>
            <a:r>
              <a:rPr lang="en-US" sz="25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HTTP exceptions for error handling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10226040" y="6967538"/>
            <a:ext cx="1198245" cy="372428"/>
            <a:chOff x="0" y="0"/>
            <a:chExt cx="1597660" cy="496570"/>
          </a:xfrm>
        </p:grpSpPr>
        <p:sp>
          <p:nvSpPr>
            <p:cNvPr id="15" name="Freeform 15"/>
            <p:cNvSpPr/>
            <p:nvPr/>
          </p:nvSpPr>
          <p:spPr>
            <a:xfrm>
              <a:off x="50800" y="49486"/>
              <a:ext cx="1498283" cy="399314"/>
            </a:xfrm>
            <a:custGeom>
              <a:avLst/>
              <a:gdLst/>
              <a:ahLst/>
              <a:cxnLst/>
              <a:rect l="l" t="t" r="r" b="b"/>
              <a:pathLst>
                <a:path w="1498283" h="399314">
                  <a:moveTo>
                    <a:pt x="92710" y="168954"/>
                  </a:moveTo>
                  <a:cubicBezTo>
                    <a:pt x="349250" y="219754"/>
                    <a:pt x="391160" y="205784"/>
                    <a:pt x="416560" y="218484"/>
                  </a:cubicBezTo>
                  <a:cubicBezTo>
                    <a:pt x="435610" y="227374"/>
                    <a:pt x="448310" y="247694"/>
                    <a:pt x="455930" y="262934"/>
                  </a:cubicBezTo>
                  <a:cubicBezTo>
                    <a:pt x="461010" y="275634"/>
                    <a:pt x="461010" y="289604"/>
                    <a:pt x="459740" y="302304"/>
                  </a:cubicBezTo>
                  <a:cubicBezTo>
                    <a:pt x="458470" y="315004"/>
                    <a:pt x="454660" y="328974"/>
                    <a:pt x="445770" y="340404"/>
                  </a:cubicBezTo>
                  <a:cubicBezTo>
                    <a:pt x="434340" y="353104"/>
                    <a:pt x="410210" y="368344"/>
                    <a:pt x="396240" y="373424"/>
                  </a:cubicBezTo>
                  <a:cubicBezTo>
                    <a:pt x="388620" y="375964"/>
                    <a:pt x="384810" y="377234"/>
                    <a:pt x="377190" y="375964"/>
                  </a:cubicBezTo>
                  <a:cubicBezTo>
                    <a:pt x="356870" y="369614"/>
                    <a:pt x="325120" y="318814"/>
                    <a:pt x="287020" y="304844"/>
                  </a:cubicBezTo>
                  <a:cubicBezTo>
                    <a:pt x="236220" y="287064"/>
                    <a:pt x="134620" y="308654"/>
                    <a:pt x="90170" y="299764"/>
                  </a:cubicBezTo>
                  <a:cubicBezTo>
                    <a:pt x="64770" y="294684"/>
                    <a:pt x="46990" y="289604"/>
                    <a:pt x="33020" y="278174"/>
                  </a:cubicBezTo>
                  <a:cubicBezTo>
                    <a:pt x="19050" y="265474"/>
                    <a:pt x="7620" y="241344"/>
                    <a:pt x="5080" y="223564"/>
                  </a:cubicBezTo>
                  <a:cubicBezTo>
                    <a:pt x="2540" y="209594"/>
                    <a:pt x="5080" y="195624"/>
                    <a:pt x="10160" y="182924"/>
                  </a:cubicBezTo>
                  <a:cubicBezTo>
                    <a:pt x="13970" y="170224"/>
                    <a:pt x="22860" y="157524"/>
                    <a:pt x="33020" y="148634"/>
                  </a:cubicBezTo>
                  <a:cubicBezTo>
                    <a:pt x="43180" y="139744"/>
                    <a:pt x="49530" y="133394"/>
                    <a:pt x="69850" y="129584"/>
                  </a:cubicBezTo>
                  <a:cubicBezTo>
                    <a:pt x="142240" y="115614"/>
                    <a:pt x="497840" y="157524"/>
                    <a:pt x="596900" y="172764"/>
                  </a:cubicBezTo>
                  <a:cubicBezTo>
                    <a:pt x="636270" y="179114"/>
                    <a:pt x="650240" y="190544"/>
                    <a:pt x="678180" y="193084"/>
                  </a:cubicBezTo>
                  <a:cubicBezTo>
                    <a:pt x="703580" y="195624"/>
                    <a:pt x="730250" y="185464"/>
                    <a:pt x="756920" y="189274"/>
                  </a:cubicBezTo>
                  <a:cubicBezTo>
                    <a:pt x="784860" y="194354"/>
                    <a:pt x="801370" y="213404"/>
                    <a:pt x="839470" y="219754"/>
                  </a:cubicBezTo>
                  <a:cubicBezTo>
                    <a:pt x="913130" y="232454"/>
                    <a:pt x="1113790" y="237534"/>
                    <a:pt x="1182370" y="218484"/>
                  </a:cubicBezTo>
                  <a:cubicBezTo>
                    <a:pt x="1214120" y="208324"/>
                    <a:pt x="1243330" y="191814"/>
                    <a:pt x="1247140" y="176574"/>
                  </a:cubicBezTo>
                  <a:cubicBezTo>
                    <a:pt x="1249680" y="165144"/>
                    <a:pt x="1229360" y="149904"/>
                    <a:pt x="1228090" y="138474"/>
                  </a:cubicBezTo>
                  <a:cubicBezTo>
                    <a:pt x="1226820" y="130854"/>
                    <a:pt x="1229360" y="125774"/>
                    <a:pt x="1233170" y="118154"/>
                  </a:cubicBezTo>
                  <a:cubicBezTo>
                    <a:pt x="1236980" y="106724"/>
                    <a:pt x="1245870" y="91484"/>
                    <a:pt x="1256030" y="82594"/>
                  </a:cubicBezTo>
                  <a:cubicBezTo>
                    <a:pt x="1266190" y="72434"/>
                    <a:pt x="1280160" y="64814"/>
                    <a:pt x="1294130" y="61004"/>
                  </a:cubicBezTo>
                  <a:cubicBezTo>
                    <a:pt x="1308100" y="57194"/>
                    <a:pt x="1323340" y="57194"/>
                    <a:pt x="1337310" y="61004"/>
                  </a:cubicBezTo>
                  <a:cubicBezTo>
                    <a:pt x="1351280" y="63544"/>
                    <a:pt x="1365250" y="71164"/>
                    <a:pt x="1375410" y="80054"/>
                  </a:cubicBezTo>
                  <a:cubicBezTo>
                    <a:pt x="1386840" y="88944"/>
                    <a:pt x="1395730" y="101644"/>
                    <a:pt x="1400810" y="114344"/>
                  </a:cubicBezTo>
                  <a:cubicBezTo>
                    <a:pt x="1405890" y="127044"/>
                    <a:pt x="1414780" y="147364"/>
                    <a:pt x="1407160" y="157524"/>
                  </a:cubicBezTo>
                  <a:cubicBezTo>
                    <a:pt x="1395730" y="172764"/>
                    <a:pt x="1322070" y="186734"/>
                    <a:pt x="1301750" y="174034"/>
                  </a:cubicBezTo>
                  <a:cubicBezTo>
                    <a:pt x="1283970" y="162604"/>
                    <a:pt x="1281430" y="116884"/>
                    <a:pt x="1280160" y="95294"/>
                  </a:cubicBezTo>
                  <a:cubicBezTo>
                    <a:pt x="1280160" y="78784"/>
                    <a:pt x="1285240" y="64814"/>
                    <a:pt x="1291590" y="53384"/>
                  </a:cubicBezTo>
                  <a:cubicBezTo>
                    <a:pt x="1297940" y="40684"/>
                    <a:pt x="1306830" y="27984"/>
                    <a:pt x="1319530" y="20364"/>
                  </a:cubicBezTo>
                  <a:cubicBezTo>
                    <a:pt x="1336040" y="11474"/>
                    <a:pt x="1362710" y="2584"/>
                    <a:pt x="1381760" y="5124"/>
                  </a:cubicBezTo>
                  <a:cubicBezTo>
                    <a:pt x="1402080" y="7664"/>
                    <a:pt x="1426210" y="20364"/>
                    <a:pt x="1438910" y="35604"/>
                  </a:cubicBezTo>
                  <a:cubicBezTo>
                    <a:pt x="1451610" y="49574"/>
                    <a:pt x="1469390" y="86404"/>
                    <a:pt x="1461770" y="95294"/>
                  </a:cubicBezTo>
                  <a:cubicBezTo>
                    <a:pt x="1452880" y="105454"/>
                    <a:pt x="1372870" y="86404"/>
                    <a:pt x="1371600" y="77514"/>
                  </a:cubicBezTo>
                  <a:cubicBezTo>
                    <a:pt x="1370330" y="71164"/>
                    <a:pt x="1407160" y="54654"/>
                    <a:pt x="1419860" y="52114"/>
                  </a:cubicBezTo>
                  <a:cubicBezTo>
                    <a:pt x="1428750" y="52114"/>
                    <a:pt x="1433830" y="54654"/>
                    <a:pt x="1441450" y="58464"/>
                  </a:cubicBezTo>
                  <a:cubicBezTo>
                    <a:pt x="1451610" y="63544"/>
                    <a:pt x="1466850" y="72434"/>
                    <a:pt x="1475740" y="83864"/>
                  </a:cubicBezTo>
                  <a:cubicBezTo>
                    <a:pt x="1485900" y="94024"/>
                    <a:pt x="1492250" y="109264"/>
                    <a:pt x="1496060" y="121964"/>
                  </a:cubicBezTo>
                  <a:cubicBezTo>
                    <a:pt x="1498600" y="135934"/>
                    <a:pt x="1498600" y="152444"/>
                    <a:pt x="1494790" y="166414"/>
                  </a:cubicBezTo>
                  <a:cubicBezTo>
                    <a:pt x="1490980" y="179114"/>
                    <a:pt x="1484630" y="193084"/>
                    <a:pt x="1474470" y="203244"/>
                  </a:cubicBezTo>
                  <a:cubicBezTo>
                    <a:pt x="1460500" y="217214"/>
                    <a:pt x="1431290" y="228644"/>
                    <a:pt x="1416050" y="232454"/>
                  </a:cubicBezTo>
                  <a:cubicBezTo>
                    <a:pt x="1407160" y="234994"/>
                    <a:pt x="1403350" y="236264"/>
                    <a:pt x="1394460" y="232454"/>
                  </a:cubicBezTo>
                  <a:cubicBezTo>
                    <a:pt x="1374140" y="223564"/>
                    <a:pt x="1323340" y="182924"/>
                    <a:pt x="1310640" y="154984"/>
                  </a:cubicBezTo>
                  <a:cubicBezTo>
                    <a:pt x="1300480" y="135934"/>
                    <a:pt x="1300480" y="114344"/>
                    <a:pt x="1304290" y="92754"/>
                  </a:cubicBezTo>
                  <a:cubicBezTo>
                    <a:pt x="1308100" y="68624"/>
                    <a:pt x="1320800" y="31794"/>
                    <a:pt x="1341120" y="16554"/>
                  </a:cubicBezTo>
                  <a:cubicBezTo>
                    <a:pt x="1361440" y="1314"/>
                    <a:pt x="1402080" y="-3766"/>
                    <a:pt x="1424940" y="3854"/>
                  </a:cubicBezTo>
                  <a:cubicBezTo>
                    <a:pt x="1449070" y="12744"/>
                    <a:pt x="1475740" y="43224"/>
                    <a:pt x="1482090" y="67354"/>
                  </a:cubicBezTo>
                  <a:cubicBezTo>
                    <a:pt x="1488440" y="91484"/>
                    <a:pt x="1479550" y="130854"/>
                    <a:pt x="1463040" y="149904"/>
                  </a:cubicBezTo>
                  <a:cubicBezTo>
                    <a:pt x="1446530" y="168954"/>
                    <a:pt x="1407160" y="180384"/>
                    <a:pt x="1383030" y="180384"/>
                  </a:cubicBezTo>
                  <a:cubicBezTo>
                    <a:pt x="1363980" y="179114"/>
                    <a:pt x="1343660" y="167684"/>
                    <a:pt x="1330960" y="154984"/>
                  </a:cubicBezTo>
                  <a:cubicBezTo>
                    <a:pt x="1318260" y="142284"/>
                    <a:pt x="1305560" y="121964"/>
                    <a:pt x="1304290" y="102914"/>
                  </a:cubicBezTo>
                  <a:cubicBezTo>
                    <a:pt x="1303020" y="80054"/>
                    <a:pt x="1314450" y="39414"/>
                    <a:pt x="1333500" y="22904"/>
                  </a:cubicBezTo>
                  <a:cubicBezTo>
                    <a:pt x="1352550" y="6394"/>
                    <a:pt x="1391920" y="-3766"/>
                    <a:pt x="1416050" y="1314"/>
                  </a:cubicBezTo>
                  <a:cubicBezTo>
                    <a:pt x="1440180" y="7664"/>
                    <a:pt x="1469390" y="38144"/>
                    <a:pt x="1479550" y="57194"/>
                  </a:cubicBezTo>
                  <a:cubicBezTo>
                    <a:pt x="1487170" y="72434"/>
                    <a:pt x="1489710" y="99104"/>
                    <a:pt x="1483360" y="102914"/>
                  </a:cubicBezTo>
                  <a:cubicBezTo>
                    <a:pt x="1475740" y="106724"/>
                    <a:pt x="1418590" y="54654"/>
                    <a:pt x="1419860" y="52114"/>
                  </a:cubicBezTo>
                  <a:cubicBezTo>
                    <a:pt x="1421130" y="50844"/>
                    <a:pt x="1463040" y="69894"/>
                    <a:pt x="1475740" y="83864"/>
                  </a:cubicBezTo>
                  <a:cubicBezTo>
                    <a:pt x="1487170" y="94024"/>
                    <a:pt x="1492250" y="109264"/>
                    <a:pt x="1496060" y="121964"/>
                  </a:cubicBezTo>
                  <a:cubicBezTo>
                    <a:pt x="1498600" y="135934"/>
                    <a:pt x="1499870" y="151174"/>
                    <a:pt x="1494790" y="166414"/>
                  </a:cubicBezTo>
                  <a:cubicBezTo>
                    <a:pt x="1488440" y="182924"/>
                    <a:pt x="1471930" y="207054"/>
                    <a:pt x="1457960" y="218484"/>
                  </a:cubicBezTo>
                  <a:cubicBezTo>
                    <a:pt x="1445260" y="227374"/>
                    <a:pt x="1428750" y="231184"/>
                    <a:pt x="1416050" y="232454"/>
                  </a:cubicBezTo>
                  <a:cubicBezTo>
                    <a:pt x="1408430" y="233724"/>
                    <a:pt x="1394460" y="233724"/>
                    <a:pt x="1394460" y="232454"/>
                  </a:cubicBezTo>
                  <a:cubicBezTo>
                    <a:pt x="1394460" y="231184"/>
                    <a:pt x="1431290" y="226104"/>
                    <a:pt x="1431290" y="222294"/>
                  </a:cubicBezTo>
                  <a:cubicBezTo>
                    <a:pt x="1431290" y="215944"/>
                    <a:pt x="1339850" y="219754"/>
                    <a:pt x="1314450" y="196894"/>
                  </a:cubicBezTo>
                  <a:cubicBezTo>
                    <a:pt x="1291590" y="175304"/>
                    <a:pt x="1280160" y="124504"/>
                    <a:pt x="1280160" y="95294"/>
                  </a:cubicBezTo>
                  <a:cubicBezTo>
                    <a:pt x="1281430" y="72434"/>
                    <a:pt x="1290320" y="49574"/>
                    <a:pt x="1303020" y="34334"/>
                  </a:cubicBezTo>
                  <a:cubicBezTo>
                    <a:pt x="1316990" y="20364"/>
                    <a:pt x="1342390" y="8934"/>
                    <a:pt x="1360170" y="5124"/>
                  </a:cubicBezTo>
                  <a:cubicBezTo>
                    <a:pt x="1375410" y="2584"/>
                    <a:pt x="1390650" y="5124"/>
                    <a:pt x="1403350" y="10204"/>
                  </a:cubicBezTo>
                  <a:cubicBezTo>
                    <a:pt x="1416050" y="15284"/>
                    <a:pt x="1428750" y="21634"/>
                    <a:pt x="1438910" y="35604"/>
                  </a:cubicBezTo>
                  <a:cubicBezTo>
                    <a:pt x="1452880" y="53384"/>
                    <a:pt x="1465580" y="90214"/>
                    <a:pt x="1470660" y="118154"/>
                  </a:cubicBezTo>
                  <a:cubicBezTo>
                    <a:pt x="1474470" y="144824"/>
                    <a:pt x="1474470" y="172764"/>
                    <a:pt x="1469390" y="199434"/>
                  </a:cubicBezTo>
                  <a:cubicBezTo>
                    <a:pt x="1464310" y="226104"/>
                    <a:pt x="1463040" y="266744"/>
                    <a:pt x="1441450" y="276904"/>
                  </a:cubicBezTo>
                  <a:cubicBezTo>
                    <a:pt x="1408430" y="293414"/>
                    <a:pt x="1287780" y="246424"/>
                    <a:pt x="1256030" y="214674"/>
                  </a:cubicBezTo>
                  <a:cubicBezTo>
                    <a:pt x="1234440" y="194354"/>
                    <a:pt x="1226820" y="162604"/>
                    <a:pt x="1228090" y="138474"/>
                  </a:cubicBezTo>
                  <a:cubicBezTo>
                    <a:pt x="1229360" y="118154"/>
                    <a:pt x="1243330" y="95294"/>
                    <a:pt x="1256030" y="82594"/>
                  </a:cubicBezTo>
                  <a:cubicBezTo>
                    <a:pt x="1267460" y="71164"/>
                    <a:pt x="1278890" y="64814"/>
                    <a:pt x="1294130" y="61004"/>
                  </a:cubicBezTo>
                  <a:cubicBezTo>
                    <a:pt x="1311910" y="57194"/>
                    <a:pt x="1341120" y="61004"/>
                    <a:pt x="1357630" y="67354"/>
                  </a:cubicBezTo>
                  <a:cubicBezTo>
                    <a:pt x="1371600" y="73704"/>
                    <a:pt x="1381760" y="83864"/>
                    <a:pt x="1390650" y="95294"/>
                  </a:cubicBezTo>
                  <a:cubicBezTo>
                    <a:pt x="1398270" y="106724"/>
                    <a:pt x="1404620" y="118154"/>
                    <a:pt x="1405890" y="135934"/>
                  </a:cubicBezTo>
                  <a:cubicBezTo>
                    <a:pt x="1409700" y="161334"/>
                    <a:pt x="1399540" y="207054"/>
                    <a:pt x="1389380" y="238804"/>
                  </a:cubicBezTo>
                  <a:cubicBezTo>
                    <a:pt x="1380490" y="269284"/>
                    <a:pt x="1367790" y="298494"/>
                    <a:pt x="1348740" y="322624"/>
                  </a:cubicBezTo>
                  <a:cubicBezTo>
                    <a:pt x="1328420" y="346754"/>
                    <a:pt x="1301750" y="370884"/>
                    <a:pt x="1272540" y="382314"/>
                  </a:cubicBezTo>
                  <a:cubicBezTo>
                    <a:pt x="1240790" y="396284"/>
                    <a:pt x="1209040" y="393744"/>
                    <a:pt x="1164590" y="396284"/>
                  </a:cubicBezTo>
                  <a:cubicBezTo>
                    <a:pt x="1094740" y="400094"/>
                    <a:pt x="1007110" y="401364"/>
                    <a:pt x="891540" y="393744"/>
                  </a:cubicBezTo>
                  <a:cubicBezTo>
                    <a:pt x="690880" y="381044"/>
                    <a:pt x="176530" y="336594"/>
                    <a:pt x="68580" y="297224"/>
                  </a:cubicBezTo>
                  <a:cubicBezTo>
                    <a:pt x="40640" y="285794"/>
                    <a:pt x="30480" y="275634"/>
                    <a:pt x="19050" y="261664"/>
                  </a:cubicBezTo>
                  <a:cubicBezTo>
                    <a:pt x="10160" y="250234"/>
                    <a:pt x="6350" y="236264"/>
                    <a:pt x="5080" y="223564"/>
                  </a:cubicBezTo>
                  <a:cubicBezTo>
                    <a:pt x="2540" y="210864"/>
                    <a:pt x="3810" y="195624"/>
                    <a:pt x="10160" y="182924"/>
                  </a:cubicBezTo>
                  <a:cubicBezTo>
                    <a:pt x="16510" y="166414"/>
                    <a:pt x="33020" y="146094"/>
                    <a:pt x="49530" y="137204"/>
                  </a:cubicBezTo>
                  <a:cubicBezTo>
                    <a:pt x="69850" y="127044"/>
                    <a:pt x="96520" y="129584"/>
                    <a:pt x="121920" y="128314"/>
                  </a:cubicBezTo>
                  <a:cubicBezTo>
                    <a:pt x="149860" y="127044"/>
                    <a:pt x="180340" y="125774"/>
                    <a:pt x="209550" y="130854"/>
                  </a:cubicBezTo>
                  <a:cubicBezTo>
                    <a:pt x="240030" y="135934"/>
                    <a:pt x="267970" y="143554"/>
                    <a:pt x="300990" y="157524"/>
                  </a:cubicBezTo>
                  <a:cubicBezTo>
                    <a:pt x="344170" y="177844"/>
                    <a:pt x="422910" y="214674"/>
                    <a:pt x="445770" y="245154"/>
                  </a:cubicBezTo>
                  <a:cubicBezTo>
                    <a:pt x="459740" y="264204"/>
                    <a:pt x="462280" y="284524"/>
                    <a:pt x="459740" y="302304"/>
                  </a:cubicBezTo>
                  <a:cubicBezTo>
                    <a:pt x="457200" y="321354"/>
                    <a:pt x="445770" y="342944"/>
                    <a:pt x="431800" y="354374"/>
                  </a:cubicBezTo>
                  <a:cubicBezTo>
                    <a:pt x="417830" y="367074"/>
                    <a:pt x="397510" y="372154"/>
                    <a:pt x="377190" y="375964"/>
                  </a:cubicBezTo>
                  <a:cubicBezTo>
                    <a:pt x="349250" y="379774"/>
                    <a:pt x="311150" y="375964"/>
                    <a:pt x="280670" y="370884"/>
                  </a:cubicBezTo>
                  <a:cubicBezTo>
                    <a:pt x="247650" y="364534"/>
                    <a:pt x="219710" y="348024"/>
                    <a:pt x="186690" y="339134"/>
                  </a:cubicBezTo>
                  <a:cubicBezTo>
                    <a:pt x="148590" y="330244"/>
                    <a:pt x="93980" y="332784"/>
                    <a:pt x="63500" y="322624"/>
                  </a:cubicBezTo>
                  <a:cubicBezTo>
                    <a:pt x="43180" y="315004"/>
                    <a:pt x="26670" y="307384"/>
                    <a:pt x="16510" y="293414"/>
                  </a:cubicBezTo>
                  <a:cubicBezTo>
                    <a:pt x="6350" y="279444"/>
                    <a:pt x="0" y="256584"/>
                    <a:pt x="0" y="240074"/>
                  </a:cubicBezTo>
                  <a:cubicBezTo>
                    <a:pt x="0" y="227374"/>
                    <a:pt x="5080" y="214674"/>
                    <a:pt x="11430" y="204514"/>
                  </a:cubicBezTo>
                  <a:cubicBezTo>
                    <a:pt x="17780" y="194354"/>
                    <a:pt x="26670" y="184194"/>
                    <a:pt x="38100" y="177844"/>
                  </a:cubicBezTo>
                  <a:cubicBezTo>
                    <a:pt x="52070" y="171494"/>
                    <a:pt x="92710" y="168954"/>
                    <a:pt x="92710" y="168954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 dirty="0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1866245" y="6228397"/>
            <a:ext cx="592455" cy="666750"/>
            <a:chOff x="0" y="0"/>
            <a:chExt cx="789940" cy="889000"/>
          </a:xfrm>
        </p:grpSpPr>
        <p:sp>
          <p:nvSpPr>
            <p:cNvPr id="17" name="Freeform 17"/>
            <p:cNvSpPr/>
            <p:nvPr/>
          </p:nvSpPr>
          <p:spPr>
            <a:xfrm>
              <a:off x="50800" y="46535"/>
              <a:ext cx="688340" cy="790396"/>
            </a:xfrm>
            <a:custGeom>
              <a:avLst/>
              <a:gdLst/>
              <a:ahLst/>
              <a:cxnLst/>
              <a:rect l="l" t="t" r="r" b="b"/>
              <a:pathLst>
                <a:path w="688340" h="790396">
                  <a:moveTo>
                    <a:pt x="0" y="678635"/>
                  </a:moveTo>
                  <a:cubicBezTo>
                    <a:pt x="12700" y="530045"/>
                    <a:pt x="44450" y="488135"/>
                    <a:pt x="55880" y="476705"/>
                  </a:cubicBezTo>
                  <a:cubicBezTo>
                    <a:pt x="59690" y="472895"/>
                    <a:pt x="62230" y="474165"/>
                    <a:pt x="66040" y="470355"/>
                  </a:cubicBezTo>
                  <a:cubicBezTo>
                    <a:pt x="74930" y="460195"/>
                    <a:pt x="83820" y="434795"/>
                    <a:pt x="99060" y="417015"/>
                  </a:cubicBezTo>
                  <a:cubicBezTo>
                    <a:pt x="116840" y="394155"/>
                    <a:pt x="151130" y="354785"/>
                    <a:pt x="168910" y="345895"/>
                  </a:cubicBezTo>
                  <a:cubicBezTo>
                    <a:pt x="176530" y="342085"/>
                    <a:pt x="184150" y="348435"/>
                    <a:pt x="189230" y="343355"/>
                  </a:cubicBezTo>
                  <a:cubicBezTo>
                    <a:pt x="199390" y="335735"/>
                    <a:pt x="195580" y="296365"/>
                    <a:pt x="205740" y="276045"/>
                  </a:cubicBezTo>
                  <a:cubicBezTo>
                    <a:pt x="215900" y="258265"/>
                    <a:pt x="243840" y="245565"/>
                    <a:pt x="250190" y="229055"/>
                  </a:cubicBezTo>
                  <a:cubicBezTo>
                    <a:pt x="255270" y="215085"/>
                    <a:pt x="247650" y="203655"/>
                    <a:pt x="251460" y="187145"/>
                  </a:cubicBezTo>
                  <a:cubicBezTo>
                    <a:pt x="256540" y="160475"/>
                    <a:pt x="265430" y="113485"/>
                    <a:pt x="288290" y="89355"/>
                  </a:cubicBezTo>
                  <a:cubicBezTo>
                    <a:pt x="313690" y="63955"/>
                    <a:pt x="393700" y="46175"/>
                    <a:pt x="400050" y="44905"/>
                  </a:cubicBezTo>
                  <a:cubicBezTo>
                    <a:pt x="401320" y="44905"/>
                    <a:pt x="401320" y="46175"/>
                    <a:pt x="401320" y="46175"/>
                  </a:cubicBezTo>
                  <a:cubicBezTo>
                    <a:pt x="406400" y="44905"/>
                    <a:pt x="454660" y="9345"/>
                    <a:pt x="482600" y="4265"/>
                  </a:cubicBezTo>
                  <a:cubicBezTo>
                    <a:pt x="508000" y="-2085"/>
                    <a:pt x="535940" y="-2085"/>
                    <a:pt x="560070" y="9345"/>
                  </a:cubicBezTo>
                  <a:cubicBezTo>
                    <a:pt x="589280" y="22045"/>
                    <a:pt x="629920" y="65225"/>
                    <a:pt x="637540" y="85545"/>
                  </a:cubicBezTo>
                  <a:cubicBezTo>
                    <a:pt x="641350" y="94435"/>
                    <a:pt x="636270" y="105865"/>
                    <a:pt x="637540" y="108405"/>
                  </a:cubicBezTo>
                  <a:cubicBezTo>
                    <a:pt x="637540" y="108405"/>
                    <a:pt x="637540" y="108405"/>
                    <a:pt x="638810" y="108405"/>
                  </a:cubicBezTo>
                  <a:cubicBezTo>
                    <a:pt x="640080" y="109675"/>
                    <a:pt x="647700" y="113485"/>
                    <a:pt x="647700" y="113485"/>
                  </a:cubicBezTo>
                  <a:cubicBezTo>
                    <a:pt x="647700" y="113485"/>
                    <a:pt x="652780" y="118565"/>
                    <a:pt x="656590" y="121105"/>
                  </a:cubicBezTo>
                  <a:cubicBezTo>
                    <a:pt x="659130" y="122375"/>
                    <a:pt x="664210" y="127455"/>
                    <a:pt x="664210" y="127455"/>
                  </a:cubicBezTo>
                  <a:cubicBezTo>
                    <a:pt x="664210" y="127455"/>
                    <a:pt x="668020" y="132535"/>
                    <a:pt x="670560" y="136345"/>
                  </a:cubicBezTo>
                  <a:cubicBezTo>
                    <a:pt x="673100" y="138885"/>
                    <a:pt x="676910" y="143965"/>
                    <a:pt x="676910" y="145235"/>
                  </a:cubicBezTo>
                  <a:cubicBezTo>
                    <a:pt x="676910" y="145235"/>
                    <a:pt x="679450" y="151585"/>
                    <a:pt x="680720" y="154125"/>
                  </a:cubicBezTo>
                  <a:cubicBezTo>
                    <a:pt x="681990" y="156665"/>
                    <a:pt x="683260" y="160475"/>
                    <a:pt x="683260" y="160475"/>
                  </a:cubicBezTo>
                  <a:cubicBezTo>
                    <a:pt x="683260" y="161745"/>
                    <a:pt x="684530" y="164285"/>
                    <a:pt x="684530" y="164285"/>
                  </a:cubicBezTo>
                  <a:cubicBezTo>
                    <a:pt x="685800" y="164285"/>
                    <a:pt x="685800" y="171905"/>
                    <a:pt x="687070" y="175715"/>
                  </a:cubicBezTo>
                  <a:cubicBezTo>
                    <a:pt x="687070" y="178255"/>
                    <a:pt x="688340" y="185875"/>
                    <a:pt x="688340" y="185875"/>
                  </a:cubicBezTo>
                  <a:cubicBezTo>
                    <a:pt x="688340" y="185875"/>
                    <a:pt x="687070" y="193495"/>
                    <a:pt x="687070" y="196035"/>
                  </a:cubicBezTo>
                  <a:cubicBezTo>
                    <a:pt x="687070" y="199845"/>
                    <a:pt x="685800" y="207465"/>
                    <a:pt x="685800" y="207465"/>
                  </a:cubicBezTo>
                  <a:cubicBezTo>
                    <a:pt x="685800" y="207465"/>
                    <a:pt x="683260" y="213815"/>
                    <a:pt x="683260" y="217625"/>
                  </a:cubicBezTo>
                  <a:cubicBezTo>
                    <a:pt x="681990" y="220165"/>
                    <a:pt x="680720" y="221435"/>
                    <a:pt x="679450" y="225245"/>
                  </a:cubicBezTo>
                  <a:cubicBezTo>
                    <a:pt x="678180" y="232865"/>
                    <a:pt x="683260" y="246835"/>
                    <a:pt x="678180" y="259535"/>
                  </a:cubicBezTo>
                  <a:cubicBezTo>
                    <a:pt x="668020" y="283665"/>
                    <a:pt x="633730" y="337005"/>
                    <a:pt x="603250" y="348435"/>
                  </a:cubicBezTo>
                  <a:cubicBezTo>
                    <a:pt x="575310" y="359865"/>
                    <a:pt x="533400" y="324305"/>
                    <a:pt x="504190" y="334465"/>
                  </a:cubicBezTo>
                  <a:cubicBezTo>
                    <a:pt x="469900" y="345895"/>
                    <a:pt x="430530" y="419555"/>
                    <a:pt x="416560" y="423365"/>
                  </a:cubicBezTo>
                  <a:cubicBezTo>
                    <a:pt x="412750" y="423365"/>
                    <a:pt x="410210" y="419555"/>
                    <a:pt x="408940" y="420825"/>
                  </a:cubicBezTo>
                  <a:cubicBezTo>
                    <a:pt x="408940" y="420825"/>
                    <a:pt x="408940" y="420825"/>
                    <a:pt x="407670" y="422095"/>
                  </a:cubicBezTo>
                  <a:cubicBezTo>
                    <a:pt x="403860" y="425905"/>
                    <a:pt x="363220" y="447495"/>
                    <a:pt x="356870" y="461465"/>
                  </a:cubicBezTo>
                  <a:cubicBezTo>
                    <a:pt x="353060" y="470355"/>
                    <a:pt x="359410" y="477975"/>
                    <a:pt x="358140" y="489405"/>
                  </a:cubicBezTo>
                  <a:cubicBezTo>
                    <a:pt x="355600" y="505915"/>
                    <a:pt x="335280" y="554175"/>
                    <a:pt x="335280" y="555445"/>
                  </a:cubicBezTo>
                  <a:cubicBezTo>
                    <a:pt x="335280" y="555445"/>
                    <a:pt x="331470" y="560525"/>
                    <a:pt x="328930" y="563065"/>
                  </a:cubicBezTo>
                  <a:cubicBezTo>
                    <a:pt x="326390" y="565605"/>
                    <a:pt x="322580" y="570685"/>
                    <a:pt x="322580" y="570685"/>
                  </a:cubicBezTo>
                  <a:cubicBezTo>
                    <a:pt x="322580" y="570685"/>
                    <a:pt x="317500" y="574495"/>
                    <a:pt x="314960" y="577035"/>
                  </a:cubicBezTo>
                  <a:cubicBezTo>
                    <a:pt x="311150" y="578305"/>
                    <a:pt x="306070" y="582115"/>
                    <a:pt x="306070" y="582115"/>
                  </a:cubicBezTo>
                  <a:cubicBezTo>
                    <a:pt x="306070" y="582115"/>
                    <a:pt x="299720" y="584655"/>
                    <a:pt x="297180" y="585925"/>
                  </a:cubicBezTo>
                  <a:cubicBezTo>
                    <a:pt x="293370" y="587195"/>
                    <a:pt x="288290" y="589735"/>
                    <a:pt x="288290" y="591005"/>
                  </a:cubicBezTo>
                  <a:cubicBezTo>
                    <a:pt x="287020" y="591005"/>
                    <a:pt x="279400" y="592275"/>
                    <a:pt x="278130" y="592275"/>
                  </a:cubicBezTo>
                  <a:cubicBezTo>
                    <a:pt x="276860" y="592275"/>
                    <a:pt x="276860" y="592275"/>
                    <a:pt x="276860" y="592275"/>
                  </a:cubicBezTo>
                  <a:cubicBezTo>
                    <a:pt x="273050" y="594815"/>
                    <a:pt x="262890" y="629105"/>
                    <a:pt x="252730" y="649425"/>
                  </a:cubicBezTo>
                  <a:cubicBezTo>
                    <a:pt x="240030" y="673555"/>
                    <a:pt x="207010" y="726895"/>
                    <a:pt x="205740" y="725625"/>
                  </a:cubicBezTo>
                  <a:cubicBezTo>
                    <a:pt x="204470" y="725625"/>
                    <a:pt x="203200" y="731975"/>
                    <a:pt x="201930" y="734515"/>
                  </a:cubicBezTo>
                  <a:cubicBezTo>
                    <a:pt x="199390" y="738325"/>
                    <a:pt x="196850" y="744675"/>
                    <a:pt x="196850" y="744675"/>
                  </a:cubicBezTo>
                  <a:cubicBezTo>
                    <a:pt x="196850" y="745945"/>
                    <a:pt x="193040" y="751025"/>
                    <a:pt x="190500" y="753565"/>
                  </a:cubicBezTo>
                  <a:cubicBezTo>
                    <a:pt x="187960" y="757375"/>
                    <a:pt x="184150" y="762455"/>
                    <a:pt x="184150" y="762455"/>
                  </a:cubicBezTo>
                  <a:cubicBezTo>
                    <a:pt x="184150" y="762455"/>
                    <a:pt x="177800" y="767535"/>
                    <a:pt x="175260" y="770075"/>
                  </a:cubicBezTo>
                  <a:cubicBezTo>
                    <a:pt x="172720" y="771345"/>
                    <a:pt x="166370" y="776425"/>
                    <a:pt x="166370" y="776425"/>
                  </a:cubicBezTo>
                  <a:cubicBezTo>
                    <a:pt x="166370" y="776425"/>
                    <a:pt x="160020" y="780235"/>
                    <a:pt x="156210" y="781505"/>
                  </a:cubicBezTo>
                  <a:cubicBezTo>
                    <a:pt x="153670" y="782775"/>
                    <a:pt x="147320" y="785315"/>
                    <a:pt x="146050" y="785315"/>
                  </a:cubicBezTo>
                  <a:cubicBezTo>
                    <a:pt x="146050" y="785315"/>
                    <a:pt x="139700" y="787855"/>
                    <a:pt x="135890" y="787855"/>
                  </a:cubicBezTo>
                  <a:cubicBezTo>
                    <a:pt x="132080" y="789125"/>
                    <a:pt x="125730" y="790395"/>
                    <a:pt x="124460" y="790395"/>
                  </a:cubicBezTo>
                  <a:cubicBezTo>
                    <a:pt x="124460" y="790395"/>
                    <a:pt x="118110" y="790395"/>
                    <a:pt x="114300" y="789125"/>
                  </a:cubicBezTo>
                  <a:cubicBezTo>
                    <a:pt x="110490" y="789125"/>
                    <a:pt x="102870" y="789125"/>
                    <a:pt x="102870" y="789125"/>
                  </a:cubicBezTo>
                  <a:cubicBezTo>
                    <a:pt x="102870" y="789125"/>
                    <a:pt x="96520" y="786585"/>
                    <a:pt x="92710" y="785315"/>
                  </a:cubicBezTo>
                  <a:cubicBezTo>
                    <a:pt x="88900" y="785315"/>
                    <a:pt x="82550" y="782775"/>
                    <a:pt x="81280" y="782775"/>
                  </a:cubicBezTo>
                  <a:cubicBezTo>
                    <a:pt x="81280" y="782775"/>
                    <a:pt x="59690" y="757375"/>
                    <a:pt x="48260" y="742135"/>
                  </a:cubicBezTo>
                  <a:cubicBezTo>
                    <a:pt x="33020" y="723085"/>
                    <a:pt x="0" y="678635"/>
                    <a:pt x="0" y="678635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 dirty="0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1300460" y="6697028"/>
            <a:ext cx="489585" cy="514350"/>
            <a:chOff x="0" y="0"/>
            <a:chExt cx="652780" cy="685800"/>
          </a:xfrm>
        </p:grpSpPr>
        <p:sp>
          <p:nvSpPr>
            <p:cNvPr id="19" name="Freeform 19"/>
            <p:cNvSpPr/>
            <p:nvPr/>
          </p:nvSpPr>
          <p:spPr>
            <a:xfrm>
              <a:off x="50712" y="50611"/>
              <a:ext cx="551333" cy="584686"/>
            </a:xfrm>
            <a:custGeom>
              <a:avLst/>
              <a:gdLst/>
              <a:ahLst/>
              <a:cxnLst/>
              <a:rect l="l" t="t" r="r" b="b"/>
              <a:pathLst>
                <a:path w="551333" h="584686">
                  <a:moveTo>
                    <a:pt x="534758" y="128459"/>
                  </a:moveTo>
                  <a:cubicBezTo>
                    <a:pt x="316318" y="477709"/>
                    <a:pt x="279488" y="522159"/>
                    <a:pt x="249008" y="520889"/>
                  </a:cubicBezTo>
                  <a:cubicBezTo>
                    <a:pt x="222338" y="518349"/>
                    <a:pt x="188048" y="477709"/>
                    <a:pt x="176618" y="445959"/>
                  </a:cubicBezTo>
                  <a:cubicBezTo>
                    <a:pt x="163918" y="410399"/>
                    <a:pt x="175348" y="351979"/>
                    <a:pt x="185508" y="315149"/>
                  </a:cubicBezTo>
                  <a:cubicBezTo>
                    <a:pt x="193128" y="287209"/>
                    <a:pt x="200748" y="261809"/>
                    <a:pt x="219798" y="244029"/>
                  </a:cubicBezTo>
                  <a:cubicBezTo>
                    <a:pt x="243928" y="222439"/>
                    <a:pt x="292188" y="195769"/>
                    <a:pt x="323938" y="200849"/>
                  </a:cubicBezTo>
                  <a:cubicBezTo>
                    <a:pt x="353148" y="205929"/>
                    <a:pt x="389978" y="240219"/>
                    <a:pt x="402678" y="269429"/>
                  </a:cubicBezTo>
                  <a:cubicBezTo>
                    <a:pt x="414108" y="297369"/>
                    <a:pt x="405218" y="341819"/>
                    <a:pt x="392518" y="372299"/>
                  </a:cubicBezTo>
                  <a:cubicBezTo>
                    <a:pt x="381088" y="401509"/>
                    <a:pt x="360768" y="421829"/>
                    <a:pt x="332828" y="447229"/>
                  </a:cubicBezTo>
                  <a:cubicBezTo>
                    <a:pt x="290918" y="486599"/>
                    <a:pt x="199478" y="546289"/>
                    <a:pt x="155028" y="567879"/>
                  </a:cubicBezTo>
                  <a:cubicBezTo>
                    <a:pt x="132168" y="578039"/>
                    <a:pt x="116928" y="583119"/>
                    <a:pt x="97878" y="584389"/>
                  </a:cubicBezTo>
                  <a:cubicBezTo>
                    <a:pt x="80098" y="584389"/>
                    <a:pt x="58508" y="581849"/>
                    <a:pt x="43268" y="572959"/>
                  </a:cubicBezTo>
                  <a:cubicBezTo>
                    <a:pt x="28028" y="564069"/>
                    <a:pt x="11518" y="547559"/>
                    <a:pt x="6438" y="529779"/>
                  </a:cubicBezTo>
                  <a:cubicBezTo>
                    <a:pt x="-1182" y="508189"/>
                    <a:pt x="88" y="467549"/>
                    <a:pt x="14058" y="447229"/>
                  </a:cubicBezTo>
                  <a:cubicBezTo>
                    <a:pt x="28028" y="426909"/>
                    <a:pt x="63588" y="410399"/>
                    <a:pt x="86448" y="407859"/>
                  </a:cubicBezTo>
                  <a:cubicBezTo>
                    <a:pt x="105498" y="406589"/>
                    <a:pt x="125818" y="412939"/>
                    <a:pt x="141058" y="425639"/>
                  </a:cubicBezTo>
                  <a:cubicBezTo>
                    <a:pt x="157568" y="440879"/>
                    <a:pt x="177888" y="475169"/>
                    <a:pt x="176618" y="500569"/>
                  </a:cubicBezTo>
                  <a:cubicBezTo>
                    <a:pt x="175348" y="524699"/>
                    <a:pt x="152488" y="557719"/>
                    <a:pt x="134708" y="571689"/>
                  </a:cubicBezTo>
                  <a:cubicBezTo>
                    <a:pt x="119468" y="583119"/>
                    <a:pt x="96608" y="585659"/>
                    <a:pt x="78828" y="584389"/>
                  </a:cubicBezTo>
                  <a:cubicBezTo>
                    <a:pt x="61048" y="583119"/>
                    <a:pt x="40728" y="572959"/>
                    <a:pt x="28028" y="561529"/>
                  </a:cubicBezTo>
                  <a:cubicBezTo>
                    <a:pt x="14058" y="548829"/>
                    <a:pt x="2628" y="531049"/>
                    <a:pt x="88" y="511999"/>
                  </a:cubicBezTo>
                  <a:cubicBezTo>
                    <a:pt x="-1182" y="489139"/>
                    <a:pt x="11518" y="449769"/>
                    <a:pt x="26758" y="433259"/>
                  </a:cubicBezTo>
                  <a:cubicBezTo>
                    <a:pt x="38188" y="418019"/>
                    <a:pt x="61048" y="410399"/>
                    <a:pt x="77558" y="407859"/>
                  </a:cubicBezTo>
                  <a:cubicBezTo>
                    <a:pt x="90258" y="406589"/>
                    <a:pt x="100418" y="416749"/>
                    <a:pt x="113118" y="412939"/>
                  </a:cubicBezTo>
                  <a:cubicBezTo>
                    <a:pt x="133438" y="405319"/>
                    <a:pt x="153758" y="354519"/>
                    <a:pt x="179158" y="341819"/>
                  </a:cubicBezTo>
                  <a:cubicBezTo>
                    <a:pt x="203288" y="330389"/>
                    <a:pt x="231228" y="330389"/>
                    <a:pt x="257898" y="332929"/>
                  </a:cubicBezTo>
                  <a:cubicBezTo>
                    <a:pt x="287108" y="335469"/>
                    <a:pt x="339178" y="343089"/>
                    <a:pt x="348068" y="362139"/>
                  </a:cubicBezTo>
                  <a:cubicBezTo>
                    <a:pt x="355688" y="377379"/>
                    <a:pt x="335368" y="425639"/>
                    <a:pt x="317588" y="431989"/>
                  </a:cubicBezTo>
                  <a:cubicBezTo>
                    <a:pt x="295998" y="439609"/>
                    <a:pt x="226148" y="409129"/>
                    <a:pt x="214718" y="377379"/>
                  </a:cubicBezTo>
                  <a:cubicBezTo>
                    <a:pt x="199478" y="329119"/>
                    <a:pt x="292188" y="203389"/>
                    <a:pt x="331558" y="138619"/>
                  </a:cubicBezTo>
                  <a:cubicBezTo>
                    <a:pt x="363308" y="89089"/>
                    <a:pt x="396328" y="37019"/>
                    <a:pt x="425538" y="16699"/>
                  </a:cubicBezTo>
                  <a:cubicBezTo>
                    <a:pt x="444588" y="3999"/>
                    <a:pt x="462368" y="-1081"/>
                    <a:pt x="478878" y="189"/>
                  </a:cubicBezTo>
                  <a:cubicBezTo>
                    <a:pt x="496658" y="1459"/>
                    <a:pt x="516978" y="11619"/>
                    <a:pt x="529678" y="24319"/>
                  </a:cubicBezTo>
                  <a:cubicBezTo>
                    <a:pt x="541108" y="37019"/>
                    <a:pt x="551268" y="57339"/>
                    <a:pt x="551268" y="75119"/>
                  </a:cubicBezTo>
                  <a:cubicBezTo>
                    <a:pt x="552538" y="92899"/>
                    <a:pt x="534758" y="128459"/>
                    <a:pt x="534758" y="128459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 dirty="0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0804207" y="7057072"/>
            <a:ext cx="410528" cy="241935"/>
            <a:chOff x="0" y="0"/>
            <a:chExt cx="547370" cy="322580"/>
          </a:xfrm>
        </p:grpSpPr>
        <p:sp>
          <p:nvSpPr>
            <p:cNvPr id="21" name="Freeform 21"/>
            <p:cNvSpPr/>
            <p:nvPr/>
          </p:nvSpPr>
          <p:spPr>
            <a:xfrm>
              <a:off x="50360" y="50471"/>
              <a:ext cx="445102" cy="220039"/>
            </a:xfrm>
            <a:custGeom>
              <a:avLst/>
              <a:gdLst/>
              <a:ahLst/>
              <a:cxnLst/>
              <a:rect l="l" t="t" r="r" b="b"/>
              <a:pathLst>
                <a:path w="445102" h="220039">
                  <a:moveTo>
                    <a:pt x="213800" y="152729"/>
                  </a:moveTo>
                  <a:cubicBezTo>
                    <a:pt x="72830" y="208609"/>
                    <a:pt x="53780" y="207339"/>
                    <a:pt x="39810" y="197179"/>
                  </a:cubicBezTo>
                  <a:cubicBezTo>
                    <a:pt x="22030" y="185749"/>
                    <a:pt x="2980" y="155269"/>
                    <a:pt x="440" y="133679"/>
                  </a:cubicBezTo>
                  <a:cubicBezTo>
                    <a:pt x="-2100" y="115899"/>
                    <a:pt x="6790" y="94309"/>
                    <a:pt x="15680" y="80339"/>
                  </a:cubicBezTo>
                  <a:cubicBezTo>
                    <a:pt x="23300" y="68909"/>
                    <a:pt x="32190" y="60019"/>
                    <a:pt x="46160" y="56209"/>
                  </a:cubicBezTo>
                  <a:cubicBezTo>
                    <a:pt x="65210" y="51129"/>
                    <a:pt x="95690" y="67639"/>
                    <a:pt x="128710" y="66369"/>
                  </a:cubicBezTo>
                  <a:cubicBezTo>
                    <a:pt x="176970" y="63829"/>
                    <a:pt x="260790" y="33349"/>
                    <a:pt x="309050" y="28269"/>
                  </a:cubicBezTo>
                  <a:cubicBezTo>
                    <a:pt x="339530" y="25729"/>
                    <a:pt x="366200" y="23189"/>
                    <a:pt x="387790" y="30809"/>
                  </a:cubicBezTo>
                  <a:cubicBezTo>
                    <a:pt x="404300" y="37159"/>
                    <a:pt x="420810" y="48589"/>
                    <a:pt x="429700" y="62559"/>
                  </a:cubicBezTo>
                  <a:cubicBezTo>
                    <a:pt x="439860" y="76529"/>
                    <a:pt x="446210" y="96849"/>
                    <a:pt x="444940" y="113359"/>
                  </a:cubicBezTo>
                  <a:cubicBezTo>
                    <a:pt x="444940" y="129869"/>
                    <a:pt x="438590" y="150189"/>
                    <a:pt x="425890" y="162889"/>
                  </a:cubicBezTo>
                  <a:cubicBezTo>
                    <a:pt x="411920" y="178129"/>
                    <a:pt x="377630" y="194639"/>
                    <a:pt x="354770" y="192099"/>
                  </a:cubicBezTo>
                  <a:cubicBezTo>
                    <a:pt x="331910" y="190829"/>
                    <a:pt x="300160" y="170509"/>
                    <a:pt x="290000" y="150189"/>
                  </a:cubicBezTo>
                  <a:cubicBezTo>
                    <a:pt x="278570" y="129869"/>
                    <a:pt x="277300" y="93039"/>
                    <a:pt x="288730" y="72719"/>
                  </a:cubicBezTo>
                  <a:cubicBezTo>
                    <a:pt x="298890" y="52399"/>
                    <a:pt x="329370" y="30809"/>
                    <a:pt x="352230" y="28269"/>
                  </a:cubicBezTo>
                  <a:cubicBezTo>
                    <a:pt x="375090" y="24459"/>
                    <a:pt x="409380" y="38429"/>
                    <a:pt x="424620" y="54939"/>
                  </a:cubicBezTo>
                  <a:cubicBezTo>
                    <a:pt x="439860" y="72719"/>
                    <a:pt x="448750" y="108279"/>
                    <a:pt x="442400" y="131139"/>
                  </a:cubicBezTo>
                  <a:cubicBezTo>
                    <a:pt x="437320" y="152729"/>
                    <a:pt x="411920" y="178129"/>
                    <a:pt x="390330" y="188289"/>
                  </a:cubicBezTo>
                  <a:cubicBezTo>
                    <a:pt x="366200" y="198449"/>
                    <a:pt x="334450" y="187019"/>
                    <a:pt x="303970" y="190829"/>
                  </a:cubicBezTo>
                  <a:cubicBezTo>
                    <a:pt x="269680" y="195909"/>
                    <a:pt x="227770" y="220039"/>
                    <a:pt x="193480" y="220039"/>
                  </a:cubicBezTo>
                  <a:cubicBezTo>
                    <a:pt x="164270" y="220039"/>
                    <a:pt x="135060" y="200989"/>
                    <a:pt x="113470" y="199719"/>
                  </a:cubicBezTo>
                  <a:cubicBezTo>
                    <a:pt x="98230" y="199719"/>
                    <a:pt x="89340" y="209879"/>
                    <a:pt x="75370" y="207339"/>
                  </a:cubicBezTo>
                  <a:cubicBezTo>
                    <a:pt x="56320" y="204799"/>
                    <a:pt x="24570" y="187019"/>
                    <a:pt x="11870" y="170509"/>
                  </a:cubicBezTo>
                  <a:cubicBezTo>
                    <a:pt x="1710" y="155269"/>
                    <a:pt x="-2100" y="132409"/>
                    <a:pt x="1710" y="114629"/>
                  </a:cubicBezTo>
                  <a:cubicBezTo>
                    <a:pt x="4250" y="98119"/>
                    <a:pt x="15680" y="80339"/>
                    <a:pt x="29650" y="66369"/>
                  </a:cubicBezTo>
                  <a:cubicBezTo>
                    <a:pt x="47430" y="48589"/>
                    <a:pt x="80450" y="32079"/>
                    <a:pt x="107120" y="20649"/>
                  </a:cubicBezTo>
                  <a:cubicBezTo>
                    <a:pt x="133790" y="10489"/>
                    <a:pt x="163000" y="-2211"/>
                    <a:pt x="188400" y="329"/>
                  </a:cubicBezTo>
                  <a:cubicBezTo>
                    <a:pt x="211260" y="1599"/>
                    <a:pt x="241740" y="13029"/>
                    <a:pt x="254440" y="30809"/>
                  </a:cubicBezTo>
                  <a:cubicBezTo>
                    <a:pt x="267140" y="47319"/>
                    <a:pt x="273490" y="81609"/>
                    <a:pt x="265870" y="103199"/>
                  </a:cubicBezTo>
                  <a:cubicBezTo>
                    <a:pt x="259520" y="123519"/>
                    <a:pt x="213800" y="152729"/>
                    <a:pt x="213800" y="152729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 dirty="0"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1583352" y="6634162"/>
            <a:ext cx="262890" cy="383858"/>
            <a:chOff x="0" y="0"/>
            <a:chExt cx="350520" cy="511810"/>
          </a:xfrm>
        </p:grpSpPr>
        <p:sp>
          <p:nvSpPr>
            <p:cNvPr id="23" name="Freeform 23"/>
            <p:cNvSpPr/>
            <p:nvPr/>
          </p:nvSpPr>
          <p:spPr>
            <a:xfrm>
              <a:off x="50476" y="49041"/>
              <a:ext cx="248853" cy="412617"/>
            </a:xfrm>
            <a:custGeom>
              <a:avLst/>
              <a:gdLst/>
              <a:ahLst/>
              <a:cxnLst/>
              <a:rect l="l" t="t" r="r" b="b"/>
              <a:pathLst>
                <a:path w="248853" h="412617">
                  <a:moveTo>
                    <a:pt x="18104" y="334499"/>
                  </a:moveTo>
                  <a:cubicBezTo>
                    <a:pt x="29534" y="180829"/>
                    <a:pt x="82874" y="206229"/>
                    <a:pt x="82874" y="204959"/>
                  </a:cubicBezTo>
                  <a:cubicBezTo>
                    <a:pt x="84144" y="203689"/>
                    <a:pt x="42234" y="196069"/>
                    <a:pt x="28264" y="185909"/>
                  </a:cubicBezTo>
                  <a:cubicBezTo>
                    <a:pt x="18104" y="177019"/>
                    <a:pt x="10484" y="165589"/>
                    <a:pt x="6674" y="154159"/>
                  </a:cubicBezTo>
                  <a:cubicBezTo>
                    <a:pt x="1594" y="141459"/>
                    <a:pt x="-946" y="128759"/>
                    <a:pt x="324" y="114789"/>
                  </a:cubicBezTo>
                  <a:cubicBezTo>
                    <a:pt x="4134" y="98279"/>
                    <a:pt x="14294" y="75419"/>
                    <a:pt x="26994" y="62719"/>
                  </a:cubicBezTo>
                  <a:cubicBezTo>
                    <a:pt x="39694" y="51289"/>
                    <a:pt x="60014" y="39859"/>
                    <a:pt x="80334" y="42399"/>
                  </a:cubicBezTo>
                  <a:cubicBezTo>
                    <a:pt x="113354" y="46209"/>
                    <a:pt x="184474" y="98279"/>
                    <a:pt x="200984" y="132569"/>
                  </a:cubicBezTo>
                  <a:cubicBezTo>
                    <a:pt x="211144" y="155429"/>
                    <a:pt x="206064" y="189719"/>
                    <a:pt x="195904" y="208769"/>
                  </a:cubicBezTo>
                  <a:cubicBezTo>
                    <a:pt x="187014" y="225279"/>
                    <a:pt x="165424" y="239249"/>
                    <a:pt x="150184" y="245599"/>
                  </a:cubicBezTo>
                  <a:cubicBezTo>
                    <a:pt x="137484" y="250679"/>
                    <a:pt x="123514" y="250679"/>
                    <a:pt x="110814" y="248139"/>
                  </a:cubicBezTo>
                  <a:cubicBezTo>
                    <a:pt x="94304" y="244329"/>
                    <a:pt x="72714" y="232899"/>
                    <a:pt x="60014" y="217659"/>
                  </a:cubicBezTo>
                  <a:cubicBezTo>
                    <a:pt x="44774" y="198609"/>
                    <a:pt x="32074" y="159239"/>
                    <a:pt x="30804" y="137649"/>
                  </a:cubicBezTo>
                  <a:cubicBezTo>
                    <a:pt x="29534" y="122409"/>
                    <a:pt x="32074" y="110979"/>
                    <a:pt x="38424" y="98279"/>
                  </a:cubicBezTo>
                  <a:cubicBezTo>
                    <a:pt x="46044" y="83039"/>
                    <a:pt x="65094" y="63989"/>
                    <a:pt x="80334" y="56369"/>
                  </a:cubicBezTo>
                  <a:cubicBezTo>
                    <a:pt x="91764" y="50019"/>
                    <a:pt x="107004" y="48749"/>
                    <a:pt x="119704" y="50019"/>
                  </a:cubicBezTo>
                  <a:cubicBezTo>
                    <a:pt x="132404" y="50019"/>
                    <a:pt x="146374" y="53829"/>
                    <a:pt x="157804" y="61449"/>
                  </a:cubicBezTo>
                  <a:cubicBezTo>
                    <a:pt x="171774" y="71609"/>
                    <a:pt x="188284" y="95739"/>
                    <a:pt x="193364" y="108439"/>
                  </a:cubicBezTo>
                  <a:cubicBezTo>
                    <a:pt x="197174" y="116059"/>
                    <a:pt x="200984" y="123679"/>
                    <a:pt x="197174" y="127489"/>
                  </a:cubicBezTo>
                  <a:cubicBezTo>
                    <a:pt x="188284" y="136379"/>
                    <a:pt x="110814" y="98279"/>
                    <a:pt x="99384" y="110979"/>
                  </a:cubicBezTo>
                  <a:cubicBezTo>
                    <a:pt x="90494" y="119869"/>
                    <a:pt x="115894" y="163049"/>
                    <a:pt x="110814" y="168129"/>
                  </a:cubicBezTo>
                  <a:cubicBezTo>
                    <a:pt x="105734" y="171939"/>
                    <a:pt x="93034" y="165589"/>
                    <a:pt x="84144" y="157969"/>
                  </a:cubicBezTo>
                  <a:cubicBezTo>
                    <a:pt x="70174" y="146539"/>
                    <a:pt x="46044" y="112249"/>
                    <a:pt x="43504" y="90659"/>
                  </a:cubicBezTo>
                  <a:cubicBezTo>
                    <a:pt x="40964" y="71609"/>
                    <a:pt x="48584" y="52559"/>
                    <a:pt x="57474" y="37319"/>
                  </a:cubicBezTo>
                  <a:cubicBezTo>
                    <a:pt x="67634" y="23349"/>
                    <a:pt x="84144" y="10649"/>
                    <a:pt x="100654" y="4299"/>
                  </a:cubicBezTo>
                  <a:cubicBezTo>
                    <a:pt x="117164" y="-781"/>
                    <a:pt x="138754" y="-2051"/>
                    <a:pt x="155264" y="4299"/>
                  </a:cubicBezTo>
                  <a:cubicBezTo>
                    <a:pt x="175584" y="13189"/>
                    <a:pt x="203524" y="39859"/>
                    <a:pt x="209874" y="62719"/>
                  </a:cubicBezTo>
                  <a:cubicBezTo>
                    <a:pt x="216224" y="85579"/>
                    <a:pt x="206064" y="122409"/>
                    <a:pt x="193364" y="140189"/>
                  </a:cubicBezTo>
                  <a:cubicBezTo>
                    <a:pt x="183204" y="155429"/>
                    <a:pt x="164154" y="164319"/>
                    <a:pt x="146374" y="168129"/>
                  </a:cubicBezTo>
                  <a:cubicBezTo>
                    <a:pt x="129864" y="171939"/>
                    <a:pt x="108274" y="171939"/>
                    <a:pt x="93034" y="163049"/>
                  </a:cubicBezTo>
                  <a:cubicBezTo>
                    <a:pt x="73984" y="151619"/>
                    <a:pt x="48584" y="122409"/>
                    <a:pt x="44774" y="99549"/>
                  </a:cubicBezTo>
                  <a:cubicBezTo>
                    <a:pt x="40964" y="76689"/>
                    <a:pt x="52394" y="39859"/>
                    <a:pt x="70174" y="23349"/>
                  </a:cubicBezTo>
                  <a:cubicBezTo>
                    <a:pt x="86684" y="8109"/>
                    <a:pt x="120974" y="-4591"/>
                    <a:pt x="146374" y="1759"/>
                  </a:cubicBezTo>
                  <a:cubicBezTo>
                    <a:pt x="181934" y="11919"/>
                    <a:pt x="242894" y="76689"/>
                    <a:pt x="247974" y="117329"/>
                  </a:cubicBezTo>
                  <a:cubicBezTo>
                    <a:pt x="254324" y="152889"/>
                    <a:pt x="225114" y="210039"/>
                    <a:pt x="198444" y="226549"/>
                  </a:cubicBezTo>
                  <a:cubicBezTo>
                    <a:pt x="171774" y="241789"/>
                    <a:pt x="118434" y="236709"/>
                    <a:pt x="90494" y="221469"/>
                  </a:cubicBezTo>
                  <a:cubicBezTo>
                    <a:pt x="63824" y="207499"/>
                    <a:pt x="35884" y="160509"/>
                    <a:pt x="30804" y="137649"/>
                  </a:cubicBezTo>
                  <a:cubicBezTo>
                    <a:pt x="26994" y="122409"/>
                    <a:pt x="33344" y="109709"/>
                    <a:pt x="38424" y="98279"/>
                  </a:cubicBezTo>
                  <a:cubicBezTo>
                    <a:pt x="43504" y="86849"/>
                    <a:pt x="52394" y="74149"/>
                    <a:pt x="62554" y="66529"/>
                  </a:cubicBezTo>
                  <a:cubicBezTo>
                    <a:pt x="72714" y="58909"/>
                    <a:pt x="85414" y="52559"/>
                    <a:pt x="99384" y="51289"/>
                  </a:cubicBezTo>
                  <a:cubicBezTo>
                    <a:pt x="115894" y="48749"/>
                    <a:pt x="142564" y="53829"/>
                    <a:pt x="157804" y="61449"/>
                  </a:cubicBezTo>
                  <a:cubicBezTo>
                    <a:pt x="169234" y="67799"/>
                    <a:pt x="178124" y="77959"/>
                    <a:pt x="185744" y="89389"/>
                  </a:cubicBezTo>
                  <a:cubicBezTo>
                    <a:pt x="194634" y="105899"/>
                    <a:pt x="206064" y="130029"/>
                    <a:pt x="206064" y="151619"/>
                  </a:cubicBezTo>
                  <a:cubicBezTo>
                    <a:pt x="207334" y="174479"/>
                    <a:pt x="199714" y="208769"/>
                    <a:pt x="183204" y="224009"/>
                  </a:cubicBezTo>
                  <a:cubicBezTo>
                    <a:pt x="167964" y="240519"/>
                    <a:pt x="132404" y="250679"/>
                    <a:pt x="110814" y="248139"/>
                  </a:cubicBezTo>
                  <a:cubicBezTo>
                    <a:pt x="91764" y="245599"/>
                    <a:pt x="58744" y="221469"/>
                    <a:pt x="60014" y="217659"/>
                  </a:cubicBezTo>
                  <a:cubicBezTo>
                    <a:pt x="61284" y="212579"/>
                    <a:pt x="152724" y="239249"/>
                    <a:pt x="152724" y="236709"/>
                  </a:cubicBezTo>
                  <a:cubicBezTo>
                    <a:pt x="153994" y="234169"/>
                    <a:pt x="71444" y="213849"/>
                    <a:pt x="44774" y="196069"/>
                  </a:cubicBezTo>
                  <a:cubicBezTo>
                    <a:pt x="26994" y="184639"/>
                    <a:pt x="13024" y="170669"/>
                    <a:pt x="6674" y="154159"/>
                  </a:cubicBezTo>
                  <a:cubicBezTo>
                    <a:pt x="-946" y="136379"/>
                    <a:pt x="324" y="112249"/>
                    <a:pt x="5404" y="95739"/>
                  </a:cubicBezTo>
                  <a:cubicBezTo>
                    <a:pt x="9214" y="83039"/>
                    <a:pt x="16834" y="71609"/>
                    <a:pt x="26994" y="62719"/>
                  </a:cubicBezTo>
                  <a:cubicBezTo>
                    <a:pt x="39694" y="52559"/>
                    <a:pt x="62554" y="38589"/>
                    <a:pt x="80334" y="42399"/>
                  </a:cubicBezTo>
                  <a:cubicBezTo>
                    <a:pt x="103194" y="46209"/>
                    <a:pt x="129864" y="76689"/>
                    <a:pt x="146374" y="100819"/>
                  </a:cubicBezTo>
                  <a:cubicBezTo>
                    <a:pt x="162884" y="126219"/>
                    <a:pt x="171774" y="157969"/>
                    <a:pt x="176854" y="190989"/>
                  </a:cubicBezTo>
                  <a:cubicBezTo>
                    <a:pt x="183204" y="232899"/>
                    <a:pt x="181934" y="298939"/>
                    <a:pt x="174314" y="334499"/>
                  </a:cubicBezTo>
                  <a:cubicBezTo>
                    <a:pt x="170504" y="356089"/>
                    <a:pt x="166694" y="373869"/>
                    <a:pt x="155264" y="386569"/>
                  </a:cubicBezTo>
                  <a:cubicBezTo>
                    <a:pt x="143834" y="399269"/>
                    <a:pt x="123514" y="410699"/>
                    <a:pt x="105734" y="411969"/>
                  </a:cubicBezTo>
                  <a:cubicBezTo>
                    <a:pt x="89224" y="414509"/>
                    <a:pt x="66364" y="409429"/>
                    <a:pt x="52394" y="399269"/>
                  </a:cubicBezTo>
                  <a:cubicBezTo>
                    <a:pt x="35884" y="386569"/>
                    <a:pt x="18104" y="334499"/>
                    <a:pt x="18104" y="334499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 dirty="0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1657648" y="6711315"/>
            <a:ext cx="188595" cy="184785"/>
            <a:chOff x="0" y="0"/>
            <a:chExt cx="251460" cy="246380"/>
          </a:xfrm>
        </p:grpSpPr>
        <p:sp>
          <p:nvSpPr>
            <p:cNvPr id="25" name="Freeform 25"/>
            <p:cNvSpPr/>
            <p:nvPr/>
          </p:nvSpPr>
          <p:spPr>
            <a:xfrm>
              <a:off x="50636" y="50746"/>
              <a:ext cx="148754" cy="147163"/>
            </a:xfrm>
            <a:custGeom>
              <a:avLst/>
              <a:gdLst/>
              <a:ahLst/>
              <a:cxnLst/>
              <a:rect l="l" t="t" r="r" b="b"/>
              <a:pathLst>
                <a:path w="148754" h="147163">
                  <a:moveTo>
                    <a:pt x="148754" y="52124"/>
                  </a:moveTo>
                  <a:cubicBezTo>
                    <a:pt x="129704" y="133404"/>
                    <a:pt x="119544" y="139754"/>
                    <a:pt x="106844" y="143564"/>
                  </a:cubicBezTo>
                  <a:cubicBezTo>
                    <a:pt x="89064" y="149914"/>
                    <a:pt x="53504" y="147374"/>
                    <a:pt x="36994" y="139754"/>
                  </a:cubicBezTo>
                  <a:cubicBezTo>
                    <a:pt x="24294" y="134674"/>
                    <a:pt x="16674" y="124514"/>
                    <a:pt x="10324" y="114354"/>
                  </a:cubicBezTo>
                  <a:cubicBezTo>
                    <a:pt x="5244" y="104194"/>
                    <a:pt x="-1106" y="92764"/>
                    <a:pt x="164" y="78794"/>
                  </a:cubicBezTo>
                  <a:cubicBezTo>
                    <a:pt x="1434" y="61014"/>
                    <a:pt x="15404" y="27994"/>
                    <a:pt x="29374" y="14024"/>
                  </a:cubicBezTo>
                  <a:cubicBezTo>
                    <a:pt x="38264" y="5134"/>
                    <a:pt x="49694" y="54"/>
                    <a:pt x="62394" y="54"/>
                  </a:cubicBezTo>
                  <a:cubicBezTo>
                    <a:pt x="80174" y="-1216"/>
                    <a:pt x="129704" y="20374"/>
                    <a:pt x="129704" y="20374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 dirty="0"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1669078" y="6711315"/>
            <a:ext cx="188595" cy="184785"/>
            <a:chOff x="0" y="0"/>
            <a:chExt cx="251460" cy="246380"/>
          </a:xfrm>
        </p:grpSpPr>
        <p:sp>
          <p:nvSpPr>
            <p:cNvPr id="27" name="Freeform 27"/>
            <p:cNvSpPr/>
            <p:nvPr/>
          </p:nvSpPr>
          <p:spPr>
            <a:xfrm>
              <a:off x="50604" y="50746"/>
              <a:ext cx="148786" cy="147163"/>
            </a:xfrm>
            <a:custGeom>
              <a:avLst/>
              <a:gdLst/>
              <a:ahLst/>
              <a:cxnLst/>
              <a:rect l="l" t="t" r="r" b="b"/>
              <a:pathLst>
                <a:path w="148786" h="147163">
                  <a:moveTo>
                    <a:pt x="148786" y="52124"/>
                  </a:moveTo>
                  <a:cubicBezTo>
                    <a:pt x="128466" y="133404"/>
                    <a:pt x="119576" y="139754"/>
                    <a:pt x="106876" y="143564"/>
                  </a:cubicBezTo>
                  <a:cubicBezTo>
                    <a:pt x="89096" y="149914"/>
                    <a:pt x="53536" y="147374"/>
                    <a:pt x="35756" y="139754"/>
                  </a:cubicBezTo>
                  <a:cubicBezTo>
                    <a:pt x="24326" y="134674"/>
                    <a:pt x="16706" y="124514"/>
                    <a:pt x="10356" y="114354"/>
                  </a:cubicBezTo>
                  <a:cubicBezTo>
                    <a:pt x="4006" y="104194"/>
                    <a:pt x="-1074" y="92764"/>
                    <a:pt x="196" y="78794"/>
                  </a:cubicBezTo>
                  <a:cubicBezTo>
                    <a:pt x="196" y="61014"/>
                    <a:pt x="15436" y="27994"/>
                    <a:pt x="28136" y="14024"/>
                  </a:cubicBezTo>
                  <a:cubicBezTo>
                    <a:pt x="38296" y="5134"/>
                    <a:pt x="48456" y="54"/>
                    <a:pt x="62426" y="54"/>
                  </a:cubicBezTo>
                  <a:cubicBezTo>
                    <a:pt x="80206" y="-1216"/>
                    <a:pt x="129736" y="20374"/>
                    <a:pt x="129736" y="20374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 dirty="0"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1669078" y="6676072"/>
            <a:ext cx="188595" cy="184785"/>
            <a:chOff x="0" y="0"/>
            <a:chExt cx="251460" cy="246380"/>
          </a:xfrm>
        </p:grpSpPr>
        <p:sp>
          <p:nvSpPr>
            <p:cNvPr id="29" name="Freeform 29"/>
            <p:cNvSpPr/>
            <p:nvPr/>
          </p:nvSpPr>
          <p:spPr>
            <a:xfrm>
              <a:off x="50604" y="50746"/>
              <a:ext cx="148786" cy="147163"/>
            </a:xfrm>
            <a:custGeom>
              <a:avLst/>
              <a:gdLst/>
              <a:ahLst/>
              <a:cxnLst/>
              <a:rect l="l" t="t" r="r" b="b"/>
              <a:pathLst>
                <a:path w="148786" h="147163">
                  <a:moveTo>
                    <a:pt x="148786" y="52124"/>
                  </a:moveTo>
                  <a:cubicBezTo>
                    <a:pt x="128466" y="133404"/>
                    <a:pt x="119576" y="139754"/>
                    <a:pt x="106876" y="143564"/>
                  </a:cubicBezTo>
                  <a:cubicBezTo>
                    <a:pt x="89096" y="149914"/>
                    <a:pt x="53536" y="147374"/>
                    <a:pt x="35756" y="139754"/>
                  </a:cubicBezTo>
                  <a:cubicBezTo>
                    <a:pt x="24326" y="134674"/>
                    <a:pt x="16706" y="124514"/>
                    <a:pt x="10356" y="114354"/>
                  </a:cubicBezTo>
                  <a:cubicBezTo>
                    <a:pt x="4006" y="104194"/>
                    <a:pt x="-1074" y="92764"/>
                    <a:pt x="196" y="78794"/>
                  </a:cubicBezTo>
                  <a:cubicBezTo>
                    <a:pt x="196" y="61014"/>
                    <a:pt x="15436" y="27994"/>
                    <a:pt x="28136" y="14024"/>
                  </a:cubicBezTo>
                  <a:cubicBezTo>
                    <a:pt x="38296" y="5134"/>
                    <a:pt x="48456" y="54"/>
                    <a:pt x="62426" y="54"/>
                  </a:cubicBezTo>
                  <a:cubicBezTo>
                    <a:pt x="80206" y="-1216"/>
                    <a:pt x="129736" y="20374"/>
                    <a:pt x="129736" y="20374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 dirty="0"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1669078" y="6653212"/>
            <a:ext cx="188595" cy="184785"/>
            <a:chOff x="0" y="0"/>
            <a:chExt cx="251460" cy="246380"/>
          </a:xfrm>
        </p:grpSpPr>
        <p:sp>
          <p:nvSpPr>
            <p:cNvPr id="31" name="Freeform 31"/>
            <p:cNvSpPr/>
            <p:nvPr/>
          </p:nvSpPr>
          <p:spPr>
            <a:xfrm>
              <a:off x="50604" y="50749"/>
              <a:ext cx="148786" cy="147879"/>
            </a:xfrm>
            <a:custGeom>
              <a:avLst/>
              <a:gdLst/>
              <a:ahLst/>
              <a:cxnLst/>
              <a:rect l="l" t="t" r="r" b="b"/>
              <a:pathLst>
                <a:path w="148786" h="147879">
                  <a:moveTo>
                    <a:pt x="148786" y="52121"/>
                  </a:moveTo>
                  <a:cubicBezTo>
                    <a:pt x="128466" y="133401"/>
                    <a:pt x="119576" y="141021"/>
                    <a:pt x="106876" y="144831"/>
                  </a:cubicBezTo>
                  <a:cubicBezTo>
                    <a:pt x="89096" y="149911"/>
                    <a:pt x="53536" y="148641"/>
                    <a:pt x="35756" y="141021"/>
                  </a:cubicBezTo>
                  <a:cubicBezTo>
                    <a:pt x="24326" y="134671"/>
                    <a:pt x="16706" y="124511"/>
                    <a:pt x="10356" y="114351"/>
                  </a:cubicBezTo>
                  <a:cubicBezTo>
                    <a:pt x="4006" y="104191"/>
                    <a:pt x="-1074" y="92761"/>
                    <a:pt x="196" y="80061"/>
                  </a:cubicBezTo>
                  <a:cubicBezTo>
                    <a:pt x="196" y="61011"/>
                    <a:pt x="15436" y="27991"/>
                    <a:pt x="28136" y="15291"/>
                  </a:cubicBezTo>
                  <a:cubicBezTo>
                    <a:pt x="38296" y="6401"/>
                    <a:pt x="48456" y="1321"/>
                    <a:pt x="62426" y="51"/>
                  </a:cubicBezTo>
                  <a:cubicBezTo>
                    <a:pt x="80206" y="-1219"/>
                    <a:pt x="129736" y="21641"/>
                    <a:pt x="129736" y="21641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 dirty="0"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1669078" y="6686550"/>
            <a:ext cx="188595" cy="184785"/>
            <a:chOff x="0" y="0"/>
            <a:chExt cx="251460" cy="246380"/>
          </a:xfrm>
        </p:grpSpPr>
        <p:sp>
          <p:nvSpPr>
            <p:cNvPr id="33" name="Freeform 33"/>
            <p:cNvSpPr/>
            <p:nvPr/>
          </p:nvSpPr>
          <p:spPr>
            <a:xfrm>
              <a:off x="50604" y="50800"/>
              <a:ext cx="148786" cy="148379"/>
            </a:xfrm>
            <a:custGeom>
              <a:avLst/>
              <a:gdLst/>
              <a:ahLst/>
              <a:cxnLst/>
              <a:rect l="l" t="t" r="r" b="b"/>
              <a:pathLst>
                <a:path w="148786" h="148379">
                  <a:moveTo>
                    <a:pt x="148786" y="53340"/>
                  </a:moveTo>
                  <a:cubicBezTo>
                    <a:pt x="128466" y="133350"/>
                    <a:pt x="119576" y="140970"/>
                    <a:pt x="106876" y="144780"/>
                  </a:cubicBezTo>
                  <a:cubicBezTo>
                    <a:pt x="89096" y="151130"/>
                    <a:pt x="53536" y="148590"/>
                    <a:pt x="35756" y="140970"/>
                  </a:cubicBezTo>
                  <a:cubicBezTo>
                    <a:pt x="24326" y="135890"/>
                    <a:pt x="16706" y="124460"/>
                    <a:pt x="10356" y="114300"/>
                  </a:cubicBezTo>
                  <a:cubicBezTo>
                    <a:pt x="4006" y="105410"/>
                    <a:pt x="-1074" y="92710"/>
                    <a:pt x="196" y="80010"/>
                  </a:cubicBezTo>
                  <a:cubicBezTo>
                    <a:pt x="196" y="62230"/>
                    <a:pt x="15436" y="27940"/>
                    <a:pt x="28136" y="15240"/>
                  </a:cubicBezTo>
                  <a:cubicBezTo>
                    <a:pt x="38296" y="6350"/>
                    <a:pt x="48456" y="1270"/>
                    <a:pt x="62426" y="0"/>
                  </a:cubicBezTo>
                  <a:cubicBezTo>
                    <a:pt x="80206" y="0"/>
                    <a:pt x="129736" y="21590"/>
                    <a:pt x="129736" y="21590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 dirty="0"/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1679555" y="6686550"/>
            <a:ext cx="188595" cy="184785"/>
            <a:chOff x="0" y="0"/>
            <a:chExt cx="251460" cy="246380"/>
          </a:xfrm>
        </p:grpSpPr>
        <p:sp>
          <p:nvSpPr>
            <p:cNvPr id="35" name="Freeform 35"/>
            <p:cNvSpPr/>
            <p:nvPr/>
          </p:nvSpPr>
          <p:spPr>
            <a:xfrm>
              <a:off x="50800" y="50800"/>
              <a:ext cx="148590" cy="148379"/>
            </a:xfrm>
            <a:custGeom>
              <a:avLst/>
              <a:gdLst/>
              <a:ahLst/>
              <a:cxnLst/>
              <a:rect l="l" t="t" r="r" b="b"/>
              <a:pathLst>
                <a:path w="148590" h="148379">
                  <a:moveTo>
                    <a:pt x="148590" y="53340"/>
                  </a:moveTo>
                  <a:cubicBezTo>
                    <a:pt x="129540" y="133350"/>
                    <a:pt x="120650" y="140970"/>
                    <a:pt x="107950" y="144780"/>
                  </a:cubicBezTo>
                  <a:cubicBezTo>
                    <a:pt x="90170" y="151130"/>
                    <a:pt x="53340" y="148590"/>
                    <a:pt x="36830" y="140970"/>
                  </a:cubicBezTo>
                  <a:cubicBezTo>
                    <a:pt x="25400" y="135890"/>
                    <a:pt x="17780" y="124460"/>
                    <a:pt x="11430" y="114300"/>
                  </a:cubicBezTo>
                  <a:cubicBezTo>
                    <a:pt x="5080" y="105410"/>
                    <a:pt x="0" y="92710"/>
                    <a:pt x="0" y="80010"/>
                  </a:cubicBezTo>
                  <a:cubicBezTo>
                    <a:pt x="1270" y="62230"/>
                    <a:pt x="16510" y="27940"/>
                    <a:pt x="29210" y="15240"/>
                  </a:cubicBezTo>
                  <a:cubicBezTo>
                    <a:pt x="39370" y="6350"/>
                    <a:pt x="49530" y="1270"/>
                    <a:pt x="62230" y="0"/>
                  </a:cubicBezTo>
                  <a:cubicBezTo>
                    <a:pt x="81280" y="0"/>
                    <a:pt x="130810" y="21590"/>
                    <a:pt x="130810" y="21590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 dirty="0"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2152948" y="6371272"/>
            <a:ext cx="245745" cy="336232"/>
            <a:chOff x="0" y="0"/>
            <a:chExt cx="327660" cy="448310"/>
          </a:xfrm>
        </p:grpSpPr>
        <p:sp>
          <p:nvSpPr>
            <p:cNvPr id="37" name="Freeform 37"/>
            <p:cNvSpPr/>
            <p:nvPr/>
          </p:nvSpPr>
          <p:spPr>
            <a:xfrm>
              <a:off x="53340" y="49737"/>
              <a:ext cx="223822" cy="348253"/>
            </a:xfrm>
            <a:custGeom>
              <a:avLst/>
              <a:gdLst/>
              <a:ahLst/>
              <a:cxnLst/>
              <a:rect l="l" t="t" r="r" b="b"/>
              <a:pathLst>
                <a:path w="223822" h="348253">
                  <a:moveTo>
                    <a:pt x="0" y="219503"/>
                  </a:moveTo>
                  <a:cubicBezTo>
                    <a:pt x="11430" y="25193"/>
                    <a:pt x="40640" y="6143"/>
                    <a:pt x="66040" y="1063"/>
                  </a:cubicBezTo>
                  <a:cubicBezTo>
                    <a:pt x="95250" y="-4017"/>
                    <a:pt x="138430" y="9953"/>
                    <a:pt x="162560" y="25193"/>
                  </a:cubicBezTo>
                  <a:cubicBezTo>
                    <a:pt x="184150" y="39163"/>
                    <a:pt x="201930" y="62023"/>
                    <a:pt x="212090" y="83613"/>
                  </a:cubicBezTo>
                  <a:cubicBezTo>
                    <a:pt x="222250" y="106473"/>
                    <a:pt x="224790" y="130603"/>
                    <a:pt x="223520" y="159813"/>
                  </a:cubicBezTo>
                  <a:cubicBezTo>
                    <a:pt x="220980" y="199183"/>
                    <a:pt x="201930" y="271573"/>
                    <a:pt x="184150" y="302053"/>
                  </a:cubicBezTo>
                  <a:cubicBezTo>
                    <a:pt x="172720" y="321103"/>
                    <a:pt x="161290" y="332533"/>
                    <a:pt x="146050" y="340153"/>
                  </a:cubicBezTo>
                  <a:cubicBezTo>
                    <a:pt x="130810" y="347773"/>
                    <a:pt x="109220" y="350313"/>
                    <a:pt x="92710" y="346503"/>
                  </a:cubicBezTo>
                  <a:cubicBezTo>
                    <a:pt x="76200" y="343963"/>
                    <a:pt x="58420" y="332533"/>
                    <a:pt x="46990" y="319833"/>
                  </a:cubicBezTo>
                  <a:cubicBezTo>
                    <a:pt x="35560" y="307133"/>
                    <a:pt x="27940" y="288083"/>
                    <a:pt x="25400" y="271573"/>
                  </a:cubicBezTo>
                  <a:cubicBezTo>
                    <a:pt x="24130" y="253793"/>
                    <a:pt x="27940" y="233473"/>
                    <a:pt x="39370" y="219503"/>
                  </a:cubicBezTo>
                  <a:cubicBezTo>
                    <a:pt x="52070" y="201723"/>
                    <a:pt x="85090" y="181403"/>
                    <a:pt x="107950" y="181403"/>
                  </a:cubicBezTo>
                  <a:cubicBezTo>
                    <a:pt x="130810" y="180133"/>
                    <a:pt x="163830" y="197913"/>
                    <a:pt x="177800" y="216963"/>
                  </a:cubicBezTo>
                  <a:cubicBezTo>
                    <a:pt x="190500" y="234743"/>
                    <a:pt x="195580" y="272843"/>
                    <a:pt x="187960" y="294433"/>
                  </a:cubicBezTo>
                  <a:cubicBezTo>
                    <a:pt x="179070" y="316023"/>
                    <a:pt x="151130" y="340153"/>
                    <a:pt x="129540" y="346503"/>
                  </a:cubicBezTo>
                  <a:cubicBezTo>
                    <a:pt x="106680" y="351583"/>
                    <a:pt x="69850" y="342693"/>
                    <a:pt x="53340" y="326183"/>
                  </a:cubicBezTo>
                  <a:cubicBezTo>
                    <a:pt x="35560" y="310943"/>
                    <a:pt x="25400" y="280463"/>
                    <a:pt x="26670" y="252523"/>
                  </a:cubicBezTo>
                  <a:cubicBezTo>
                    <a:pt x="27940" y="218233"/>
                    <a:pt x="55880" y="169973"/>
                    <a:pt x="76200" y="136953"/>
                  </a:cubicBezTo>
                  <a:cubicBezTo>
                    <a:pt x="93980" y="110283"/>
                    <a:pt x="124460" y="63293"/>
                    <a:pt x="138430" y="68373"/>
                  </a:cubicBezTo>
                  <a:cubicBezTo>
                    <a:pt x="156210" y="73453"/>
                    <a:pt x="160020" y="182673"/>
                    <a:pt x="154940" y="219503"/>
                  </a:cubicBezTo>
                  <a:cubicBezTo>
                    <a:pt x="152400" y="242363"/>
                    <a:pt x="147320" y="258873"/>
                    <a:pt x="135890" y="271573"/>
                  </a:cubicBezTo>
                  <a:cubicBezTo>
                    <a:pt x="124460" y="284273"/>
                    <a:pt x="102870" y="294433"/>
                    <a:pt x="86360" y="296973"/>
                  </a:cubicBezTo>
                  <a:cubicBezTo>
                    <a:pt x="73660" y="299513"/>
                    <a:pt x="60960" y="296973"/>
                    <a:pt x="49530" y="293163"/>
                  </a:cubicBezTo>
                  <a:cubicBezTo>
                    <a:pt x="38100" y="289353"/>
                    <a:pt x="26670" y="281733"/>
                    <a:pt x="19050" y="271573"/>
                  </a:cubicBezTo>
                  <a:cubicBezTo>
                    <a:pt x="8890" y="258873"/>
                    <a:pt x="0" y="219503"/>
                    <a:pt x="0" y="219503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 dirty="0"/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11376660" y="7038022"/>
            <a:ext cx="111442" cy="108585"/>
            <a:chOff x="0" y="0"/>
            <a:chExt cx="148590" cy="144780"/>
          </a:xfrm>
        </p:grpSpPr>
        <p:sp>
          <p:nvSpPr>
            <p:cNvPr id="39" name="Freeform 39"/>
            <p:cNvSpPr/>
            <p:nvPr/>
          </p:nvSpPr>
          <p:spPr>
            <a:xfrm>
              <a:off x="48487" y="49054"/>
              <a:ext cx="48033" cy="40785"/>
            </a:xfrm>
            <a:custGeom>
              <a:avLst/>
              <a:gdLst/>
              <a:ahLst/>
              <a:cxnLst/>
              <a:rect l="l" t="t" r="r" b="b"/>
              <a:pathLst>
                <a:path w="48033" h="40785">
                  <a:moveTo>
                    <a:pt x="48033" y="14446"/>
                  </a:moveTo>
                  <a:cubicBezTo>
                    <a:pt x="26443" y="48736"/>
                    <a:pt x="6123" y="42386"/>
                    <a:pt x="2313" y="34766"/>
                  </a:cubicBezTo>
                  <a:cubicBezTo>
                    <a:pt x="-2767" y="27146"/>
                    <a:pt x="1043" y="6826"/>
                    <a:pt x="8663" y="1746"/>
                  </a:cubicBezTo>
                  <a:cubicBezTo>
                    <a:pt x="15013" y="-3334"/>
                    <a:pt x="41683" y="4286"/>
                    <a:pt x="41683" y="4286"/>
                  </a:cubicBezTo>
                </a:path>
              </a:pathLst>
            </a:custGeom>
            <a:solidFill>
              <a:srgbClr val="0571D3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 dirty="0"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/>
          <p:cNvGraphicFramePr>
            <a:graphicFrameLocks noGrp="1"/>
          </p:cNvGraphicFramePr>
          <p:nvPr/>
        </p:nvGraphicFramePr>
        <p:xfrm>
          <a:off x="614240" y="1839694"/>
          <a:ext cx="17059519" cy="7924798"/>
        </p:xfrm>
        <a:graphic>
          <a:graphicData uri="http://schemas.openxmlformats.org/drawingml/2006/table">
            <a:tbl>
              <a:tblPr/>
              <a:tblGrid>
                <a:gridCol w="43276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516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802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34919">
                <a:tc>
                  <a:txBody>
                    <a:bodyPr/>
                    <a:lstStyle/>
                    <a:p>
                      <a:pPr algn="ctr">
                        <a:lnSpc>
                          <a:spcPts val="4079"/>
                        </a:lnSpc>
                        <a:defRPr/>
                      </a:pPr>
                      <a:r>
                        <a:rPr lang="en-US" sz="2999" b="1" dirty="0">
                          <a:solidFill>
                            <a:srgbClr val="120052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HTTP Method</a:t>
                      </a:r>
                      <a:endParaRPr lang="en-US" sz="1100" dirty="0"/>
                    </a:p>
                  </a:txBody>
                  <a:tcPr marL="180975" marR="180975" marT="180975" marB="180975" anchor="ctr">
                    <a:lnL w="47625" cap="flat" cmpd="sng" algn="ctr">
                      <a:solidFill>
                        <a:srgbClr val="120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5" cap="flat" cmpd="sng" algn="ctr">
                      <a:solidFill>
                        <a:srgbClr val="120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5" cap="flat" cmpd="sng" algn="ctr">
                      <a:solidFill>
                        <a:srgbClr val="120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5725" cap="flat" cmpd="sng" algn="ctr">
                      <a:solidFill>
                        <a:srgbClr val="120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079"/>
                        </a:lnSpc>
                        <a:defRPr/>
                      </a:pPr>
                      <a:r>
                        <a:rPr lang="en-US" sz="2999" b="1" dirty="0">
                          <a:solidFill>
                            <a:srgbClr val="120052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Endpoint</a:t>
                      </a:r>
                      <a:endParaRPr lang="en-US" sz="1100" dirty="0"/>
                    </a:p>
                  </a:txBody>
                  <a:tcPr marL="180975" marR="180975" marT="180975" marB="180975" anchor="ctr">
                    <a:lnL w="47625" cap="flat" cmpd="sng" algn="ctr">
                      <a:solidFill>
                        <a:srgbClr val="120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5" cap="flat" cmpd="sng" algn="ctr">
                      <a:solidFill>
                        <a:srgbClr val="120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5" cap="flat" cmpd="sng" algn="ctr">
                      <a:solidFill>
                        <a:srgbClr val="120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5725" cap="flat" cmpd="sng" algn="ctr">
                      <a:solidFill>
                        <a:srgbClr val="120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079"/>
                        </a:lnSpc>
                        <a:defRPr/>
                      </a:pPr>
                      <a:r>
                        <a:rPr lang="en-US" sz="2999" b="1" dirty="0">
                          <a:solidFill>
                            <a:srgbClr val="120052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Operation</a:t>
                      </a:r>
                      <a:endParaRPr lang="en-US" sz="1100" dirty="0"/>
                    </a:p>
                  </a:txBody>
                  <a:tcPr marL="180975" marR="180975" marT="180975" marB="180975" anchor="ctr">
                    <a:lnL w="47625" cap="flat" cmpd="sng" algn="ctr">
                      <a:solidFill>
                        <a:srgbClr val="120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5" cap="flat" cmpd="sng" algn="ctr">
                      <a:solidFill>
                        <a:srgbClr val="120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5" cap="flat" cmpd="sng" algn="ctr">
                      <a:solidFill>
                        <a:srgbClr val="120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5725" cap="flat" cmpd="sng" algn="ctr">
                      <a:solidFill>
                        <a:srgbClr val="120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9094">
                <a:tc>
                  <a:txBody>
                    <a:bodyPr/>
                    <a:lstStyle/>
                    <a:p>
                      <a:pPr algn="l">
                        <a:lnSpc>
                          <a:spcPts val="3399"/>
                        </a:lnSpc>
                        <a:defRPr/>
                      </a:pPr>
                      <a:r>
                        <a:rPr lang="en-US" sz="2499" dirty="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POST</a:t>
                      </a:r>
                      <a:endParaRPr lang="en-US" sz="1100" dirty="0"/>
                    </a:p>
                  </a:txBody>
                  <a:tcPr marL="180975" marR="180975" marT="180975" marB="180975" anchor="ctr">
                    <a:lnL w="47625" cap="flat" cmpd="sng" algn="ctr">
                      <a:solidFill>
                        <a:srgbClr val="120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5" cap="flat" cmpd="sng" algn="ctr">
                      <a:solidFill>
                        <a:srgbClr val="120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5725" cap="flat" cmpd="sng" algn="ctr">
                      <a:solidFill>
                        <a:srgbClr val="120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5" cap="flat" cmpd="sng" algn="ctr">
                      <a:solidFill>
                        <a:srgbClr val="120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399"/>
                        </a:lnSpc>
                        <a:defRPr/>
                      </a:pPr>
                      <a:r>
                        <a:rPr lang="en-US" sz="2499" dirty="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/kv/</a:t>
                      </a:r>
                      <a:endParaRPr lang="en-US" sz="1100" dirty="0"/>
                    </a:p>
                  </a:txBody>
                  <a:tcPr marL="180975" marR="180975" marT="180975" marB="180975" anchor="ctr">
                    <a:lnL w="47625" cap="flat" cmpd="sng" algn="ctr">
                      <a:solidFill>
                        <a:srgbClr val="120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5" cap="flat" cmpd="sng" algn="ctr">
                      <a:solidFill>
                        <a:srgbClr val="120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5725" cap="flat" cmpd="sng" algn="ctr">
                      <a:solidFill>
                        <a:srgbClr val="120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5" cap="flat" cmpd="sng" algn="ctr">
                      <a:solidFill>
                        <a:srgbClr val="120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399"/>
                        </a:lnSpc>
                        <a:defRPr/>
                      </a:pPr>
                      <a:r>
                        <a:rPr lang="en-US" sz="2499" dirty="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Insert a new key-value pair.</a:t>
                      </a:r>
                      <a:endParaRPr lang="en-US" sz="1100" dirty="0"/>
                    </a:p>
                  </a:txBody>
                  <a:tcPr marL="180975" marR="180975" marT="180975" marB="180975" anchor="ctr">
                    <a:lnL w="47625" cap="flat" cmpd="sng" algn="ctr">
                      <a:solidFill>
                        <a:srgbClr val="120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5" cap="flat" cmpd="sng" algn="ctr">
                      <a:solidFill>
                        <a:srgbClr val="120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5725" cap="flat" cmpd="sng" algn="ctr">
                      <a:solidFill>
                        <a:srgbClr val="120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5" cap="flat" cmpd="sng" algn="ctr">
                      <a:solidFill>
                        <a:srgbClr val="120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9928">
                <a:tc>
                  <a:txBody>
                    <a:bodyPr/>
                    <a:lstStyle/>
                    <a:p>
                      <a:pPr algn="l">
                        <a:lnSpc>
                          <a:spcPts val="3399"/>
                        </a:lnSpc>
                        <a:defRPr/>
                      </a:pPr>
                      <a:r>
                        <a:rPr lang="en-US" sz="2499" dirty="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GET</a:t>
                      </a:r>
                      <a:endParaRPr lang="en-US" sz="1100" dirty="0"/>
                    </a:p>
                  </a:txBody>
                  <a:tcPr marL="180975" marR="180975" marT="180975" marB="180975" anchor="ctr">
                    <a:lnL w="47625" cap="flat" cmpd="sng" algn="ctr">
                      <a:solidFill>
                        <a:srgbClr val="120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5" cap="flat" cmpd="sng" algn="ctr">
                      <a:solidFill>
                        <a:srgbClr val="120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5" cap="flat" cmpd="sng" algn="ctr">
                      <a:solidFill>
                        <a:srgbClr val="120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5" cap="flat" cmpd="sng" algn="ctr">
                      <a:solidFill>
                        <a:srgbClr val="120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399"/>
                        </a:lnSpc>
                        <a:defRPr/>
                      </a:pPr>
                      <a:r>
                        <a:rPr lang="en-US" sz="2499" dirty="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/kv/{key}</a:t>
                      </a:r>
                      <a:endParaRPr lang="en-US" sz="1100" dirty="0"/>
                    </a:p>
                  </a:txBody>
                  <a:tcPr marL="180975" marR="180975" marT="180975" marB="180975" anchor="ctr">
                    <a:lnL w="47625" cap="flat" cmpd="sng" algn="ctr">
                      <a:solidFill>
                        <a:srgbClr val="120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5" cap="flat" cmpd="sng" algn="ctr">
                      <a:solidFill>
                        <a:srgbClr val="120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5" cap="flat" cmpd="sng" algn="ctr">
                      <a:solidFill>
                        <a:srgbClr val="120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5" cap="flat" cmpd="sng" algn="ctr">
                      <a:solidFill>
                        <a:srgbClr val="120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399"/>
                        </a:lnSpc>
                        <a:defRPr/>
                      </a:pPr>
                      <a:r>
                        <a:rPr lang="en-US" sz="2499" dirty="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Fetch the value for a given key.</a:t>
                      </a:r>
                      <a:endParaRPr lang="en-US" sz="1100" dirty="0"/>
                    </a:p>
                  </a:txBody>
                  <a:tcPr marL="180975" marR="180975" marT="180975" marB="180975" anchor="ctr">
                    <a:lnL w="47625" cap="flat" cmpd="sng" algn="ctr">
                      <a:solidFill>
                        <a:srgbClr val="120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5" cap="flat" cmpd="sng" algn="ctr">
                      <a:solidFill>
                        <a:srgbClr val="120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5" cap="flat" cmpd="sng" algn="ctr">
                      <a:solidFill>
                        <a:srgbClr val="120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5" cap="flat" cmpd="sng" algn="ctr">
                      <a:solidFill>
                        <a:srgbClr val="120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9928">
                <a:tc>
                  <a:txBody>
                    <a:bodyPr/>
                    <a:lstStyle/>
                    <a:p>
                      <a:pPr algn="l">
                        <a:lnSpc>
                          <a:spcPts val="3399"/>
                        </a:lnSpc>
                        <a:defRPr/>
                      </a:pPr>
                      <a:r>
                        <a:rPr lang="en-US" sz="2499" dirty="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PUT</a:t>
                      </a:r>
                      <a:endParaRPr lang="en-US" sz="1100" dirty="0"/>
                    </a:p>
                  </a:txBody>
                  <a:tcPr marL="180975" marR="180975" marT="180975" marB="180975" anchor="ctr">
                    <a:lnL w="47625" cap="flat" cmpd="sng" algn="ctr">
                      <a:solidFill>
                        <a:srgbClr val="120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5" cap="flat" cmpd="sng" algn="ctr">
                      <a:solidFill>
                        <a:srgbClr val="120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5" cap="flat" cmpd="sng" algn="ctr">
                      <a:solidFill>
                        <a:srgbClr val="120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5" cap="flat" cmpd="sng" algn="ctr">
                      <a:solidFill>
                        <a:srgbClr val="120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399"/>
                        </a:lnSpc>
                        <a:defRPr/>
                      </a:pPr>
                      <a:r>
                        <a:rPr lang="en-US" sz="2499" dirty="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/kv/{key}</a:t>
                      </a:r>
                      <a:endParaRPr lang="en-US" sz="1100" dirty="0"/>
                    </a:p>
                  </a:txBody>
                  <a:tcPr marL="180975" marR="180975" marT="180975" marB="180975" anchor="ctr">
                    <a:lnL w="47625" cap="flat" cmpd="sng" algn="ctr">
                      <a:solidFill>
                        <a:srgbClr val="120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5" cap="flat" cmpd="sng" algn="ctr">
                      <a:solidFill>
                        <a:srgbClr val="120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5" cap="flat" cmpd="sng" algn="ctr">
                      <a:solidFill>
                        <a:srgbClr val="120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5" cap="flat" cmpd="sng" algn="ctr">
                      <a:solidFill>
                        <a:srgbClr val="120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399"/>
                        </a:lnSpc>
                        <a:defRPr/>
                      </a:pPr>
                      <a:r>
                        <a:rPr lang="en-US" sz="2499" dirty="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Update the value for an existing key.</a:t>
                      </a:r>
                      <a:endParaRPr lang="en-US" sz="1100" dirty="0"/>
                    </a:p>
                  </a:txBody>
                  <a:tcPr marL="180975" marR="180975" marT="180975" marB="180975" anchor="ctr">
                    <a:lnL w="47625" cap="flat" cmpd="sng" algn="ctr">
                      <a:solidFill>
                        <a:srgbClr val="120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5" cap="flat" cmpd="sng" algn="ctr">
                      <a:solidFill>
                        <a:srgbClr val="120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5" cap="flat" cmpd="sng" algn="ctr">
                      <a:solidFill>
                        <a:srgbClr val="120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5" cap="flat" cmpd="sng" algn="ctr">
                      <a:solidFill>
                        <a:srgbClr val="120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19928">
                <a:tc>
                  <a:txBody>
                    <a:bodyPr/>
                    <a:lstStyle/>
                    <a:p>
                      <a:pPr algn="l">
                        <a:lnSpc>
                          <a:spcPts val="3399"/>
                        </a:lnSpc>
                        <a:defRPr/>
                      </a:pPr>
                      <a:r>
                        <a:rPr lang="en-US" sz="2499" dirty="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DELETE</a:t>
                      </a:r>
                      <a:endParaRPr lang="en-US" sz="1100" dirty="0"/>
                    </a:p>
                  </a:txBody>
                  <a:tcPr marL="180975" marR="180975" marT="180975" marB="180975" anchor="ctr">
                    <a:lnL w="47625" cap="flat" cmpd="sng" algn="ctr">
                      <a:solidFill>
                        <a:srgbClr val="120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5" cap="flat" cmpd="sng" algn="ctr">
                      <a:solidFill>
                        <a:srgbClr val="120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5" cap="flat" cmpd="sng" algn="ctr">
                      <a:solidFill>
                        <a:srgbClr val="120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5" cap="flat" cmpd="sng" algn="ctr">
                      <a:solidFill>
                        <a:srgbClr val="120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399"/>
                        </a:lnSpc>
                        <a:defRPr/>
                      </a:pPr>
                      <a:r>
                        <a:rPr lang="en-US" sz="2499" dirty="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/kv/{key}</a:t>
                      </a:r>
                      <a:endParaRPr lang="en-US" sz="1100" dirty="0"/>
                    </a:p>
                  </a:txBody>
                  <a:tcPr marL="180975" marR="180975" marT="180975" marB="180975" anchor="ctr">
                    <a:lnL w="47625" cap="flat" cmpd="sng" algn="ctr">
                      <a:solidFill>
                        <a:srgbClr val="120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5" cap="flat" cmpd="sng" algn="ctr">
                      <a:solidFill>
                        <a:srgbClr val="120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5" cap="flat" cmpd="sng" algn="ctr">
                      <a:solidFill>
                        <a:srgbClr val="120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5" cap="flat" cmpd="sng" algn="ctr">
                      <a:solidFill>
                        <a:srgbClr val="120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399"/>
                        </a:lnSpc>
                        <a:defRPr/>
                      </a:pPr>
                      <a:r>
                        <a:rPr lang="en-US" sz="2499" dirty="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Remove a key_value pair.</a:t>
                      </a:r>
                      <a:endParaRPr lang="en-US" sz="1100" dirty="0"/>
                    </a:p>
                  </a:txBody>
                  <a:tcPr marL="180975" marR="180975" marT="180975" marB="180975" anchor="ctr">
                    <a:lnL w="47625" cap="flat" cmpd="sng" algn="ctr">
                      <a:solidFill>
                        <a:srgbClr val="120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5" cap="flat" cmpd="sng" algn="ctr">
                      <a:solidFill>
                        <a:srgbClr val="120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5" cap="flat" cmpd="sng" algn="ctr">
                      <a:solidFill>
                        <a:srgbClr val="120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5" cap="flat" cmpd="sng" algn="ctr">
                      <a:solidFill>
                        <a:srgbClr val="120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19928">
                <a:tc>
                  <a:txBody>
                    <a:bodyPr/>
                    <a:lstStyle/>
                    <a:p>
                      <a:pPr algn="l">
                        <a:lnSpc>
                          <a:spcPts val="3399"/>
                        </a:lnSpc>
                        <a:defRPr/>
                      </a:pPr>
                      <a:r>
                        <a:rPr lang="en-US" sz="2499" dirty="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GET</a:t>
                      </a:r>
                      <a:endParaRPr lang="en-US" sz="1100" dirty="0"/>
                    </a:p>
                  </a:txBody>
                  <a:tcPr marL="180975" marR="180975" marT="180975" marB="180975" anchor="ctr">
                    <a:lnL w="47625" cap="flat" cmpd="sng" algn="ctr">
                      <a:solidFill>
                        <a:srgbClr val="120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5" cap="flat" cmpd="sng" algn="ctr">
                      <a:solidFill>
                        <a:srgbClr val="120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5" cap="flat" cmpd="sng" algn="ctr">
                      <a:solidFill>
                        <a:srgbClr val="120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5" cap="flat" cmpd="sng" algn="ctr">
                      <a:solidFill>
                        <a:srgbClr val="120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399"/>
                        </a:lnSpc>
                        <a:defRPr/>
                      </a:pPr>
                      <a:r>
                        <a:rPr lang="en-US" sz="2499" dirty="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/kv/</a:t>
                      </a:r>
                      <a:endParaRPr lang="en-US" sz="1100" dirty="0"/>
                    </a:p>
                  </a:txBody>
                  <a:tcPr marL="180975" marR="180975" marT="180975" marB="180975" anchor="ctr">
                    <a:lnL w="47625" cap="flat" cmpd="sng" algn="ctr">
                      <a:solidFill>
                        <a:srgbClr val="120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5" cap="flat" cmpd="sng" algn="ctr">
                      <a:solidFill>
                        <a:srgbClr val="120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5" cap="flat" cmpd="sng" algn="ctr">
                      <a:solidFill>
                        <a:srgbClr val="120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5" cap="flat" cmpd="sng" algn="ctr">
                      <a:solidFill>
                        <a:srgbClr val="120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399"/>
                        </a:lnSpc>
                        <a:defRPr/>
                      </a:pPr>
                      <a:r>
                        <a:rPr lang="en-US" sz="2499" dirty="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List all keys (with optional prefix filter).</a:t>
                      </a:r>
                      <a:endParaRPr lang="en-US" sz="1100" dirty="0"/>
                    </a:p>
                  </a:txBody>
                  <a:tcPr marL="180975" marR="180975" marT="180975" marB="180975" anchor="ctr">
                    <a:lnL w="47625" cap="flat" cmpd="sng" algn="ctr">
                      <a:solidFill>
                        <a:srgbClr val="120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5" cap="flat" cmpd="sng" algn="ctr">
                      <a:solidFill>
                        <a:srgbClr val="120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5" cap="flat" cmpd="sng" algn="ctr">
                      <a:solidFill>
                        <a:srgbClr val="120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5" cap="flat" cmpd="sng" algn="ctr">
                      <a:solidFill>
                        <a:srgbClr val="120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919928">
                <a:tc>
                  <a:txBody>
                    <a:bodyPr/>
                    <a:lstStyle/>
                    <a:p>
                      <a:pPr algn="l">
                        <a:lnSpc>
                          <a:spcPts val="3399"/>
                        </a:lnSpc>
                        <a:defRPr/>
                      </a:pPr>
                      <a:r>
                        <a:rPr lang="en-US" sz="2499" dirty="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GET</a:t>
                      </a:r>
                      <a:endParaRPr lang="en-US" sz="1100" dirty="0"/>
                    </a:p>
                  </a:txBody>
                  <a:tcPr marL="180975" marR="180975" marT="180975" marB="180975" anchor="ctr">
                    <a:lnL w="47625" cap="flat" cmpd="sng" algn="ctr">
                      <a:solidFill>
                        <a:srgbClr val="120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5" cap="flat" cmpd="sng" algn="ctr">
                      <a:solidFill>
                        <a:srgbClr val="120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5" cap="flat" cmpd="sng" algn="ctr">
                      <a:solidFill>
                        <a:srgbClr val="120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5" cap="flat" cmpd="sng" algn="ctr">
                      <a:solidFill>
                        <a:srgbClr val="120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399"/>
                        </a:lnSpc>
                        <a:defRPr/>
                      </a:pPr>
                      <a:r>
                        <a:rPr lang="en-US" sz="2499" dirty="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/kv-items</a:t>
                      </a:r>
                      <a:endParaRPr lang="en-US" sz="1100" dirty="0"/>
                    </a:p>
                  </a:txBody>
                  <a:tcPr marL="180975" marR="180975" marT="180975" marB="180975" anchor="ctr">
                    <a:lnL w="47625" cap="flat" cmpd="sng" algn="ctr">
                      <a:solidFill>
                        <a:srgbClr val="120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5" cap="flat" cmpd="sng" algn="ctr">
                      <a:solidFill>
                        <a:srgbClr val="120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5" cap="flat" cmpd="sng" algn="ctr">
                      <a:solidFill>
                        <a:srgbClr val="120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5" cap="flat" cmpd="sng" algn="ctr">
                      <a:solidFill>
                        <a:srgbClr val="120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399"/>
                        </a:lnSpc>
                        <a:defRPr/>
                      </a:pPr>
                      <a:r>
                        <a:rPr lang="en-US" sz="2499" dirty="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List all keys with their values and TTL</a:t>
                      </a:r>
                      <a:endParaRPr lang="en-US" sz="1100" dirty="0"/>
                    </a:p>
                  </a:txBody>
                  <a:tcPr marL="180975" marR="180975" marT="180975" marB="180975" anchor="ctr">
                    <a:lnL w="47625" cap="flat" cmpd="sng" algn="ctr">
                      <a:solidFill>
                        <a:srgbClr val="120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5" cap="flat" cmpd="sng" algn="ctr">
                      <a:solidFill>
                        <a:srgbClr val="120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5" cap="flat" cmpd="sng" algn="ctr">
                      <a:solidFill>
                        <a:srgbClr val="120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5" cap="flat" cmpd="sng" algn="ctr">
                      <a:solidFill>
                        <a:srgbClr val="120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351145">
                <a:tc>
                  <a:txBody>
                    <a:bodyPr/>
                    <a:lstStyle/>
                    <a:p>
                      <a:pPr algn="l">
                        <a:lnSpc>
                          <a:spcPts val="3399"/>
                        </a:lnSpc>
                        <a:defRPr/>
                      </a:pPr>
                      <a:r>
                        <a:rPr lang="en-US" sz="2499" dirty="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GET</a:t>
                      </a:r>
                      <a:endParaRPr lang="en-US" sz="1100" dirty="0"/>
                    </a:p>
                  </a:txBody>
                  <a:tcPr marL="180975" marR="180975" marT="180975" marB="180975" anchor="ctr">
                    <a:lnL w="47625" cap="flat" cmpd="sng" algn="ctr">
                      <a:solidFill>
                        <a:srgbClr val="120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5" cap="flat" cmpd="sng" algn="ctr">
                      <a:solidFill>
                        <a:srgbClr val="120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5" cap="flat" cmpd="sng" algn="ctr">
                      <a:solidFill>
                        <a:srgbClr val="120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5" cap="flat" cmpd="sng" algn="ctr">
                      <a:solidFill>
                        <a:srgbClr val="120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399"/>
                        </a:lnSpc>
                        <a:defRPr/>
                      </a:pPr>
                      <a:r>
                        <a:rPr lang="en-US" sz="2499" dirty="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/stats</a:t>
                      </a:r>
                      <a:endParaRPr lang="en-US" sz="1100" dirty="0"/>
                    </a:p>
                  </a:txBody>
                  <a:tcPr marL="180975" marR="180975" marT="180975" marB="180975" anchor="ctr">
                    <a:lnL w="47625" cap="flat" cmpd="sng" algn="ctr">
                      <a:solidFill>
                        <a:srgbClr val="120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5" cap="flat" cmpd="sng" algn="ctr">
                      <a:solidFill>
                        <a:srgbClr val="120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5" cap="flat" cmpd="sng" algn="ctr">
                      <a:solidFill>
                        <a:srgbClr val="120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5" cap="flat" cmpd="sng" algn="ctr">
                      <a:solidFill>
                        <a:srgbClr val="120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399"/>
                        </a:lnSpc>
                        <a:defRPr/>
                      </a:pPr>
                      <a:r>
                        <a:rPr lang="en-US" sz="2499" dirty="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Get internal cache statistics (capacity, size, hits, misses, evictions).</a:t>
                      </a:r>
                      <a:endParaRPr lang="en-US" sz="1100" dirty="0"/>
                    </a:p>
                  </a:txBody>
                  <a:tcPr marL="180975" marR="180975" marT="180975" marB="180975" anchor="ctr">
                    <a:lnL w="47625" cap="flat" cmpd="sng" algn="ctr">
                      <a:solidFill>
                        <a:srgbClr val="120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5" cap="flat" cmpd="sng" algn="ctr">
                      <a:solidFill>
                        <a:srgbClr val="120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5" cap="flat" cmpd="sng" algn="ctr">
                      <a:solidFill>
                        <a:srgbClr val="120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5" cap="flat" cmpd="sng" algn="ctr">
                      <a:solidFill>
                        <a:srgbClr val="120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" name="TextBox 3"/>
          <p:cNvSpPr txBox="1"/>
          <p:nvPr/>
        </p:nvSpPr>
        <p:spPr>
          <a:xfrm>
            <a:off x="3001807" y="652463"/>
            <a:ext cx="12284386" cy="762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80"/>
              </a:lnSpc>
            </a:pPr>
            <a:r>
              <a:rPr lang="en-US" sz="5067" b="1" dirty="0">
                <a:solidFill>
                  <a:srgbClr val="12005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API Routes &amp; Operations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038225"/>
            <a:ext cx="15013893" cy="762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80"/>
              </a:lnSpc>
            </a:pPr>
            <a:r>
              <a:rPr lang="en-US" sz="5067" b="1" dirty="0">
                <a:solidFill>
                  <a:srgbClr val="12005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Pydantic Models: The Data Validation Layer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09308" y="2261972"/>
            <a:ext cx="3373136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80"/>
              </a:lnSpc>
            </a:pPr>
            <a:r>
              <a:rPr lang="en-US" sz="3567" b="1" dirty="0">
                <a:solidFill>
                  <a:srgbClr val="10101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Purpose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365972" y="3128747"/>
            <a:ext cx="15556057" cy="11926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39" lvl="1" indent="-280669" algn="l">
              <a:lnSpc>
                <a:spcPts val="3119"/>
              </a:lnSpc>
              <a:buFont typeface="Arial"/>
              <a:buChar char="•"/>
            </a:pPr>
            <a:r>
              <a:rPr lang="en-US" sz="2599" dirty="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Prevents invalid or malformed data from reaching the core logic,</a:t>
            </a:r>
          </a:p>
          <a:p>
            <a:pPr marL="561339" lvl="1" indent="-280669" algn="l">
              <a:lnSpc>
                <a:spcPts val="3119"/>
              </a:lnSpc>
              <a:buFont typeface="Arial"/>
              <a:buChar char="•"/>
            </a:pPr>
            <a:r>
              <a:rPr lang="en-US" sz="2599" dirty="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Automatically validates incoming request payloads against a defined schema.</a:t>
            </a:r>
          </a:p>
          <a:p>
            <a:pPr marL="561339" lvl="1" indent="-280669" algn="l">
              <a:lnSpc>
                <a:spcPts val="3119"/>
              </a:lnSpc>
              <a:buFont typeface="Arial"/>
              <a:buChar char="•"/>
            </a:pPr>
            <a:r>
              <a:rPr lang="en-US" sz="2599" dirty="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Returns clear, machine-readable validation errors to clients.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9144000" y="4763836"/>
            <a:ext cx="8445418" cy="5175506"/>
            <a:chOff x="0" y="0"/>
            <a:chExt cx="2038392" cy="124916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038392" cy="1249164"/>
            </a:xfrm>
            <a:custGeom>
              <a:avLst/>
              <a:gdLst/>
              <a:ahLst/>
              <a:cxnLst/>
              <a:rect l="l" t="t" r="r" b="b"/>
              <a:pathLst>
                <a:path w="2038392" h="1249164">
                  <a:moveTo>
                    <a:pt x="13751" y="0"/>
                  </a:moveTo>
                  <a:lnTo>
                    <a:pt x="2024642" y="0"/>
                  </a:lnTo>
                  <a:cubicBezTo>
                    <a:pt x="2028288" y="0"/>
                    <a:pt x="2031786" y="1449"/>
                    <a:pt x="2034365" y="4027"/>
                  </a:cubicBezTo>
                  <a:cubicBezTo>
                    <a:pt x="2036943" y="6606"/>
                    <a:pt x="2038392" y="10104"/>
                    <a:pt x="2038392" y="13751"/>
                  </a:cubicBezTo>
                  <a:lnTo>
                    <a:pt x="2038392" y="1235413"/>
                  </a:lnTo>
                  <a:cubicBezTo>
                    <a:pt x="2038392" y="1239060"/>
                    <a:pt x="2036943" y="1242558"/>
                    <a:pt x="2034365" y="1245136"/>
                  </a:cubicBezTo>
                  <a:cubicBezTo>
                    <a:pt x="2031786" y="1247715"/>
                    <a:pt x="2028288" y="1249164"/>
                    <a:pt x="2024642" y="1249164"/>
                  </a:cubicBezTo>
                  <a:lnTo>
                    <a:pt x="13751" y="1249164"/>
                  </a:lnTo>
                  <a:cubicBezTo>
                    <a:pt x="10104" y="1249164"/>
                    <a:pt x="6606" y="1247715"/>
                    <a:pt x="4027" y="1245136"/>
                  </a:cubicBezTo>
                  <a:cubicBezTo>
                    <a:pt x="1449" y="1242558"/>
                    <a:pt x="0" y="1239060"/>
                    <a:pt x="0" y="1235413"/>
                  </a:cubicBezTo>
                  <a:lnTo>
                    <a:pt x="0" y="13751"/>
                  </a:lnTo>
                  <a:cubicBezTo>
                    <a:pt x="0" y="10104"/>
                    <a:pt x="1449" y="6606"/>
                    <a:pt x="4027" y="4027"/>
                  </a:cubicBezTo>
                  <a:cubicBezTo>
                    <a:pt x="6606" y="1449"/>
                    <a:pt x="10104" y="0"/>
                    <a:pt x="13751" y="0"/>
                  </a:cubicBezTo>
                  <a:close/>
                </a:path>
              </a:pathLst>
            </a:custGeom>
            <a:solidFill>
              <a:srgbClr val="49A5EF"/>
            </a:soli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038392" cy="12872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 dirty="0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9906050" y="5143500"/>
            <a:ext cx="6136543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80"/>
              </a:lnSpc>
            </a:pPr>
            <a:r>
              <a:rPr lang="en-US" sz="3567" b="1" dirty="0">
                <a:solidFill>
                  <a:srgbClr val="10101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‘ValueOnly’ Model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9906050" y="6429375"/>
            <a:ext cx="6567204" cy="2924689"/>
            <a:chOff x="0" y="0"/>
            <a:chExt cx="1729634" cy="77028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729634" cy="770288"/>
            </a:xfrm>
            <a:custGeom>
              <a:avLst/>
              <a:gdLst/>
              <a:ahLst/>
              <a:cxnLst/>
              <a:rect l="l" t="t" r="r" b="b"/>
              <a:pathLst>
                <a:path w="1729634" h="770288">
                  <a:moveTo>
                    <a:pt x="20041" y="0"/>
                  </a:moveTo>
                  <a:lnTo>
                    <a:pt x="1709593" y="0"/>
                  </a:lnTo>
                  <a:cubicBezTo>
                    <a:pt x="1720661" y="0"/>
                    <a:pt x="1729634" y="8973"/>
                    <a:pt x="1729634" y="20041"/>
                  </a:cubicBezTo>
                  <a:lnTo>
                    <a:pt x="1729634" y="750248"/>
                  </a:lnTo>
                  <a:cubicBezTo>
                    <a:pt x="1729634" y="761316"/>
                    <a:pt x="1720661" y="770288"/>
                    <a:pt x="1709593" y="770288"/>
                  </a:cubicBezTo>
                  <a:lnTo>
                    <a:pt x="20041" y="770288"/>
                  </a:lnTo>
                  <a:cubicBezTo>
                    <a:pt x="8973" y="770288"/>
                    <a:pt x="0" y="761316"/>
                    <a:pt x="0" y="750248"/>
                  </a:cubicBezTo>
                  <a:lnTo>
                    <a:pt x="0" y="20041"/>
                  </a:lnTo>
                  <a:cubicBezTo>
                    <a:pt x="0" y="8973"/>
                    <a:pt x="8973" y="0"/>
                    <a:pt x="20041" y="0"/>
                  </a:cubicBezTo>
                  <a:close/>
                </a:path>
              </a:pathLst>
            </a:custGeom>
            <a:solidFill>
              <a:srgbClr val="49A5EF"/>
            </a:solidFill>
            <a:ln w="47625" cap="sq">
              <a:solidFill>
                <a:srgbClr val="1A002D"/>
              </a:solidFill>
              <a:prstDash val="solid"/>
              <a:miter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729634" cy="8083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 dirty="0"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0260516" y="6620389"/>
            <a:ext cx="6032944" cy="2733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sz="2567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# Restricts input to only</a:t>
            </a:r>
          </a:p>
          <a:p>
            <a:pPr algn="l">
              <a:lnSpc>
                <a:spcPts val="3080"/>
              </a:lnSpc>
            </a:pPr>
            <a:r>
              <a:rPr lang="en-US" sz="2567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# the ‘value’ field.</a:t>
            </a:r>
          </a:p>
          <a:p>
            <a:pPr algn="l">
              <a:lnSpc>
                <a:spcPts val="3080"/>
              </a:lnSpc>
            </a:pPr>
            <a:endParaRPr lang="en-US" sz="2567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3080"/>
              </a:lnSpc>
            </a:pPr>
            <a:r>
              <a:rPr lang="en-US" sz="2567" dirty="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class ValueOnly(BaseModel):</a:t>
            </a:r>
          </a:p>
          <a:p>
            <a:pPr algn="l">
              <a:lnSpc>
                <a:spcPts val="3080"/>
              </a:lnSpc>
            </a:pPr>
            <a:r>
              <a:rPr lang="en-US" sz="2567" dirty="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     value: str</a:t>
            </a:r>
          </a:p>
          <a:p>
            <a:pPr algn="l">
              <a:lnSpc>
                <a:spcPts val="3080"/>
              </a:lnSpc>
            </a:pPr>
            <a:r>
              <a:rPr lang="en-US" sz="2567" dirty="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     ttl : int | None = None</a:t>
            </a:r>
          </a:p>
          <a:p>
            <a:pPr algn="l">
              <a:lnSpc>
                <a:spcPts val="3080"/>
              </a:lnSpc>
            </a:pPr>
            <a:endParaRPr lang="en-US" sz="2567" dirty="0">
              <a:solidFill>
                <a:srgbClr val="10101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0009649" y="5862638"/>
            <a:ext cx="6032944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40"/>
              </a:lnSpc>
            </a:pPr>
            <a:r>
              <a:rPr lang="en-US" sz="2867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Used for update Operations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604974" y="4763836"/>
            <a:ext cx="8337752" cy="5175506"/>
            <a:chOff x="0" y="0"/>
            <a:chExt cx="11117003" cy="6900675"/>
          </a:xfrm>
        </p:grpSpPr>
        <p:grpSp>
          <p:nvGrpSpPr>
            <p:cNvPr id="15" name="Group 15"/>
            <p:cNvGrpSpPr/>
            <p:nvPr/>
          </p:nvGrpSpPr>
          <p:grpSpPr>
            <a:xfrm>
              <a:off x="0" y="0"/>
              <a:ext cx="11117003" cy="6900675"/>
              <a:chOff x="0" y="0"/>
              <a:chExt cx="2012406" cy="1249164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2012406" cy="1249164"/>
              </a:xfrm>
              <a:custGeom>
                <a:avLst/>
                <a:gdLst/>
                <a:ahLst/>
                <a:cxnLst/>
                <a:rect l="l" t="t" r="r" b="b"/>
                <a:pathLst>
                  <a:path w="2012406" h="1249164">
                    <a:moveTo>
                      <a:pt x="13928" y="0"/>
                    </a:moveTo>
                    <a:lnTo>
                      <a:pt x="1998478" y="0"/>
                    </a:lnTo>
                    <a:cubicBezTo>
                      <a:pt x="2002172" y="0"/>
                      <a:pt x="2005715" y="1467"/>
                      <a:pt x="2008327" y="4079"/>
                    </a:cubicBezTo>
                    <a:cubicBezTo>
                      <a:pt x="2010939" y="6691"/>
                      <a:pt x="2012406" y="10234"/>
                      <a:pt x="2012406" y="13928"/>
                    </a:cubicBezTo>
                    <a:lnTo>
                      <a:pt x="2012406" y="1235236"/>
                    </a:lnTo>
                    <a:cubicBezTo>
                      <a:pt x="2012406" y="1242928"/>
                      <a:pt x="2006170" y="1249164"/>
                      <a:pt x="1998478" y="1249164"/>
                    </a:cubicBezTo>
                    <a:lnTo>
                      <a:pt x="13928" y="1249164"/>
                    </a:lnTo>
                    <a:cubicBezTo>
                      <a:pt x="10234" y="1249164"/>
                      <a:pt x="6691" y="1247696"/>
                      <a:pt x="4079" y="1245084"/>
                    </a:cubicBezTo>
                    <a:cubicBezTo>
                      <a:pt x="1467" y="1242472"/>
                      <a:pt x="0" y="1238930"/>
                      <a:pt x="0" y="1235236"/>
                    </a:cubicBezTo>
                    <a:lnTo>
                      <a:pt x="0" y="13928"/>
                    </a:lnTo>
                    <a:cubicBezTo>
                      <a:pt x="0" y="10234"/>
                      <a:pt x="1467" y="6691"/>
                      <a:pt x="4079" y="4079"/>
                    </a:cubicBezTo>
                    <a:cubicBezTo>
                      <a:pt x="6691" y="1467"/>
                      <a:pt x="10234" y="0"/>
                      <a:pt x="13928" y="0"/>
                    </a:cubicBezTo>
                    <a:close/>
                  </a:path>
                </a:pathLst>
              </a:custGeom>
              <a:solidFill>
                <a:srgbClr val="8063E8"/>
              </a:solidFill>
            </p:spPr>
            <p:txBody>
              <a:bodyPr/>
              <a:lstStyle/>
              <a:p>
                <a:endParaRPr lang="en-IN" dirty="0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0" y="-38100"/>
                <a:ext cx="2012406" cy="128726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 dirty="0"/>
              </a:p>
            </p:txBody>
          </p:sp>
        </p:grpSp>
        <p:sp>
          <p:nvSpPr>
            <p:cNvPr id="18" name="TextBox 18"/>
            <p:cNvSpPr txBox="1"/>
            <p:nvPr/>
          </p:nvSpPr>
          <p:spPr>
            <a:xfrm>
              <a:off x="1014664" y="559603"/>
              <a:ext cx="8182057" cy="7239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80"/>
                </a:lnSpc>
              </a:pPr>
              <a:r>
                <a:rPr lang="en-US" sz="3567" b="1" dirty="0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‘KeyValue’ Model</a:t>
              </a:r>
            </a:p>
          </p:txBody>
        </p:sp>
        <p:grpSp>
          <p:nvGrpSpPr>
            <p:cNvPr id="19" name="Group 19"/>
            <p:cNvGrpSpPr/>
            <p:nvPr/>
          </p:nvGrpSpPr>
          <p:grpSpPr>
            <a:xfrm>
              <a:off x="1014664" y="2220719"/>
              <a:ext cx="8899826" cy="4106858"/>
              <a:chOff x="0" y="0"/>
              <a:chExt cx="1757990" cy="811231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1757990" cy="811231"/>
              </a:xfrm>
              <a:custGeom>
                <a:avLst/>
                <a:gdLst/>
                <a:ahLst/>
                <a:cxnLst/>
                <a:rect l="l" t="t" r="r" b="b"/>
                <a:pathLst>
                  <a:path w="1757990" h="811231">
                    <a:moveTo>
                      <a:pt x="19718" y="0"/>
                    </a:moveTo>
                    <a:lnTo>
                      <a:pt x="1738273" y="0"/>
                    </a:lnTo>
                    <a:cubicBezTo>
                      <a:pt x="1743502" y="0"/>
                      <a:pt x="1748517" y="2077"/>
                      <a:pt x="1752215" y="5775"/>
                    </a:cubicBezTo>
                    <a:cubicBezTo>
                      <a:pt x="1755913" y="9473"/>
                      <a:pt x="1757990" y="14488"/>
                      <a:pt x="1757990" y="19718"/>
                    </a:cubicBezTo>
                    <a:lnTo>
                      <a:pt x="1757990" y="791514"/>
                    </a:lnTo>
                    <a:cubicBezTo>
                      <a:pt x="1757990" y="802403"/>
                      <a:pt x="1749162" y="811231"/>
                      <a:pt x="1738273" y="811231"/>
                    </a:cubicBezTo>
                    <a:lnTo>
                      <a:pt x="19718" y="811231"/>
                    </a:lnTo>
                    <a:cubicBezTo>
                      <a:pt x="14488" y="811231"/>
                      <a:pt x="9473" y="809154"/>
                      <a:pt x="5775" y="805456"/>
                    </a:cubicBezTo>
                    <a:cubicBezTo>
                      <a:pt x="2077" y="801758"/>
                      <a:pt x="0" y="796743"/>
                      <a:pt x="0" y="791514"/>
                    </a:cubicBezTo>
                    <a:lnTo>
                      <a:pt x="0" y="19718"/>
                    </a:lnTo>
                    <a:cubicBezTo>
                      <a:pt x="0" y="8828"/>
                      <a:pt x="8828" y="0"/>
                      <a:pt x="19718" y="0"/>
                    </a:cubicBezTo>
                    <a:close/>
                  </a:path>
                </a:pathLst>
              </a:custGeom>
              <a:solidFill>
                <a:srgbClr val="8063E8"/>
              </a:solidFill>
              <a:ln w="47625" cap="sq">
                <a:solidFill>
                  <a:srgbClr val="1A002D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IN" dirty="0"/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0" y="-38100"/>
                <a:ext cx="1757990" cy="84933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 dirty="0"/>
              </a:p>
            </p:txBody>
          </p:sp>
        </p:grpSp>
        <p:sp>
          <p:nvSpPr>
            <p:cNvPr id="22" name="TextBox 22"/>
            <p:cNvSpPr txBox="1"/>
            <p:nvPr/>
          </p:nvSpPr>
          <p:spPr>
            <a:xfrm>
              <a:off x="1014664" y="1466361"/>
              <a:ext cx="8043925" cy="5715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440"/>
                </a:lnSpc>
              </a:pPr>
              <a:r>
                <a:rPr lang="en-US" sz="2867" dirty="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Used for insert Operations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370837" y="2475404"/>
              <a:ext cx="8043925" cy="4165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080"/>
                </a:lnSpc>
              </a:pPr>
              <a:r>
                <a:rPr lang="en-US" sz="2567" dirty="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# Ensures both key and value</a:t>
              </a:r>
            </a:p>
            <a:p>
              <a:pPr algn="l">
                <a:lnSpc>
                  <a:spcPts val="3080"/>
                </a:lnSpc>
              </a:pPr>
              <a:r>
                <a:rPr lang="en-US" sz="2567" dirty="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# are provided as strings</a:t>
              </a:r>
            </a:p>
            <a:p>
              <a:pPr algn="l">
                <a:lnSpc>
                  <a:spcPts val="3080"/>
                </a:lnSpc>
              </a:pPr>
              <a:endParaRPr lang="en-US" sz="2567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algn="l">
                <a:lnSpc>
                  <a:spcPts val="3080"/>
                </a:lnSpc>
              </a:pPr>
              <a:r>
                <a:rPr lang="en-US" sz="2567" dirty="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class KeyValue(BaseModel):</a:t>
              </a:r>
            </a:p>
            <a:p>
              <a:pPr algn="l">
                <a:lnSpc>
                  <a:spcPts val="3080"/>
                </a:lnSpc>
              </a:pPr>
              <a:r>
                <a:rPr lang="en-US" sz="2567" dirty="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    key: str</a:t>
              </a:r>
            </a:p>
            <a:p>
              <a:pPr algn="l">
                <a:lnSpc>
                  <a:spcPts val="3080"/>
                </a:lnSpc>
              </a:pPr>
              <a:r>
                <a:rPr lang="en-US" sz="2567" dirty="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    value: str</a:t>
              </a:r>
            </a:p>
            <a:p>
              <a:pPr algn="l">
                <a:lnSpc>
                  <a:spcPts val="3080"/>
                </a:lnSpc>
              </a:pPr>
              <a:r>
                <a:rPr lang="en-US" sz="2567" dirty="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    ttl : int | None = None</a:t>
              </a:r>
            </a:p>
            <a:p>
              <a:pPr algn="l">
                <a:lnSpc>
                  <a:spcPts val="3080"/>
                </a:lnSpc>
              </a:pPr>
              <a:endParaRPr lang="en-US" sz="2567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/>
          <p:cNvSpPr/>
          <p:nvPr/>
        </p:nvSpPr>
        <p:spPr>
          <a:xfrm>
            <a:off x="3810000" y="419100"/>
            <a:ext cx="11201400" cy="9601200"/>
          </a:xfrm>
          <a:custGeom>
            <a:avLst/>
            <a:gdLst/>
            <a:ahLst/>
            <a:cxnLst/>
            <a:rect l="l" t="t" r="r" b="b"/>
            <a:pathLst>
              <a:path w="8369088" h="8369088">
                <a:moveTo>
                  <a:pt x="0" y="0"/>
                </a:moveTo>
                <a:lnTo>
                  <a:pt x="8369088" y="0"/>
                </a:lnTo>
                <a:lnTo>
                  <a:pt x="8369088" y="8369087"/>
                </a:lnTo>
                <a:lnTo>
                  <a:pt x="0" y="83690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10414240" y="-5715127"/>
            <a:ext cx="2073635" cy="13480001"/>
            <a:chOff x="0" y="0"/>
            <a:chExt cx="116358" cy="75640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6358" cy="756402"/>
            </a:xfrm>
            <a:custGeom>
              <a:avLst/>
              <a:gdLst/>
              <a:ahLst/>
              <a:cxnLst/>
              <a:rect l="l" t="t" r="r" b="b"/>
              <a:pathLst>
                <a:path w="116358" h="756402">
                  <a:moveTo>
                    <a:pt x="0" y="0"/>
                  </a:moveTo>
                  <a:lnTo>
                    <a:pt x="116358" y="0"/>
                  </a:lnTo>
                  <a:lnTo>
                    <a:pt x="116358" y="756402"/>
                  </a:lnTo>
                  <a:lnTo>
                    <a:pt x="0" y="756402"/>
                  </a:lnTo>
                  <a:close/>
                </a:path>
              </a:pathLst>
            </a:custGeom>
            <a:solidFill>
              <a:srgbClr val="193C6F"/>
            </a:soli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16358" cy="7945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 dirty="0"/>
            </a:p>
          </p:txBody>
        </p:sp>
      </p:grpSp>
      <p:grpSp>
        <p:nvGrpSpPr>
          <p:cNvPr id="5" name="Group 5"/>
          <p:cNvGrpSpPr/>
          <p:nvPr/>
        </p:nvGrpSpPr>
        <p:grpSpPr>
          <a:xfrm rot="5400000">
            <a:off x="3791480" y="-338662"/>
            <a:ext cx="2879942" cy="9177207"/>
            <a:chOff x="0" y="0"/>
            <a:chExt cx="151898" cy="48403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51898" cy="484038"/>
            </a:xfrm>
            <a:custGeom>
              <a:avLst/>
              <a:gdLst/>
              <a:ahLst/>
              <a:cxnLst/>
              <a:rect l="l" t="t" r="r" b="b"/>
              <a:pathLst>
                <a:path w="151898" h="484038">
                  <a:moveTo>
                    <a:pt x="0" y="0"/>
                  </a:moveTo>
                  <a:lnTo>
                    <a:pt x="151898" y="0"/>
                  </a:lnTo>
                  <a:lnTo>
                    <a:pt x="151898" y="484038"/>
                  </a:lnTo>
                  <a:lnTo>
                    <a:pt x="0" y="484038"/>
                  </a:lnTo>
                  <a:close/>
                </a:path>
              </a:pathLst>
            </a:custGeom>
            <a:solidFill>
              <a:srgbClr val="8063E8"/>
            </a:soli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51898" cy="5221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 dirty="0"/>
            </a:p>
          </p:txBody>
        </p:sp>
      </p:grpSp>
      <p:grpSp>
        <p:nvGrpSpPr>
          <p:cNvPr id="8" name="Group 8"/>
          <p:cNvGrpSpPr/>
          <p:nvPr/>
        </p:nvGrpSpPr>
        <p:grpSpPr>
          <a:xfrm rot="5400000">
            <a:off x="1186551" y="-1198495"/>
            <a:ext cx="2085578" cy="4458681"/>
            <a:chOff x="0" y="0"/>
            <a:chExt cx="117028" cy="25018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17028" cy="250189"/>
            </a:xfrm>
            <a:custGeom>
              <a:avLst/>
              <a:gdLst/>
              <a:ahLst/>
              <a:cxnLst/>
              <a:rect l="l" t="t" r="r" b="b"/>
              <a:pathLst>
                <a:path w="117028" h="250189">
                  <a:moveTo>
                    <a:pt x="0" y="0"/>
                  </a:moveTo>
                  <a:lnTo>
                    <a:pt x="117028" y="0"/>
                  </a:lnTo>
                  <a:lnTo>
                    <a:pt x="117028" y="250189"/>
                  </a:lnTo>
                  <a:lnTo>
                    <a:pt x="0" y="250189"/>
                  </a:lnTo>
                  <a:close/>
                </a:path>
              </a:pathLst>
            </a:custGeom>
            <a:solidFill>
              <a:srgbClr val="193C6F"/>
            </a:soli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17028" cy="2882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 dirty="0"/>
            </a:p>
          </p:txBody>
        </p:sp>
      </p:grpSp>
      <p:sp>
        <p:nvSpPr>
          <p:cNvPr id="11" name="Freeform 11"/>
          <p:cNvSpPr/>
          <p:nvPr/>
        </p:nvSpPr>
        <p:spPr>
          <a:xfrm>
            <a:off x="10328307" y="4133946"/>
            <a:ext cx="7537823" cy="4239259"/>
          </a:xfrm>
          <a:custGeom>
            <a:avLst/>
            <a:gdLst/>
            <a:ahLst/>
            <a:cxnLst/>
            <a:rect l="l" t="t" r="r" b="b"/>
            <a:pathLst>
              <a:path w="7537823" h="4239259">
                <a:moveTo>
                  <a:pt x="0" y="0"/>
                </a:moveTo>
                <a:lnTo>
                  <a:pt x="7537823" y="0"/>
                </a:lnTo>
                <a:lnTo>
                  <a:pt x="7537823" y="4239259"/>
                </a:lnTo>
                <a:lnTo>
                  <a:pt x="0" y="423925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0655" b="-11714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12" name="TextBox 12"/>
          <p:cNvSpPr txBox="1"/>
          <p:nvPr/>
        </p:nvSpPr>
        <p:spPr>
          <a:xfrm>
            <a:off x="5889902" y="538162"/>
            <a:ext cx="11369398" cy="981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794"/>
              </a:lnSpc>
              <a:spcBef>
                <a:spcPct val="0"/>
              </a:spcBef>
            </a:pPr>
            <a:r>
              <a:rPr lang="en-US" sz="6495" b="1" dirty="0">
                <a:solidFill>
                  <a:srgbClr val="F4F6F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Persistence &amp; Recovery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0" y="202171"/>
            <a:ext cx="4458681" cy="1657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99"/>
              </a:lnSpc>
            </a:pPr>
            <a:r>
              <a:rPr lang="en-US" sz="5499" b="1" dirty="0">
                <a:solidFill>
                  <a:srgbClr val="F4F6F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Module </a:t>
            </a:r>
          </a:p>
          <a:p>
            <a:pPr algn="ctr">
              <a:lnSpc>
                <a:spcPts val="6599"/>
              </a:lnSpc>
              <a:spcBef>
                <a:spcPct val="0"/>
              </a:spcBef>
            </a:pPr>
            <a:r>
              <a:rPr lang="en-US" sz="5499" b="1" dirty="0">
                <a:solidFill>
                  <a:srgbClr val="F4F6F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3 - A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820054" y="2619471"/>
            <a:ext cx="5225342" cy="38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00"/>
              </a:lnSpc>
              <a:spcBef>
                <a:spcPct val="0"/>
              </a:spcBef>
            </a:pPr>
            <a:r>
              <a:rPr lang="en-US" sz="2500" b="1" dirty="0">
                <a:solidFill>
                  <a:srgbClr val="F4F6F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Internal Data Structure Used: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28700" y="3086100"/>
            <a:ext cx="8347834" cy="2400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PyKV is designed as a high-performance, in-memory key-value store. This offers incredible speed, but presents a critical risk:</a:t>
            </a:r>
          </a:p>
          <a:p>
            <a:pPr algn="l">
              <a:lnSpc>
                <a:spcPts val="2760"/>
              </a:lnSpc>
            </a:pPr>
            <a:endParaRPr lang="en-US" sz="230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96585" lvl="1" indent="-248293" algn="l">
              <a:lnSpc>
                <a:spcPts val="2760"/>
              </a:lnSpc>
              <a:buFont typeface="Arial"/>
              <a:buChar char="•"/>
            </a:pPr>
            <a:r>
              <a:rPr lang="en-US" sz="23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All data resides in RAM</a:t>
            </a:r>
          </a:p>
          <a:p>
            <a:pPr marL="496585" lvl="1" indent="-248293" algn="l">
              <a:lnSpc>
                <a:spcPts val="2760"/>
              </a:lnSpc>
              <a:spcBef>
                <a:spcPct val="0"/>
              </a:spcBef>
              <a:buFont typeface="Arial"/>
              <a:buChar char="•"/>
            </a:pPr>
            <a:r>
              <a:rPr lang="en-US" sz="23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 server crash, restart, or power loss means complete data loss</a:t>
            </a:r>
          </a:p>
        </p:txBody>
      </p:sp>
      <p:grpSp>
        <p:nvGrpSpPr>
          <p:cNvPr id="16" name="Group 16"/>
          <p:cNvGrpSpPr/>
          <p:nvPr/>
        </p:nvGrpSpPr>
        <p:grpSpPr>
          <a:xfrm rot="5400000">
            <a:off x="4528490" y="1889995"/>
            <a:ext cx="1405920" cy="9177207"/>
            <a:chOff x="0" y="0"/>
            <a:chExt cx="74153" cy="484038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74153" cy="484038"/>
            </a:xfrm>
            <a:custGeom>
              <a:avLst/>
              <a:gdLst/>
              <a:ahLst/>
              <a:cxnLst/>
              <a:rect l="l" t="t" r="r" b="b"/>
              <a:pathLst>
                <a:path w="74153" h="484038">
                  <a:moveTo>
                    <a:pt x="0" y="0"/>
                  </a:moveTo>
                  <a:lnTo>
                    <a:pt x="74153" y="0"/>
                  </a:lnTo>
                  <a:lnTo>
                    <a:pt x="74153" y="484038"/>
                  </a:lnTo>
                  <a:lnTo>
                    <a:pt x="0" y="484038"/>
                  </a:lnTo>
                  <a:close/>
                </a:path>
              </a:pathLst>
            </a:custGeom>
            <a:solidFill>
              <a:srgbClr val="1D6CAA"/>
            </a:soli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74153" cy="5221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 dirty="0"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028700" y="5945198"/>
            <a:ext cx="8347834" cy="10987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80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The Question : </a:t>
            </a:r>
            <a:r>
              <a:rPr lang="en-US" sz="2400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How can we achieve the performance of an in-memory system while guaranteeing that data is never lost?</a:t>
            </a:r>
          </a:p>
        </p:txBody>
      </p:sp>
      <p:grpSp>
        <p:nvGrpSpPr>
          <p:cNvPr id="20" name="Group 20"/>
          <p:cNvGrpSpPr/>
          <p:nvPr/>
        </p:nvGrpSpPr>
        <p:grpSpPr>
          <a:xfrm rot="5400000">
            <a:off x="4101811" y="3784601"/>
            <a:ext cx="2201611" cy="9177207"/>
            <a:chOff x="0" y="0"/>
            <a:chExt cx="116121" cy="484038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16121" cy="484038"/>
            </a:xfrm>
            <a:custGeom>
              <a:avLst/>
              <a:gdLst/>
              <a:ahLst/>
              <a:cxnLst/>
              <a:rect l="l" t="t" r="r" b="b"/>
              <a:pathLst>
                <a:path w="116121" h="484038">
                  <a:moveTo>
                    <a:pt x="0" y="0"/>
                  </a:moveTo>
                  <a:lnTo>
                    <a:pt x="116121" y="0"/>
                  </a:lnTo>
                  <a:lnTo>
                    <a:pt x="116121" y="484038"/>
                  </a:lnTo>
                  <a:lnTo>
                    <a:pt x="0" y="484038"/>
                  </a:lnTo>
                  <a:close/>
                </a:path>
              </a:pathLst>
            </a:custGeom>
            <a:solidFill>
              <a:srgbClr val="49A5EF"/>
            </a:soli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116121" cy="5221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 dirty="0"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1057534" y="7429208"/>
            <a:ext cx="8347834" cy="1752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To ensure durability, PyKV implements a persistence layer that acts as a safety net for the in-memory CoreStore. </a:t>
            </a:r>
          </a:p>
          <a:p>
            <a:pPr algn="l">
              <a:lnSpc>
                <a:spcPts val="2880"/>
              </a:lnSpc>
            </a:pPr>
            <a:r>
              <a:rPr lang="en-US" sz="24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It Operates on a simple but powerful principle</a:t>
            </a:r>
            <a:r>
              <a:rPr lang="en-US" sz="2400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:</a:t>
            </a:r>
          </a:p>
          <a:p>
            <a:pPr algn="l">
              <a:lnSpc>
                <a:spcPts val="2880"/>
              </a:lnSpc>
              <a:spcBef>
                <a:spcPct val="0"/>
              </a:spcBef>
            </a:pPr>
            <a:r>
              <a:rPr lang="en-US" sz="2400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Record every change to disk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3626135"/>
            <a:ext cx="15807043" cy="1045159"/>
            <a:chOff x="0" y="0"/>
            <a:chExt cx="4163172" cy="27526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163172" cy="275268"/>
            </a:xfrm>
            <a:custGeom>
              <a:avLst/>
              <a:gdLst/>
              <a:ahLst/>
              <a:cxnLst/>
              <a:rect l="l" t="t" r="r" b="b"/>
              <a:pathLst>
                <a:path w="4163172" h="275268">
                  <a:moveTo>
                    <a:pt x="8326" y="0"/>
                  </a:moveTo>
                  <a:lnTo>
                    <a:pt x="4154846" y="0"/>
                  </a:lnTo>
                  <a:cubicBezTo>
                    <a:pt x="4157054" y="0"/>
                    <a:pt x="4159172" y="877"/>
                    <a:pt x="4160733" y="2439"/>
                  </a:cubicBezTo>
                  <a:cubicBezTo>
                    <a:pt x="4162295" y="4000"/>
                    <a:pt x="4163172" y="6118"/>
                    <a:pt x="4163172" y="8326"/>
                  </a:cubicBezTo>
                  <a:lnTo>
                    <a:pt x="4163172" y="266942"/>
                  </a:lnTo>
                  <a:cubicBezTo>
                    <a:pt x="4163172" y="269150"/>
                    <a:pt x="4162295" y="271268"/>
                    <a:pt x="4160733" y="272830"/>
                  </a:cubicBezTo>
                  <a:cubicBezTo>
                    <a:pt x="4159172" y="274391"/>
                    <a:pt x="4157054" y="275268"/>
                    <a:pt x="4154846" y="275268"/>
                  </a:cubicBezTo>
                  <a:lnTo>
                    <a:pt x="8326" y="275268"/>
                  </a:lnTo>
                  <a:cubicBezTo>
                    <a:pt x="6118" y="275268"/>
                    <a:pt x="4000" y="274391"/>
                    <a:pt x="2439" y="272830"/>
                  </a:cubicBezTo>
                  <a:cubicBezTo>
                    <a:pt x="877" y="271268"/>
                    <a:pt x="0" y="269150"/>
                    <a:pt x="0" y="266942"/>
                  </a:cubicBezTo>
                  <a:lnTo>
                    <a:pt x="0" y="8326"/>
                  </a:lnTo>
                  <a:cubicBezTo>
                    <a:pt x="0" y="6118"/>
                    <a:pt x="877" y="4000"/>
                    <a:pt x="2439" y="2439"/>
                  </a:cubicBezTo>
                  <a:cubicBezTo>
                    <a:pt x="4000" y="877"/>
                    <a:pt x="6118" y="0"/>
                    <a:pt x="8326" y="0"/>
                  </a:cubicBezTo>
                  <a:close/>
                </a:path>
              </a:pathLst>
            </a:custGeom>
            <a:solidFill>
              <a:srgbClr val="C3E4FF"/>
            </a:solidFill>
            <a:ln w="38100" cap="sq">
              <a:solidFill>
                <a:srgbClr val="0571D3"/>
              </a:solidFill>
              <a:prstDash val="solid"/>
              <a:miter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163172" cy="3133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3360"/>
                </a:lnSpc>
              </a:pPr>
              <a:r>
                <a:rPr lang="en-US" sz="2400" b="1" dirty="0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  Key Guarantee: </a:t>
              </a:r>
            </a:p>
            <a:p>
              <a:pPr algn="l">
                <a:lnSpc>
                  <a:spcPts val="3360"/>
                </a:lnSpc>
              </a:pPr>
              <a:r>
                <a:rPr lang="en-US" sz="2400" b="1" dirty="0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  </a:t>
              </a:r>
              <a:r>
                <a:rPr lang="en-US" sz="2400" dirty="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By persisting the **intent** to change data before a system failure can </a:t>
              </a:r>
              <a:r>
                <a:rPr lang="en-US" sz="2400" dirty="0" err="1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couur</a:t>
              </a:r>
              <a:r>
                <a:rPr lang="en-US" sz="2400" dirty="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, we guarantee durability</a:t>
              </a: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001807" y="839153"/>
            <a:ext cx="12284386" cy="857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80"/>
              </a:lnSpc>
            </a:pPr>
            <a:r>
              <a:rPr lang="en-US" sz="5567" b="1" dirty="0">
                <a:solidFill>
                  <a:srgbClr val="10101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Append-Only Log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473061" y="2029778"/>
            <a:ext cx="15341878" cy="895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 dirty="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Every Operation that modifies data is first written to a log on disk before being confirmed.</a:t>
            </a:r>
          </a:p>
          <a:p>
            <a:pPr algn="l">
              <a:lnSpc>
                <a:spcPts val="3640"/>
              </a:lnSpc>
            </a:pPr>
            <a:r>
              <a:rPr lang="en-US" sz="2600" dirty="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This ‘append-only’ approach is the cornerstone of PyKV’s durability.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5314516"/>
            <a:ext cx="7315595" cy="32566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22"/>
              </a:lnSpc>
            </a:pPr>
            <a:r>
              <a:rPr lang="en-US" sz="2658" b="1" dirty="0">
                <a:solidFill>
                  <a:srgbClr val="10101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Structure: </a:t>
            </a:r>
            <a:r>
              <a:rPr lang="en-US" sz="2658" dirty="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each entry in the Write-Ahead log is a structured, self-contained record of a single operation.</a:t>
            </a:r>
          </a:p>
          <a:p>
            <a:pPr algn="l">
              <a:lnSpc>
                <a:spcPts val="3722"/>
              </a:lnSpc>
            </a:pPr>
            <a:endParaRPr lang="en-US" sz="2658" dirty="0">
              <a:solidFill>
                <a:srgbClr val="10101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3722"/>
              </a:lnSpc>
            </a:pPr>
            <a:r>
              <a:rPr lang="en-US" sz="2658" b="1" dirty="0">
                <a:solidFill>
                  <a:srgbClr val="10101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Format : </a:t>
            </a:r>
            <a:r>
              <a:rPr lang="en-US" sz="2658" dirty="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We use JSON for its simplicity, human-readability, and broad language support.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9144000" y="5376144"/>
            <a:ext cx="7844696" cy="3559759"/>
            <a:chOff x="0" y="0"/>
            <a:chExt cx="2066093" cy="93755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066093" cy="937550"/>
            </a:xfrm>
            <a:custGeom>
              <a:avLst/>
              <a:gdLst/>
              <a:ahLst/>
              <a:cxnLst/>
              <a:rect l="l" t="t" r="r" b="b"/>
              <a:pathLst>
                <a:path w="2066093" h="937550">
                  <a:moveTo>
                    <a:pt x="16777" y="0"/>
                  </a:moveTo>
                  <a:lnTo>
                    <a:pt x="2049316" y="0"/>
                  </a:lnTo>
                  <a:cubicBezTo>
                    <a:pt x="2053765" y="0"/>
                    <a:pt x="2058033" y="1768"/>
                    <a:pt x="2061179" y="4914"/>
                  </a:cubicBezTo>
                  <a:cubicBezTo>
                    <a:pt x="2064325" y="8060"/>
                    <a:pt x="2066093" y="12328"/>
                    <a:pt x="2066093" y="16777"/>
                  </a:cubicBezTo>
                  <a:lnTo>
                    <a:pt x="2066093" y="920772"/>
                  </a:lnTo>
                  <a:cubicBezTo>
                    <a:pt x="2066093" y="930038"/>
                    <a:pt x="2058582" y="937550"/>
                    <a:pt x="2049316" y="937550"/>
                  </a:cubicBezTo>
                  <a:lnTo>
                    <a:pt x="16777" y="937550"/>
                  </a:lnTo>
                  <a:cubicBezTo>
                    <a:pt x="12328" y="937550"/>
                    <a:pt x="8060" y="935782"/>
                    <a:pt x="4914" y="932636"/>
                  </a:cubicBezTo>
                  <a:cubicBezTo>
                    <a:pt x="1768" y="929489"/>
                    <a:pt x="0" y="925222"/>
                    <a:pt x="0" y="920772"/>
                  </a:cubicBezTo>
                  <a:lnTo>
                    <a:pt x="0" y="16777"/>
                  </a:lnTo>
                  <a:cubicBezTo>
                    <a:pt x="0" y="12328"/>
                    <a:pt x="1768" y="8060"/>
                    <a:pt x="4914" y="4914"/>
                  </a:cubicBezTo>
                  <a:cubicBezTo>
                    <a:pt x="8060" y="1768"/>
                    <a:pt x="12328" y="0"/>
                    <a:pt x="16777" y="0"/>
                  </a:cubicBezTo>
                  <a:close/>
                </a:path>
              </a:pathLst>
            </a:custGeom>
            <a:solidFill>
              <a:srgbClr val="CAD9E3"/>
            </a:solidFill>
            <a:ln w="38100" cap="sq">
              <a:solidFill>
                <a:srgbClr val="0571D3"/>
              </a:solidFill>
              <a:prstDash val="solid"/>
              <a:miter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2066093" cy="975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3360"/>
                </a:lnSpc>
              </a:pPr>
              <a:r>
                <a:rPr lang="en-US" sz="2400" dirty="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{"time": </a:t>
              </a:r>
              <a:r>
                <a:rPr lang="en-US" sz="2400" dirty="0">
                  <a:solidFill>
                    <a:srgbClr val="0571D3"/>
                  </a:solidFill>
                  <a:latin typeface="Montserrat"/>
                  <a:ea typeface="Montserrat"/>
                  <a:cs typeface="Montserrat"/>
                  <a:sym typeface="Montserrat"/>
                </a:rPr>
                <a:t>"</a:t>
              </a:r>
              <a:r>
                <a:rPr lang="en-US" sz="2400" dirty="0">
                  <a:solidFill>
                    <a:srgbClr val="193C6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2023-10-27T10:00:01Z"</a:t>
              </a:r>
              <a:r>
                <a:rPr lang="en-US" sz="2400" dirty="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, "op": "</a:t>
              </a:r>
              <a:r>
                <a:rPr lang="en-US" sz="2400" dirty="0">
                  <a:solidFill>
                    <a:srgbClr val="B4471A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SET</a:t>
              </a:r>
              <a:r>
                <a:rPr lang="en-US" sz="2400" dirty="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",</a:t>
              </a:r>
            </a:p>
            <a:p>
              <a:pPr algn="l">
                <a:lnSpc>
                  <a:spcPts val="3360"/>
                </a:lnSpc>
              </a:pPr>
              <a:r>
                <a:rPr lang="en-US" sz="2400" dirty="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"key": "</a:t>
              </a:r>
              <a:r>
                <a:rPr lang="en-US" sz="2400" dirty="0">
                  <a:solidFill>
                    <a:srgbClr val="193C6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user:123</a:t>
              </a:r>
              <a:r>
                <a:rPr lang="en-US" sz="2400" dirty="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", "value": "</a:t>
              </a:r>
              <a:r>
                <a:rPr lang="en-US" sz="2400" dirty="0">
                  <a:solidFill>
                    <a:srgbClr val="193C6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Alice</a:t>
              </a:r>
              <a:r>
                <a:rPr lang="en-US" sz="2400" dirty="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" , “ttl”: “</a:t>
              </a:r>
              <a:r>
                <a:rPr lang="en-US" sz="2400" dirty="0">
                  <a:solidFill>
                    <a:srgbClr val="193C6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100</a:t>
              </a:r>
              <a:r>
                <a:rPr lang="en-US" sz="2400" dirty="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”}</a:t>
              </a:r>
            </a:p>
            <a:p>
              <a:pPr algn="l">
                <a:lnSpc>
                  <a:spcPts val="3360"/>
                </a:lnSpc>
              </a:pPr>
              <a:endParaRPr lang="en-US" sz="24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algn="l">
                <a:lnSpc>
                  <a:spcPts val="3360"/>
                </a:lnSpc>
              </a:pPr>
              <a:r>
                <a:rPr lang="en-US" sz="2400" dirty="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{"time": "</a:t>
              </a:r>
              <a:r>
                <a:rPr lang="en-US" sz="2400" dirty="0">
                  <a:solidFill>
                    <a:srgbClr val="193C6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2023-10-27T10:00:05Z</a:t>
              </a:r>
              <a:r>
                <a:rPr lang="en-US" sz="2400" dirty="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", "op": "</a:t>
              </a:r>
              <a:r>
                <a:rPr lang="en-US" sz="2400" dirty="0">
                  <a:solidFill>
                    <a:srgbClr val="B4471A"/>
                  </a:solidFill>
                  <a:latin typeface="Montserrat"/>
                  <a:ea typeface="Montserrat"/>
                  <a:cs typeface="Montserrat"/>
                  <a:sym typeface="Montserrat"/>
                </a:rPr>
                <a:t>UPDATE</a:t>
              </a:r>
              <a:r>
                <a:rPr lang="en-US" sz="2400" dirty="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",</a:t>
              </a:r>
            </a:p>
            <a:p>
              <a:pPr algn="l">
                <a:lnSpc>
                  <a:spcPts val="3360"/>
                </a:lnSpc>
              </a:pPr>
              <a:r>
                <a:rPr lang="en-US" sz="2400" dirty="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"key": "</a:t>
              </a:r>
              <a:r>
                <a:rPr lang="en-US" sz="2400" dirty="0">
                  <a:solidFill>
                    <a:srgbClr val="193C6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user:123</a:t>
              </a:r>
              <a:r>
                <a:rPr lang="en-US" sz="2400" dirty="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", "value": "</a:t>
              </a:r>
              <a:r>
                <a:rPr lang="en-US" sz="2400" dirty="0">
                  <a:solidFill>
                    <a:srgbClr val="193C6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Alicia</a:t>
              </a:r>
              <a:r>
                <a:rPr lang="en-US" sz="2400" dirty="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", “ttl”: </a:t>
              </a:r>
              <a:r>
                <a:rPr lang="en-US" sz="2400" dirty="0">
                  <a:solidFill>
                    <a:srgbClr val="193C6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None</a:t>
              </a:r>
              <a:r>
                <a:rPr lang="en-US" sz="2400" dirty="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}</a:t>
              </a:r>
            </a:p>
            <a:p>
              <a:pPr algn="l">
                <a:lnSpc>
                  <a:spcPts val="3360"/>
                </a:lnSpc>
              </a:pPr>
              <a:endParaRPr lang="en-US" sz="24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algn="l">
                <a:lnSpc>
                  <a:spcPts val="3360"/>
                </a:lnSpc>
              </a:pPr>
              <a:r>
                <a:rPr lang="en-US" sz="2400" dirty="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{"time": "</a:t>
              </a:r>
              <a:r>
                <a:rPr lang="en-US" sz="2400" dirty="0">
                  <a:solidFill>
                    <a:srgbClr val="193C6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2023-10-27T10:00:12Z</a:t>
              </a:r>
              <a:r>
                <a:rPr lang="en-US" sz="2400" dirty="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", "op": "</a:t>
              </a:r>
              <a:r>
                <a:rPr lang="en-US" sz="2400" dirty="0">
                  <a:solidFill>
                    <a:srgbClr val="B4471A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DELETE</a:t>
              </a:r>
              <a:r>
                <a:rPr lang="en-US" sz="2400" dirty="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",</a:t>
              </a:r>
            </a:p>
            <a:p>
              <a:pPr algn="l">
                <a:lnSpc>
                  <a:spcPts val="3360"/>
                </a:lnSpc>
              </a:pPr>
              <a:r>
                <a:rPr lang="en-US" sz="2400" dirty="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"key": </a:t>
              </a:r>
              <a:r>
                <a:rPr lang="en-US" sz="2400" dirty="0">
                  <a:solidFill>
                    <a:srgbClr val="193C6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"user:123</a:t>
              </a:r>
              <a:r>
                <a:rPr lang="en-US" sz="2400" dirty="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", "value": </a:t>
              </a:r>
              <a:r>
                <a:rPr lang="en-US" sz="2400" dirty="0">
                  <a:solidFill>
                    <a:srgbClr val="193C6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null</a:t>
              </a:r>
              <a:r>
                <a:rPr lang="en-US" sz="2400" dirty="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}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87103" y="7132521"/>
            <a:ext cx="7397768" cy="2545740"/>
          </a:xfrm>
          <a:custGeom>
            <a:avLst/>
            <a:gdLst/>
            <a:ahLst/>
            <a:cxnLst/>
            <a:rect l="l" t="t" r="r" b="b"/>
            <a:pathLst>
              <a:path w="7397768" h="2545740">
                <a:moveTo>
                  <a:pt x="0" y="0"/>
                </a:moveTo>
                <a:lnTo>
                  <a:pt x="7397768" y="0"/>
                </a:lnTo>
                <a:lnTo>
                  <a:pt x="7397768" y="2545740"/>
                </a:lnTo>
                <a:lnTo>
                  <a:pt x="0" y="25457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3" name="TextBox 3"/>
          <p:cNvSpPr txBox="1"/>
          <p:nvPr/>
        </p:nvSpPr>
        <p:spPr>
          <a:xfrm>
            <a:off x="1287103" y="577505"/>
            <a:ext cx="15972197" cy="7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760"/>
              </a:lnSpc>
              <a:spcBef>
                <a:spcPct val="0"/>
              </a:spcBef>
            </a:pPr>
            <a:r>
              <a:rPr lang="en-US" sz="4800" b="1" dirty="0">
                <a:solidFill>
                  <a:srgbClr val="120052"/>
                </a:solidFill>
                <a:latin typeface="Roboto Bold"/>
                <a:ea typeface="Roboto Bold"/>
                <a:cs typeface="Roboto Bold"/>
                <a:sym typeface="Roboto Bold"/>
              </a:rPr>
              <a:t>Performance Optimization: Asynchronous WAL Writer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73176" y="1707279"/>
            <a:ext cx="8297121" cy="54252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370"/>
              </a:lnSpc>
            </a:pPr>
            <a:r>
              <a:rPr lang="en-US" sz="2407" b="1" dirty="0">
                <a:solidFill>
                  <a:srgbClr val="10101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The Problem</a:t>
            </a:r>
          </a:p>
          <a:p>
            <a:pPr marL="519842" lvl="1" indent="-259921" algn="l">
              <a:lnSpc>
                <a:spcPts val="3370"/>
              </a:lnSpc>
              <a:buFont typeface="Arial"/>
              <a:buChar char="•"/>
            </a:pPr>
            <a:r>
              <a:rPr lang="en-US" sz="2407" dirty="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Writing every operation directly to disk is slow.</a:t>
            </a:r>
          </a:p>
          <a:p>
            <a:pPr marL="519842" lvl="1" indent="-259921" algn="just">
              <a:lnSpc>
                <a:spcPts val="3370"/>
              </a:lnSpc>
              <a:buFont typeface="Arial"/>
              <a:buChar char="•"/>
            </a:pPr>
            <a:r>
              <a:rPr lang="en-US" sz="2407" dirty="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If disk I/O runs in the main server thread, client requests get blocked, increasing latency.</a:t>
            </a:r>
          </a:p>
          <a:p>
            <a:pPr algn="just">
              <a:lnSpc>
                <a:spcPts val="3370"/>
              </a:lnSpc>
            </a:pPr>
            <a:endParaRPr lang="en-US" sz="2407" dirty="0">
              <a:solidFill>
                <a:srgbClr val="10101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just">
              <a:lnSpc>
                <a:spcPts val="3370"/>
              </a:lnSpc>
            </a:pPr>
            <a:r>
              <a:rPr lang="en-US" sz="2407" b="1" dirty="0">
                <a:solidFill>
                  <a:srgbClr val="10101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The Solution</a:t>
            </a:r>
          </a:p>
          <a:p>
            <a:pPr marL="519842" lvl="1" indent="-259921" algn="just">
              <a:lnSpc>
                <a:spcPts val="3370"/>
              </a:lnSpc>
              <a:buFont typeface="Arial"/>
              <a:buChar char="•"/>
            </a:pPr>
            <a:r>
              <a:rPr lang="en-US" sz="2407" dirty="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To prevent disk I/O from blocking client requests, write operations 1st added to a in-memory queue.</a:t>
            </a:r>
          </a:p>
          <a:p>
            <a:pPr marL="519842" lvl="1" indent="-259921" algn="just">
              <a:lnSpc>
                <a:spcPts val="3370"/>
              </a:lnSpc>
              <a:buFont typeface="Arial"/>
              <a:buChar char="•"/>
            </a:pPr>
            <a:r>
              <a:rPr lang="en-US" sz="2407" dirty="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A dedicated background thread works continuously to flush this queue to the wal.log file in batches.</a:t>
            </a:r>
          </a:p>
          <a:p>
            <a:pPr marL="519842" lvl="1" indent="-259921" algn="just">
              <a:lnSpc>
                <a:spcPts val="3370"/>
              </a:lnSpc>
              <a:buFont typeface="Arial"/>
              <a:buChar char="•"/>
            </a:pPr>
            <a:r>
              <a:rPr lang="en-US" sz="2407" dirty="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This decouples client latency from disk latency</a:t>
            </a:r>
          </a:p>
          <a:p>
            <a:pPr algn="just">
              <a:lnSpc>
                <a:spcPts val="3370"/>
              </a:lnSpc>
              <a:spcBef>
                <a:spcPct val="0"/>
              </a:spcBef>
            </a:pPr>
            <a:endParaRPr lang="en-US" sz="2407" dirty="0">
              <a:solidFill>
                <a:srgbClr val="10101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9593073" y="2141949"/>
            <a:ext cx="7666227" cy="66825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370"/>
              </a:lnSpc>
            </a:pPr>
            <a:r>
              <a:rPr lang="en-US" sz="2407" b="1" dirty="0">
                <a:solidFill>
                  <a:srgbClr val="10101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How It Works (Flow)</a:t>
            </a:r>
          </a:p>
          <a:p>
            <a:pPr marL="519842" lvl="1" indent="-259921" algn="just">
              <a:lnSpc>
                <a:spcPts val="3370"/>
              </a:lnSpc>
              <a:buAutoNum type="arabicPeriod"/>
            </a:pPr>
            <a:r>
              <a:rPr lang="en-US" sz="2407" dirty="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Client sends a write request (SET / UPDATE / DELETE)</a:t>
            </a:r>
          </a:p>
          <a:p>
            <a:pPr marL="519842" lvl="1" indent="-259921" algn="just">
              <a:lnSpc>
                <a:spcPts val="3370"/>
              </a:lnSpc>
              <a:buAutoNum type="arabicPeriod"/>
            </a:pPr>
            <a:r>
              <a:rPr lang="en-US" sz="2407" dirty="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Operation is added to an in-memory WAL queue</a:t>
            </a:r>
          </a:p>
          <a:p>
            <a:pPr marL="519842" lvl="1" indent="-259921" algn="just">
              <a:lnSpc>
                <a:spcPts val="3370"/>
              </a:lnSpc>
              <a:buAutoNum type="arabicPeriod"/>
            </a:pPr>
            <a:r>
              <a:rPr lang="en-US" sz="2407" dirty="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Client response is returned immediately (non-blocking)</a:t>
            </a:r>
          </a:p>
          <a:p>
            <a:pPr marL="519842" lvl="1" indent="-259921" algn="just">
              <a:lnSpc>
                <a:spcPts val="3370"/>
              </a:lnSpc>
              <a:buAutoNum type="arabicPeriod"/>
            </a:pPr>
            <a:r>
              <a:rPr lang="en-US" sz="2407" dirty="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A background WAL writer thread:</a:t>
            </a:r>
          </a:p>
          <a:p>
            <a:pPr marL="1039685" lvl="2" indent="-346562" algn="just">
              <a:lnSpc>
                <a:spcPts val="3370"/>
              </a:lnSpc>
              <a:buFont typeface="Arial"/>
              <a:buChar char="⚬"/>
            </a:pPr>
            <a:r>
              <a:rPr lang="en-US" sz="2407" dirty="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Picks multiple entries (batch)</a:t>
            </a:r>
          </a:p>
          <a:p>
            <a:pPr marL="1039685" lvl="2" indent="-346562" algn="just">
              <a:lnSpc>
                <a:spcPts val="3370"/>
              </a:lnSpc>
              <a:buFont typeface="Arial"/>
              <a:buChar char="⚬"/>
            </a:pPr>
            <a:r>
              <a:rPr lang="en-US" sz="2407" dirty="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Writes them to wal.log</a:t>
            </a:r>
          </a:p>
          <a:p>
            <a:pPr marL="1039685" lvl="2" indent="-346562" algn="just">
              <a:lnSpc>
                <a:spcPts val="3370"/>
              </a:lnSpc>
              <a:buFont typeface="Arial"/>
              <a:buChar char="⚬"/>
            </a:pPr>
            <a:r>
              <a:rPr lang="en-US" sz="2407" dirty="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Calls fsync() to ensure durability</a:t>
            </a:r>
          </a:p>
          <a:p>
            <a:pPr marL="519842" lvl="1" indent="-259921" algn="just">
              <a:lnSpc>
                <a:spcPts val="3370"/>
              </a:lnSpc>
              <a:buAutoNum type="arabicPeriod"/>
            </a:pPr>
            <a:r>
              <a:rPr lang="en-US" sz="2407" dirty="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If disk write fails, WAL entries remain in memory and are retried safely.</a:t>
            </a:r>
          </a:p>
          <a:p>
            <a:pPr marL="519842" lvl="1" indent="-259921" algn="just">
              <a:lnSpc>
                <a:spcPts val="3370"/>
              </a:lnSpc>
              <a:buAutoNum type="arabicPeriod"/>
            </a:pPr>
            <a:r>
              <a:rPr lang="en-US" sz="2407" dirty="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On shutdown, remaining WAL entries are flushed</a:t>
            </a:r>
          </a:p>
          <a:p>
            <a:pPr algn="just">
              <a:lnSpc>
                <a:spcPts val="3370"/>
              </a:lnSpc>
              <a:spcBef>
                <a:spcPct val="0"/>
              </a:spcBef>
            </a:pPr>
            <a:endParaRPr lang="en-US" sz="2407" dirty="0">
              <a:solidFill>
                <a:srgbClr val="10101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028700" cy="10431709"/>
            <a:chOff x="0" y="0"/>
            <a:chExt cx="248288" cy="251780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8288" cy="2517805"/>
            </a:xfrm>
            <a:custGeom>
              <a:avLst/>
              <a:gdLst/>
              <a:ahLst/>
              <a:cxnLst/>
              <a:rect l="l" t="t" r="r" b="b"/>
              <a:pathLst>
                <a:path w="248288" h="2517805">
                  <a:moveTo>
                    <a:pt x="0" y="0"/>
                  </a:moveTo>
                  <a:lnTo>
                    <a:pt x="248288" y="0"/>
                  </a:lnTo>
                  <a:lnTo>
                    <a:pt x="248288" y="2517805"/>
                  </a:lnTo>
                  <a:lnTo>
                    <a:pt x="0" y="2517805"/>
                  </a:lnTo>
                  <a:close/>
                </a:path>
              </a:pathLst>
            </a:custGeom>
            <a:solidFill>
              <a:srgbClr val="0571D3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48288" cy="25559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60"/>
                </a:lnSpc>
                <a:spcBef>
                  <a:spcPct val="0"/>
                </a:spcBef>
              </a:pPr>
              <a:endParaRPr dirty="0"/>
            </a:p>
          </p:txBody>
        </p:sp>
      </p:grpSp>
      <p:sp>
        <p:nvSpPr>
          <p:cNvPr id="5" name="Freeform 5"/>
          <p:cNvSpPr/>
          <p:nvPr/>
        </p:nvSpPr>
        <p:spPr>
          <a:xfrm>
            <a:off x="9144000" y="3474354"/>
            <a:ext cx="8284735" cy="4189547"/>
          </a:xfrm>
          <a:custGeom>
            <a:avLst/>
            <a:gdLst/>
            <a:ahLst/>
            <a:cxnLst/>
            <a:rect l="l" t="t" r="r" b="b"/>
            <a:pathLst>
              <a:path w="8284735" h="4189547">
                <a:moveTo>
                  <a:pt x="0" y="0"/>
                </a:moveTo>
                <a:lnTo>
                  <a:pt x="8284735" y="0"/>
                </a:lnTo>
                <a:lnTo>
                  <a:pt x="8284735" y="4189547"/>
                </a:lnTo>
                <a:lnTo>
                  <a:pt x="0" y="418954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6" name="TextBox 6"/>
          <p:cNvSpPr txBox="1"/>
          <p:nvPr/>
        </p:nvSpPr>
        <p:spPr>
          <a:xfrm>
            <a:off x="1999713" y="275856"/>
            <a:ext cx="15972197" cy="809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360"/>
              </a:lnSpc>
              <a:spcBef>
                <a:spcPct val="0"/>
              </a:spcBef>
            </a:pPr>
            <a:r>
              <a:rPr lang="en-US" sz="5300" b="1" dirty="0">
                <a:solidFill>
                  <a:srgbClr val="120052"/>
                </a:solidFill>
                <a:latin typeface="Roboto Bold"/>
                <a:ea typeface="Roboto Bold"/>
                <a:cs typeface="Roboto Bold"/>
                <a:sym typeface="Roboto Bold"/>
              </a:rPr>
              <a:t>Recovery Process: Rebuilding State on Startup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999713" y="1578075"/>
            <a:ext cx="14871911" cy="14079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770"/>
              </a:lnSpc>
              <a:spcBef>
                <a:spcPct val="0"/>
              </a:spcBef>
            </a:pPr>
            <a:r>
              <a:rPr lang="en-US" sz="2693" b="1" dirty="0">
                <a:solidFill>
                  <a:srgbClr val="10101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The Process: </a:t>
            </a:r>
            <a:r>
              <a:rPr lang="en-US" sz="2693" dirty="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Recovery is an automatic process triggered when the PyKV server starts. It uses the Write-Ahead Log as a script to reconstruct the exact state of the ‘CoreStore’ before last shutdown.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999713" y="3426729"/>
            <a:ext cx="6892780" cy="47089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50"/>
              </a:lnSpc>
            </a:pPr>
            <a:r>
              <a:rPr lang="en-US" sz="2607" b="1" dirty="0">
                <a:solidFill>
                  <a:srgbClr val="10101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How it works (‘recover’ function): </a:t>
            </a:r>
          </a:p>
          <a:p>
            <a:pPr algn="l">
              <a:lnSpc>
                <a:spcPts val="3650"/>
              </a:lnSpc>
            </a:pPr>
            <a:endParaRPr lang="en-US" sz="2607" b="1" dirty="0">
              <a:solidFill>
                <a:srgbClr val="101010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marL="563022" lvl="1" indent="-281511" algn="l">
              <a:lnSpc>
                <a:spcPts val="3650"/>
              </a:lnSpc>
              <a:buAutoNum type="arabicPeriod"/>
            </a:pPr>
            <a:r>
              <a:rPr lang="en-US" sz="2607" dirty="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The system checks for the existence of the log file (‘wal.log’)</a:t>
            </a:r>
          </a:p>
          <a:p>
            <a:pPr marL="563022" lvl="1" indent="-281511" algn="l">
              <a:lnSpc>
                <a:spcPts val="3650"/>
              </a:lnSpc>
              <a:buAutoNum type="arabicPeriod"/>
            </a:pPr>
            <a:r>
              <a:rPr lang="en-US" sz="2607" dirty="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It opens the file and reads it line-by-line, from beginning to end.</a:t>
            </a:r>
          </a:p>
          <a:p>
            <a:pPr marL="563022" lvl="1" indent="-281511" algn="l">
              <a:lnSpc>
                <a:spcPts val="3650"/>
              </a:lnSpc>
              <a:buAutoNum type="arabicPeriod"/>
            </a:pPr>
            <a:r>
              <a:rPr lang="en-US" sz="2607" dirty="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Each line (a JSON entry) is parsed.</a:t>
            </a:r>
          </a:p>
          <a:p>
            <a:pPr marL="563022" lvl="1" indent="-281511" algn="l">
              <a:lnSpc>
                <a:spcPts val="3650"/>
              </a:lnSpc>
              <a:spcBef>
                <a:spcPct val="0"/>
              </a:spcBef>
              <a:buAutoNum type="arabicPeriod"/>
            </a:pPr>
            <a:r>
              <a:rPr lang="en-US" sz="2607" dirty="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The operation (‘SET’, ‘UPDATE’, ‘DELETE’) is “replayed” against the fresh, empty ‘CoreStore’.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999713" y="8500834"/>
            <a:ext cx="14871911" cy="9317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770"/>
              </a:lnSpc>
              <a:spcBef>
                <a:spcPct val="0"/>
              </a:spcBef>
            </a:pPr>
            <a:r>
              <a:rPr lang="en-US" sz="2693" dirty="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By the end of the file, the in-memory store is a perfect mirror of its last known state, ensuring zero data loss from shutdowns.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10420212" y="-5709155"/>
            <a:ext cx="2061691" cy="13480001"/>
            <a:chOff x="0" y="0"/>
            <a:chExt cx="115687" cy="75640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5687" cy="756402"/>
            </a:xfrm>
            <a:custGeom>
              <a:avLst/>
              <a:gdLst/>
              <a:ahLst/>
              <a:cxnLst/>
              <a:rect l="l" t="t" r="r" b="b"/>
              <a:pathLst>
                <a:path w="115687" h="756402">
                  <a:moveTo>
                    <a:pt x="0" y="0"/>
                  </a:moveTo>
                  <a:lnTo>
                    <a:pt x="115687" y="0"/>
                  </a:lnTo>
                  <a:lnTo>
                    <a:pt x="115687" y="756402"/>
                  </a:lnTo>
                  <a:lnTo>
                    <a:pt x="0" y="756402"/>
                  </a:lnTo>
                  <a:close/>
                </a:path>
              </a:pathLst>
            </a:custGeom>
            <a:solidFill>
              <a:srgbClr val="193C6F"/>
            </a:soli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15687" cy="7945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 dirty="0"/>
            </a:p>
          </p:txBody>
        </p:sp>
      </p:grpSp>
      <p:grpSp>
        <p:nvGrpSpPr>
          <p:cNvPr id="5" name="Group 5"/>
          <p:cNvGrpSpPr/>
          <p:nvPr/>
        </p:nvGrpSpPr>
        <p:grpSpPr>
          <a:xfrm rot="5400000">
            <a:off x="1192523" y="-1192523"/>
            <a:ext cx="2073635" cy="4458681"/>
            <a:chOff x="0" y="0"/>
            <a:chExt cx="116358" cy="25018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16358" cy="250189"/>
            </a:xfrm>
            <a:custGeom>
              <a:avLst/>
              <a:gdLst/>
              <a:ahLst/>
              <a:cxnLst/>
              <a:rect l="l" t="t" r="r" b="b"/>
              <a:pathLst>
                <a:path w="116358" h="250189">
                  <a:moveTo>
                    <a:pt x="0" y="0"/>
                  </a:moveTo>
                  <a:lnTo>
                    <a:pt x="116358" y="0"/>
                  </a:lnTo>
                  <a:lnTo>
                    <a:pt x="116358" y="250189"/>
                  </a:lnTo>
                  <a:lnTo>
                    <a:pt x="0" y="250189"/>
                  </a:lnTo>
                  <a:close/>
                </a:path>
              </a:pathLst>
            </a:custGeom>
            <a:solidFill>
              <a:srgbClr val="193C6F"/>
            </a:soli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16358" cy="2882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 dirty="0"/>
            </a:p>
          </p:txBody>
        </p:sp>
      </p:grpSp>
      <p:sp>
        <p:nvSpPr>
          <p:cNvPr id="8" name="Freeform 8"/>
          <p:cNvSpPr/>
          <p:nvPr/>
        </p:nvSpPr>
        <p:spPr>
          <a:xfrm>
            <a:off x="3496188" y="4409505"/>
            <a:ext cx="11295625" cy="3379352"/>
          </a:xfrm>
          <a:custGeom>
            <a:avLst/>
            <a:gdLst/>
            <a:ahLst/>
            <a:cxnLst/>
            <a:rect l="l" t="t" r="r" b="b"/>
            <a:pathLst>
              <a:path w="11295625" h="3379352">
                <a:moveTo>
                  <a:pt x="0" y="0"/>
                </a:moveTo>
                <a:lnTo>
                  <a:pt x="11295624" y="0"/>
                </a:lnTo>
                <a:lnTo>
                  <a:pt x="11295624" y="3379352"/>
                </a:lnTo>
                <a:lnTo>
                  <a:pt x="0" y="33793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9" name="TextBox 9"/>
          <p:cNvSpPr txBox="1"/>
          <p:nvPr/>
        </p:nvSpPr>
        <p:spPr>
          <a:xfrm>
            <a:off x="5889902" y="538162"/>
            <a:ext cx="11369398" cy="981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794"/>
              </a:lnSpc>
              <a:spcBef>
                <a:spcPct val="0"/>
              </a:spcBef>
            </a:pPr>
            <a:r>
              <a:rPr lang="en-US" sz="6495" b="1" dirty="0">
                <a:solidFill>
                  <a:srgbClr val="F4F6F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Compaction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0" y="184270"/>
            <a:ext cx="4458681" cy="1657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99"/>
              </a:lnSpc>
            </a:pPr>
            <a:r>
              <a:rPr lang="en-US" sz="5499" b="1" dirty="0">
                <a:solidFill>
                  <a:srgbClr val="F4F6F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Module </a:t>
            </a:r>
          </a:p>
          <a:p>
            <a:pPr algn="ctr">
              <a:lnSpc>
                <a:spcPts val="6599"/>
              </a:lnSpc>
              <a:spcBef>
                <a:spcPct val="0"/>
              </a:spcBef>
            </a:pPr>
            <a:r>
              <a:rPr lang="en-US" sz="5499" b="1" dirty="0">
                <a:solidFill>
                  <a:srgbClr val="F4F6F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3 - B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37140" y="2598075"/>
            <a:ext cx="8347834" cy="1371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760"/>
              </a:lnSpc>
            </a:pPr>
            <a:r>
              <a:rPr lang="en-US" sz="2300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The Problem: </a:t>
            </a:r>
          </a:p>
          <a:p>
            <a:pPr algn="just">
              <a:lnSpc>
                <a:spcPts val="2760"/>
              </a:lnSpc>
              <a:spcBef>
                <a:spcPct val="0"/>
              </a:spcBef>
            </a:pPr>
            <a:r>
              <a:rPr lang="en-US" sz="23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The append-only nature of the WAL is great for write performance and durability, but it has a long-term consequence : the log file grows independently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37140" y="8312732"/>
            <a:ext cx="8347834" cy="1371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760"/>
              </a:lnSpc>
            </a:pPr>
            <a:r>
              <a:rPr lang="en-US" sz="2300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Solution:</a:t>
            </a:r>
          </a:p>
          <a:p>
            <a:pPr algn="just">
              <a:lnSpc>
                <a:spcPts val="2760"/>
              </a:lnSpc>
              <a:spcBef>
                <a:spcPct val="0"/>
              </a:spcBef>
            </a:pPr>
            <a:r>
              <a:rPr lang="en-US" sz="23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Log Compaction is as optimization process that rewrites the log file, discarding redundant historical data and keeping only latest value for each key.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684514" y="2544196"/>
            <a:ext cx="8134421" cy="1371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760"/>
              </a:lnSpc>
            </a:pPr>
            <a:r>
              <a:rPr lang="en-US" sz="2300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Impact</a:t>
            </a:r>
            <a:r>
              <a:rPr lang="en-US" sz="23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:</a:t>
            </a:r>
          </a:p>
          <a:p>
            <a:pPr marL="496585" lvl="1" indent="-248293" algn="just">
              <a:lnSpc>
                <a:spcPts val="2760"/>
              </a:lnSpc>
              <a:buFont typeface="Arial"/>
              <a:buChar char="•"/>
            </a:pPr>
            <a:r>
              <a:rPr lang="en-US" sz="23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Log contains redundant data</a:t>
            </a:r>
          </a:p>
          <a:p>
            <a:pPr marL="496585" lvl="1" indent="-248293" algn="just">
              <a:lnSpc>
                <a:spcPts val="2760"/>
              </a:lnSpc>
              <a:spcBef>
                <a:spcPct val="0"/>
              </a:spcBef>
              <a:buFont typeface="Arial"/>
              <a:buChar char="•"/>
            </a:pPr>
            <a:r>
              <a:rPr lang="en-US" sz="23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The server must replay operations for data that no longer exists in final state ⟶ Sower recovery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684514" y="8312732"/>
            <a:ext cx="7975712" cy="1371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760"/>
              </a:lnSpc>
            </a:pPr>
            <a:r>
              <a:rPr lang="en-US" sz="2300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Goal:</a:t>
            </a:r>
          </a:p>
          <a:p>
            <a:pPr algn="just">
              <a:lnSpc>
                <a:spcPts val="2760"/>
              </a:lnSpc>
              <a:spcBef>
                <a:spcPct val="0"/>
              </a:spcBef>
            </a:pPr>
            <a:r>
              <a:rPr lang="en-US" sz="23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To Produce a new, minimal log file that represents the exact same final in-memory state as the original, but significantly smaller and faster to replay.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57901" y="800100"/>
            <a:ext cx="15972197" cy="8232518"/>
            <a:chOff x="706361" y="-304800"/>
            <a:chExt cx="21296263" cy="10976691"/>
          </a:xfrm>
        </p:grpSpPr>
        <p:sp>
          <p:nvSpPr>
            <p:cNvPr id="3" name="Freeform 3"/>
            <p:cNvSpPr/>
            <p:nvPr/>
          </p:nvSpPr>
          <p:spPr>
            <a:xfrm>
              <a:off x="12718072" y="2262918"/>
              <a:ext cx="8578191" cy="7643521"/>
            </a:xfrm>
            <a:custGeom>
              <a:avLst/>
              <a:gdLst/>
              <a:ahLst/>
              <a:cxnLst/>
              <a:rect l="l" t="t" r="r" b="b"/>
              <a:pathLst>
                <a:path w="8578191" h="7643521">
                  <a:moveTo>
                    <a:pt x="0" y="0"/>
                  </a:moveTo>
                  <a:lnTo>
                    <a:pt x="8578191" y="0"/>
                  </a:lnTo>
                  <a:lnTo>
                    <a:pt x="8578191" y="7643521"/>
                  </a:lnTo>
                  <a:lnTo>
                    <a:pt x="0" y="76435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06361" y="-304800"/>
              <a:ext cx="21296263" cy="10763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6360"/>
                </a:lnSpc>
                <a:spcBef>
                  <a:spcPct val="0"/>
                </a:spcBef>
              </a:pPr>
              <a:r>
                <a:rPr lang="en-US" sz="5300" b="1" dirty="0">
                  <a:solidFill>
                    <a:srgbClr val="120052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Implementation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883643" y="1497463"/>
              <a:ext cx="10470849" cy="917442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4070"/>
                </a:lnSpc>
              </a:pPr>
              <a:r>
                <a:rPr lang="en-US" sz="2907" b="1" dirty="0">
                  <a:solidFill>
                    <a:srgbClr val="10101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The ‘compact_log’ Process: </a:t>
              </a:r>
            </a:p>
            <a:p>
              <a:pPr algn="just">
                <a:lnSpc>
                  <a:spcPts val="3650"/>
                </a:lnSpc>
              </a:pPr>
              <a:endParaRPr lang="en-US" sz="2907" b="1" dirty="0">
                <a:solidFill>
                  <a:srgbClr val="101010"/>
                </a:solidFill>
                <a:latin typeface="Montserrat Bold"/>
                <a:ea typeface="Montserrat Bold"/>
                <a:cs typeface="Montserrat Bold"/>
                <a:sym typeface="Montserrat Bold"/>
              </a:endParaRPr>
            </a:p>
            <a:p>
              <a:pPr marL="563021" lvl="1" indent="-281511" algn="just">
                <a:lnSpc>
                  <a:spcPts val="3650"/>
                </a:lnSpc>
                <a:buAutoNum type="arabicPeriod"/>
              </a:pPr>
              <a:r>
                <a:rPr lang="en-US" sz="2607" b="1" dirty="0">
                  <a:solidFill>
                    <a:srgbClr val="10101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Acquire Lock:</a:t>
              </a:r>
              <a:r>
                <a:rPr lang="en-US" sz="2607" dirty="0">
                  <a:solidFill>
                    <a:srgbClr val="10101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A shared lock prevents new writes to the log while compaction is reading it.</a:t>
              </a:r>
            </a:p>
            <a:p>
              <a:pPr marL="563021" lvl="1" indent="-281511" algn="just">
                <a:lnSpc>
                  <a:spcPts val="3650"/>
                </a:lnSpc>
                <a:buAutoNum type="arabicPeriod"/>
              </a:pPr>
              <a:r>
                <a:rPr lang="en-US" sz="2607" b="1" dirty="0">
                  <a:solidFill>
                    <a:srgbClr val="10101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Build Latest State: </a:t>
              </a:r>
              <a:r>
                <a:rPr lang="en-US" sz="2607" dirty="0">
                  <a:solidFill>
                    <a:srgbClr val="10101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Read the existing log and populate a dictionary (latest) with the final value for each key.</a:t>
              </a:r>
            </a:p>
            <a:p>
              <a:pPr marL="563021" lvl="1" indent="-281511" algn="just">
                <a:lnSpc>
                  <a:spcPts val="3650"/>
                </a:lnSpc>
                <a:buAutoNum type="arabicPeriod"/>
              </a:pPr>
              <a:r>
                <a:rPr lang="en-US" sz="2607" b="1" dirty="0">
                  <a:solidFill>
                    <a:srgbClr val="10101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Write to a Temporary File: </a:t>
              </a:r>
              <a:r>
                <a:rPr lang="en-US" sz="2607" dirty="0">
                  <a:solidFill>
                    <a:srgbClr val="10101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Create a new log in a separate temporary file, isolating the write process.</a:t>
              </a:r>
            </a:p>
            <a:p>
              <a:pPr marL="563021" lvl="1" indent="-281511" algn="just">
                <a:lnSpc>
                  <a:spcPts val="3650"/>
                </a:lnSpc>
                <a:spcBef>
                  <a:spcPct val="0"/>
                </a:spcBef>
                <a:buAutoNum type="arabicPeriod"/>
              </a:pPr>
              <a:r>
                <a:rPr lang="en-US" sz="2607" b="1" dirty="0">
                  <a:solidFill>
                    <a:srgbClr val="10101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Atomic Replacement: </a:t>
              </a:r>
              <a:r>
                <a:rPr lang="en-US" sz="2607" dirty="0">
                  <a:solidFill>
                    <a:srgbClr val="10101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Use `os.replace()` to atomically swap the old log file with the new one. This is a single, uninterruptible OS operation.</a:t>
              </a: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28130" y="628650"/>
            <a:ext cx="16811935" cy="8629650"/>
            <a:chOff x="0" y="0"/>
            <a:chExt cx="22415914" cy="11506200"/>
          </a:xfrm>
        </p:grpSpPr>
        <p:sp>
          <p:nvSpPr>
            <p:cNvPr id="3" name="Freeform 3"/>
            <p:cNvSpPr/>
            <p:nvPr/>
          </p:nvSpPr>
          <p:spPr>
            <a:xfrm>
              <a:off x="1241612" y="3829102"/>
              <a:ext cx="19691669" cy="4381396"/>
            </a:xfrm>
            <a:custGeom>
              <a:avLst/>
              <a:gdLst/>
              <a:ahLst/>
              <a:cxnLst/>
              <a:rect l="l" t="t" r="r" b="b"/>
              <a:pathLst>
                <a:path w="19691669" h="4381396">
                  <a:moveTo>
                    <a:pt x="0" y="0"/>
                  </a:moveTo>
                  <a:lnTo>
                    <a:pt x="19691669" y="0"/>
                  </a:lnTo>
                  <a:lnTo>
                    <a:pt x="19691669" y="4381396"/>
                  </a:lnTo>
                  <a:lnTo>
                    <a:pt x="0" y="43813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241021" y="-9525"/>
              <a:ext cx="21296263" cy="10763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6360"/>
                </a:lnSpc>
                <a:spcBef>
                  <a:spcPct val="0"/>
                </a:spcBef>
              </a:pPr>
              <a:r>
                <a:rPr lang="en-US" sz="5300" b="1" dirty="0">
                  <a:solidFill>
                    <a:srgbClr val="120052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Compaction in the Background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1532007"/>
              <a:ext cx="22174893" cy="163295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519842" lvl="1" indent="-259921" algn="just">
                <a:lnSpc>
                  <a:spcPts val="3370"/>
                </a:lnSpc>
                <a:buFont typeface="Arial"/>
                <a:buChar char="•"/>
              </a:pPr>
              <a:r>
                <a:rPr lang="en-US" sz="2407" dirty="0">
                  <a:solidFill>
                    <a:srgbClr val="10101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Running a potentially I/O intensive task like compaction in the main server thread would block incoming client requests, harming performance</a:t>
              </a:r>
            </a:p>
            <a:p>
              <a:pPr marL="519842" lvl="1" indent="-259921" algn="just">
                <a:lnSpc>
                  <a:spcPts val="337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407" dirty="0">
                  <a:solidFill>
                    <a:srgbClr val="10101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So PyKV runs the ’compact_log’ function periodically in a separate background thread.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241021" y="9314444"/>
              <a:ext cx="22174893" cy="219175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3370"/>
                </a:lnSpc>
              </a:pPr>
              <a:r>
                <a:rPr lang="en-US" sz="2407" b="1" dirty="0">
                  <a:solidFill>
                    <a:srgbClr val="10101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Why This is Effective:</a:t>
              </a:r>
            </a:p>
            <a:p>
              <a:pPr marL="519842" lvl="1" indent="-259921" algn="just">
                <a:lnSpc>
                  <a:spcPts val="3370"/>
                </a:lnSpc>
                <a:buFont typeface="Arial"/>
                <a:buChar char="•"/>
              </a:pPr>
              <a:r>
                <a:rPr lang="en-US" sz="2407" dirty="0">
                  <a:solidFill>
                    <a:srgbClr val="10101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Keeps the main server thread free and responsive to client requests.</a:t>
              </a:r>
            </a:p>
            <a:p>
              <a:pPr marL="519842" lvl="1" indent="-259921" algn="just">
                <a:lnSpc>
                  <a:spcPts val="3370"/>
                </a:lnSpc>
                <a:buFont typeface="Arial"/>
                <a:buChar char="•"/>
              </a:pPr>
              <a:r>
                <a:rPr lang="en-US" sz="2407" dirty="0">
                  <a:solidFill>
                    <a:srgbClr val="10101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Performs essential maintenance transparently to the user.</a:t>
              </a:r>
            </a:p>
            <a:p>
              <a:pPr marL="519842" lvl="1" indent="-259921" algn="just">
                <a:lnSpc>
                  <a:spcPts val="337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407" dirty="0">
                  <a:solidFill>
                    <a:srgbClr val="10101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Uses a shared lock to safely coordinate with the main thread's write operations.</a:t>
              </a: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10414240" y="-5715127"/>
            <a:ext cx="2073635" cy="13480001"/>
            <a:chOff x="0" y="0"/>
            <a:chExt cx="116358" cy="75640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6358" cy="756402"/>
            </a:xfrm>
            <a:custGeom>
              <a:avLst/>
              <a:gdLst/>
              <a:ahLst/>
              <a:cxnLst/>
              <a:rect l="l" t="t" r="r" b="b"/>
              <a:pathLst>
                <a:path w="116358" h="756402">
                  <a:moveTo>
                    <a:pt x="0" y="0"/>
                  </a:moveTo>
                  <a:lnTo>
                    <a:pt x="116358" y="0"/>
                  </a:lnTo>
                  <a:lnTo>
                    <a:pt x="116358" y="756402"/>
                  </a:lnTo>
                  <a:lnTo>
                    <a:pt x="0" y="756402"/>
                  </a:lnTo>
                  <a:close/>
                </a:path>
              </a:pathLst>
            </a:custGeom>
            <a:solidFill>
              <a:srgbClr val="193C6F"/>
            </a:soli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16358" cy="7945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 dirty="0"/>
            </a:p>
          </p:txBody>
        </p:sp>
      </p:grpSp>
      <p:grpSp>
        <p:nvGrpSpPr>
          <p:cNvPr id="5" name="Group 5"/>
          <p:cNvGrpSpPr/>
          <p:nvPr/>
        </p:nvGrpSpPr>
        <p:grpSpPr>
          <a:xfrm rot="5400000">
            <a:off x="3953405" y="-500587"/>
            <a:ext cx="2556092" cy="9177207"/>
            <a:chOff x="0" y="0"/>
            <a:chExt cx="134817" cy="48403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34817" cy="484038"/>
            </a:xfrm>
            <a:custGeom>
              <a:avLst/>
              <a:gdLst/>
              <a:ahLst/>
              <a:cxnLst/>
              <a:rect l="l" t="t" r="r" b="b"/>
              <a:pathLst>
                <a:path w="134817" h="484038">
                  <a:moveTo>
                    <a:pt x="0" y="0"/>
                  </a:moveTo>
                  <a:lnTo>
                    <a:pt x="134817" y="0"/>
                  </a:lnTo>
                  <a:lnTo>
                    <a:pt x="134817" y="484038"/>
                  </a:lnTo>
                  <a:lnTo>
                    <a:pt x="0" y="484038"/>
                  </a:lnTo>
                  <a:close/>
                </a:path>
              </a:pathLst>
            </a:custGeom>
            <a:solidFill>
              <a:srgbClr val="8063E8"/>
            </a:soli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34817" cy="5221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 dirty="0"/>
            </a:p>
          </p:txBody>
        </p:sp>
      </p:grpSp>
      <p:grpSp>
        <p:nvGrpSpPr>
          <p:cNvPr id="8" name="Group 8"/>
          <p:cNvGrpSpPr/>
          <p:nvPr/>
        </p:nvGrpSpPr>
        <p:grpSpPr>
          <a:xfrm rot="5400000">
            <a:off x="1186551" y="-1198495"/>
            <a:ext cx="2085578" cy="4458681"/>
            <a:chOff x="0" y="0"/>
            <a:chExt cx="117028" cy="25018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17028" cy="250189"/>
            </a:xfrm>
            <a:custGeom>
              <a:avLst/>
              <a:gdLst/>
              <a:ahLst/>
              <a:cxnLst/>
              <a:rect l="l" t="t" r="r" b="b"/>
              <a:pathLst>
                <a:path w="117028" h="250189">
                  <a:moveTo>
                    <a:pt x="0" y="0"/>
                  </a:moveTo>
                  <a:lnTo>
                    <a:pt x="117028" y="0"/>
                  </a:lnTo>
                  <a:lnTo>
                    <a:pt x="117028" y="250189"/>
                  </a:lnTo>
                  <a:lnTo>
                    <a:pt x="0" y="250189"/>
                  </a:lnTo>
                  <a:close/>
                </a:path>
              </a:pathLst>
            </a:custGeom>
            <a:solidFill>
              <a:srgbClr val="193C6F"/>
            </a:soli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17028" cy="2882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 dirty="0"/>
            </a:p>
          </p:txBody>
        </p:sp>
      </p:grpSp>
      <p:grpSp>
        <p:nvGrpSpPr>
          <p:cNvPr id="11" name="Group 11"/>
          <p:cNvGrpSpPr/>
          <p:nvPr/>
        </p:nvGrpSpPr>
        <p:grpSpPr>
          <a:xfrm rot="5400000">
            <a:off x="4528490" y="1647107"/>
            <a:ext cx="1405920" cy="9177207"/>
            <a:chOff x="0" y="0"/>
            <a:chExt cx="74153" cy="48403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74153" cy="484038"/>
            </a:xfrm>
            <a:custGeom>
              <a:avLst/>
              <a:gdLst/>
              <a:ahLst/>
              <a:cxnLst/>
              <a:rect l="l" t="t" r="r" b="b"/>
              <a:pathLst>
                <a:path w="74153" h="484038">
                  <a:moveTo>
                    <a:pt x="0" y="0"/>
                  </a:moveTo>
                  <a:lnTo>
                    <a:pt x="74153" y="0"/>
                  </a:lnTo>
                  <a:lnTo>
                    <a:pt x="74153" y="484038"/>
                  </a:lnTo>
                  <a:lnTo>
                    <a:pt x="0" y="484038"/>
                  </a:lnTo>
                  <a:close/>
                </a:path>
              </a:pathLst>
            </a:custGeom>
            <a:solidFill>
              <a:srgbClr val="1D6CAA"/>
            </a:soli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74153" cy="5221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 dirty="0"/>
            </a:p>
          </p:txBody>
        </p:sp>
      </p:grpSp>
      <p:grpSp>
        <p:nvGrpSpPr>
          <p:cNvPr id="14" name="Group 14"/>
          <p:cNvGrpSpPr/>
          <p:nvPr/>
        </p:nvGrpSpPr>
        <p:grpSpPr>
          <a:xfrm rot="5400000">
            <a:off x="3968545" y="3750826"/>
            <a:ext cx="2468143" cy="9177207"/>
            <a:chOff x="0" y="0"/>
            <a:chExt cx="130178" cy="48403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30178" cy="484038"/>
            </a:xfrm>
            <a:custGeom>
              <a:avLst/>
              <a:gdLst/>
              <a:ahLst/>
              <a:cxnLst/>
              <a:rect l="l" t="t" r="r" b="b"/>
              <a:pathLst>
                <a:path w="130178" h="484038">
                  <a:moveTo>
                    <a:pt x="0" y="0"/>
                  </a:moveTo>
                  <a:lnTo>
                    <a:pt x="130178" y="0"/>
                  </a:lnTo>
                  <a:lnTo>
                    <a:pt x="130178" y="484038"/>
                  </a:lnTo>
                  <a:lnTo>
                    <a:pt x="0" y="484038"/>
                  </a:lnTo>
                  <a:close/>
                </a:path>
              </a:pathLst>
            </a:custGeom>
            <a:solidFill>
              <a:srgbClr val="49A5EF"/>
            </a:soli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130178" cy="5221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 dirty="0"/>
            </a:p>
          </p:txBody>
        </p:sp>
      </p:grpSp>
      <p:sp>
        <p:nvSpPr>
          <p:cNvPr id="17" name="Freeform 17"/>
          <p:cNvSpPr/>
          <p:nvPr/>
        </p:nvSpPr>
        <p:spPr>
          <a:xfrm>
            <a:off x="10348218" y="4088017"/>
            <a:ext cx="7512979" cy="4019474"/>
          </a:xfrm>
          <a:custGeom>
            <a:avLst/>
            <a:gdLst/>
            <a:ahLst/>
            <a:cxnLst/>
            <a:rect l="l" t="t" r="r" b="b"/>
            <a:pathLst>
              <a:path w="7512979" h="4019474">
                <a:moveTo>
                  <a:pt x="0" y="0"/>
                </a:moveTo>
                <a:lnTo>
                  <a:pt x="7512980" y="0"/>
                </a:lnTo>
                <a:lnTo>
                  <a:pt x="7512980" y="4019474"/>
                </a:lnTo>
                <a:lnTo>
                  <a:pt x="0" y="40194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6508" t="-34487" r="-15535" b="-29949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18" name="TextBox 18"/>
          <p:cNvSpPr txBox="1"/>
          <p:nvPr/>
        </p:nvSpPr>
        <p:spPr>
          <a:xfrm>
            <a:off x="5889902" y="538162"/>
            <a:ext cx="11369398" cy="981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794"/>
              </a:lnSpc>
              <a:spcBef>
                <a:spcPct val="0"/>
              </a:spcBef>
            </a:pPr>
            <a:r>
              <a:rPr lang="en-US" sz="6495" b="1" dirty="0">
                <a:solidFill>
                  <a:srgbClr val="F4F6F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Replication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0" y="610536"/>
            <a:ext cx="4458681" cy="828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99"/>
              </a:lnSpc>
              <a:spcBef>
                <a:spcPct val="0"/>
              </a:spcBef>
            </a:pPr>
            <a:r>
              <a:rPr lang="en-US" sz="5499" b="1" dirty="0">
                <a:solidFill>
                  <a:srgbClr val="F4F6F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Module 4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820054" y="2619471"/>
            <a:ext cx="5225342" cy="38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00"/>
              </a:lnSpc>
              <a:spcBef>
                <a:spcPct val="0"/>
              </a:spcBef>
            </a:pPr>
            <a:r>
              <a:rPr lang="en-US" sz="2500" b="1" dirty="0">
                <a:solidFill>
                  <a:srgbClr val="F4F6F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Internal Data Structure Used: 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28700" y="3086100"/>
            <a:ext cx="8347834" cy="2057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Problem</a:t>
            </a:r>
          </a:p>
          <a:p>
            <a:pPr marL="496585" lvl="1" indent="-248293" algn="l">
              <a:lnSpc>
                <a:spcPts val="2760"/>
              </a:lnSpc>
              <a:buFont typeface="Arial"/>
              <a:buChar char="•"/>
            </a:pPr>
            <a:r>
              <a:rPr lang="en-US" sz="23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 single in-memory key-value store is vulnerable to node failure.</a:t>
            </a:r>
          </a:p>
          <a:p>
            <a:pPr marL="496585" lvl="1" indent="-248293" algn="l">
              <a:lnSpc>
                <a:spcPts val="2760"/>
              </a:lnSpc>
              <a:buFont typeface="Arial"/>
              <a:buChar char="•"/>
            </a:pPr>
            <a:r>
              <a:rPr lang="en-US" sz="23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If the primary server crashes, all data becomes temporarily unavailable.</a:t>
            </a:r>
          </a:p>
          <a:p>
            <a:pPr marL="496585" lvl="1" indent="-248293" algn="l">
              <a:lnSpc>
                <a:spcPts val="2760"/>
              </a:lnSpc>
              <a:spcBef>
                <a:spcPct val="0"/>
              </a:spcBef>
              <a:buFont typeface="Arial"/>
              <a:buChar char="•"/>
            </a:pPr>
            <a:r>
              <a:rPr lang="en-US" sz="23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Reads and writes cannot be served during downtime.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28700" y="5720175"/>
            <a:ext cx="8347834" cy="1076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80"/>
              </a:lnSpc>
            </a:pPr>
            <a:r>
              <a:rPr lang="en-US" sz="2400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Purpose</a:t>
            </a:r>
            <a:r>
              <a:rPr lang="en-US" sz="24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:</a:t>
            </a:r>
          </a:p>
          <a:p>
            <a:pPr marL="518175" lvl="1" indent="-259087" algn="just">
              <a:lnSpc>
                <a:spcPts val="2880"/>
              </a:lnSpc>
              <a:spcBef>
                <a:spcPct val="0"/>
              </a:spcBef>
              <a:buFont typeface="Arial"/>
              <a:buChar char="•"/>
            </a:pPr>
            <a:r>
              <a:rPr lang="en-US" sz="24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To provide fault tolerance by maintaining live copies of data on one or more replica servers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25000" y="7324433"/>
            <a:ext cx="8319000" cy="2410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94870" lvl="1" indent="-247435" algn="l">
              <a:lnSpc>
                <a:spcPts val="2750"/>
              </a:lnSpc>
              <a:buFont typeface="Arial"/>
              <a:buChar char="•"/>
            </a:pPr>
            <a:r>
              <a:rPr lang="en-US" sz="2292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Replication in PyKV means maintaining live copies of data on one or more replica servers.</a:t>
            </a:r>
          </a:p>
          <a:p>
            <a:pPr marL="494870" lvl="1" indent="-247435" algn="l">
              <a:lnSpc>
                <a:spcPts val="2750"/>
              </a:lnSpc>
              <a:buFont typeface="Arial"/>
              <a:buChar char="•"/>
            </a:pPr>
            <a:r>
              <a:rPr lang="en-US" sz="2292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Every write operation performed on the primary node is propagated to replicas.</a:t>
            </a:r>
          </a:p>
          <a:p>
            <a:pPr marL="494870" lvl="1" indent="-247435" algn="l">
              <a:lnSpc>
                <a:spcPts val="2750"/>
              </a:lnSpc>
              <a:buFont typeface="Arial"/>
              <a:buChar char="•"/>
            </a:pPr>
            <a:r>
              <a:rPr lang="en-US" sz="2292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Replicas act as standby nodes that can serve data if needed.</a:t>
            </a:r>
          </a:p>
          <a:p>
            <a:pPr algn="l">
              <a:lnSpc>
                <a:spcPts val="2870"/>
              </a:lnSpc>
              <a:spcBef>
                <a:spcPct val="0"/>
              </a:spcBef>
            </a:pPr>
            <a:endParaRPr lang="en-US" sz="2292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193232" y="2715428"/>
            <a:ext cx="8066068" cy="6131610"/>
          </a:xfrm>
          <a:custGeom>
            <a:avLst/>
            <a:gdLst/>
            <a:ahLst/>
            <a:cxnLst/>
            <a:rect l="l" t="t" r="r" b="b"/>
            <a:pathLst>
              <a:path w="8066068" h="6131610">
                <a:moveTo>
                  <a:pt x="0" y="0"/>
                </a:moveTo>
                <a:lnTo>
                  <a:pt x="8066068" y="0"/>
                </a:lnTo>
                <a:lnTo>
                  <a:pt x="8066068" y="6131610"/>
                </a:lnTo>
                <a:lnTo>
                  <a:pt x="0" y="61316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5052" b="-11742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3" name="TextBox 3"/>
          <p:cNvSpPr txBox="1"/>
          <p:nvPr/>
        </p:nvSpPr>
        <p:spPr>
          <a:xfrm>
            <a:off x="628130" y="1019175"/>
            <a:ext cx="15972197" cy="809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360"/>
              </a:lnSpc>
              <a:spcBef>
                <a:spcPct val="0"/>
              </a:spcBef>
            </a:pPr>
            <a:r>
              <a:rPr lang="en-US" sz="5300" b="1" dirty="0">
                <a:solidFill>
                  <a:srgbClr val="120052"/>
                </a:solidFill>
                <a:latin typeface="Roboto Bold"/>
                <a:ea typeface="Roboto Bold"/>
                <a:cs typeface="Roboto Bold"/>
                <a:sym typeface="Roboto Bold"/>
              </a:rPr>
              <a:t>Architectural Design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28130" y="2464851"/>
            <a:ext cx="7853137" cy="68393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3021" lvl="1" indent="-281511" algn="just">
              <a:lnSpc>
                <a:spcPts val="3650"/>
              </a:lnSpc>
              <a:buFont typeface="Arial"/>
              <a:buChar char="•"/>
            </a:pPr>
            <a:r>
              <a:rPr lang="en-US" sz="2607" b="1" dirty="0">
                <a:solidFill>
                  <a:srgbClr val="10101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Primary-Replica Model </a:t>
            </a:r>
            <a:r>
              <a:rPr lang="en-US" sz="2607" dirty="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: A single primary node handles all write requests. The replica nodes maintain copies of the primary’s data</a:t>
            </a:r>
          </a:p>
          <a:p>
            <a:pPr marL="563021" lvl="1" indent="-281511" algn="just">
              <a:lnSpc>
                <a:spcPts val="3650"/>
              </a:lnSpc>
              <a:buFont typeface="Arial"/>
              <a:buChar char="•"/>
            </a:pPr>
            <a:r>
              <a:rPr lang="en-US" sz="2607" b="1" dirty="0">
                <a:solidFill>
                  <a:srgbClr val="10101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Asynchronous Replication</a:t>
            </a:r>
            <a:r>
              <a:rPr lang="en-US" sz="2607" dirty="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: The primary forwards write operations to all healthy replicas without waiting for response. This prioritizes low write latency. </a:t>
            </a:r>
          </a:p>
          <a:p>
            <a:pPr marL="563021" lvl="1" indent="-281511" algn="just">
              <a:lnSpc>
                <a:spcPts val="3650"/>
              </a:lnSpc>
              <a:buFont typeface="Arial"/>
              <a:buChar char="•"/>
            </a:pPr>
            <a:r>
              <a:rPr lang="en-US" sz="2607" b="1" dirty="0">
                <a:solidFill>
                  <a:srgbClr val="10101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Health Monitoring:</a:t>
            </a:r>
            <a:r>
              <a:rPr lang="en-US" sz="2607" dirty="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 A background process on the primary periodically polls replicas to maintain a list of healthy, active nodes</a:t>
            </a:r>
          </a:p>
          <a:p>
            <a:pPr marL="563021" lvl="1" indent="-281511" algn="just">
              <a:lnSpc>
                <a:spcPts val="3650"/>
              </a:lnSpc>
              <a:buFont typeface="Arial"/>
              <a:buChar char="•"/>
            </a:pPr>
            <a:r>
              <a:rPr lang="en-US" sz="2607" b="1" dirty="0">
                <a:solidFill>
                  <a:srgbClr val="10101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Auto-Resync on Recovery:</a:t>
            </a:r>
            <a:r>
              <a:rPr lang="en-US" sz="2607" dirty="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 When a replica rejoins the cluster after being offline, the primary automatically detects it and initiates a full resync, sending snapshot of its current data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10414240" y="-5715127"/>
            <a:ext cx="2073635" cy="13480001"/>
            <a:chOff x="0" y="0"/>
            <a:chExt cx="116358" cy="75640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6358" cy="756402"/>
            </a:xfrm>
            <a:custGeom>
              <a:avLst/>
              <a:gdLst/>
              <a:ahLst/>
              <a:cxnLst/>
              <a:rect l="l" t="t" r="r" b="b"/>
              <a:pathLst>
                <a:path w="116358" h="756402">
                  <a:moveTo>
                    <a:pt x="0" y="0"/>
                  </a:moveTo>
                  <a:lnTo>
                    <a:pt x="116358" y="0"/>
                  </a:lnTo>
                  <a:lnTo>
                    <a:pt x="116358" y="756402"/>
                  </a:lnTo>
                  <a:lnTo>
                    <a:pt x="0" y="756402"/>
                  </a:lnTo>
                  <a:close/>
                </a:path>
              </a:pathLst>
            </a:custGeom>
            <a:solidFill>
              <a:srgbClr val="193C6F"/>
            </a:soli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16358" cy="7945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 dirty="0"/>
            </a:p>
          </p:txBody>
        </p:sp>
      </p:grpSp>
      <p:grpSp>
        <p:nvGrpSpPr>
          <p:cNvPr id="5" name="Group 5"/>
          <p:cNvGrpSpPr/>
          <p:nvPr/>
        </p:nvGrpSpPr>
        <p:grpSpPr>
          <a:xfrm rot="5400000">
            <a:off x="1186551" y="-1198495"/>
            <a:ext cx="2085578" cy="4458681"/>
            <a:chOff x="0" y="0"/>
            <a:chExt cx="117028" cy="25018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17028" cy="250189"/>
            </a:xfrm>
            <a:custGeom>
              <a:avLst/>
              <a:gdLst/>
              <a:ahLst/>
              <a:cxnLst/>
              <a:rect l="l" t="t" r="r" b="b"/>
              <a:pathLst>
                <a:path w="117028" h="250189">
                  <a:moveTo>
                    <a:pt x="0" y="0"/>
                  </a:moveTo>
                  <a:lnTo>
                    <a:pt x="117028" y="0"/>
                  </a:lnTo>
                  <a:lnTo>
                    <a:pt x="117028" y="250189"/>
                  </a:lnTo>
                  <a:lnTo>
                    <a:pt x="0" y="250189"/>
                  </a:lnTo>
                  <a:close/>
                </a:path>
              </a:pathLst>
            </a:custGeom>
            <a:solidFill>
              <a:srgbClr val="193C6F"/>
            </a:soli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17028" cy="2882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 dirty="0"/>
            </a:p>
          </p:txBody>
        </p:sp>
      </p:grpSp>
      <p:sp>
        <p:nvSpPr>
          <p:cNvPr id="8" name="Freeform 8"/>
          <p:cNvSpPr/>
          <p:nvPr/>
        </p:nvSpPr>
        <p:spPr>
          <a:xfrm>
            <a:off x="522240" y="3429000"/>
            <a:ext cx="3375258" cy="5748307"/>
          </a:xfrm>
          <a:custGeom>
            <a:avLst/>
            <a:gdLst/>
            <a:ahLst/>
            <a:cxnLst/>
            <a:rect l="l" t="t" r="r" b="b"/>
            <a:pathLst>
              <a:path w="3375258" h="5748307">
                <a:moveTo>
                  <a:pt x="0" y="0"/>
                </a:moveTo>
                <a:lnTo>
                  <a:pt x="3375258" y="0"/>
                </a:lnTo>
                <a:lnTo>
                  <a:pt x="3375258" y="5748307"/>
                </a:lnTo>
                <a:lnTo>
                  <a:pt x="0" y="574830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9" name="Freeform 9"/>
          <p:cNvSpPr/>
          <p:nvPr/>
        </p:nvSpPr>
        <p:spPr>
          <a:xfrm>
            <a:off x="9572625" y="3463754"/>
            <a:ext cx="3439876" cy="5759792"/>
          </a:xfrm>
          <a:custGeom>
            <a:avLst/>
            <a:gdLst/>
            <a:ahLst/>
            <a:cxnLst/>
            <a:rect l="l" t="t" r="r" b="b"/>
            <a:pathLst>
              <a:path w="3439876" h="5759792">
                <a:moveTo>
                  <a:pt x="0" y="0"/>
                </a:moveTo>
                <a:lnTo>
                  <a:pt x="3439876" y="0"/>
                </a:lnTo>
                <a:lnTo>
                  <a:pt x="3439876" y="5759792"/>
                </a:lnTo>
                <a:lnTo>
                  <a:pt x="0" y="57597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10" name="AutoShape 10"/>
          <p:cNvSpPr/>
          <p:nvPr/>
        </p:nvSpPr>
        <p:spPr>
          <a:xfrm>
            <a:off x="9144000" y="2655162"/>
            <a:ext cx="0" cy="6892577"/>
          </a:xfrm>
          <a:prstGeom prst="line">
            <a:avLst/>
          </a:prstGeom>
          <a:ln w="38100" cap="flat">
            <a:solidFill>
              <a:srgbClr val="ACB8C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 dirty="0"/>
          </a:p>
        </p:txBody>
      </p:sp>
      <p:sp>
        <p:nvSpPr>
          <p:cNvPr id="11" name="Freeform 11"/>
          <p:cNvSpPr/>
          <p:nvPr/>
        </p:nvSpPr>
        <p:spPr>
          <a:xfrm>
            <a:off x="4711057" y="6681595"/>
            <a:ext cx="3384970" cy="2352488"/>
          </a:xfrm>
          <a:custGeom>
            <a:avLst/>
            <a:gdLst/>
            <a:ahLst/>
            <a:cxnLst/>
            <a:rect l="l" t="t" r="r" b="b"/>
            <a:pathLst>
              <a:path w="3384970" h="2352488">
                <a:moveTo>
                  <a:pt x="0" y="0"/>
                </a:moveTo>
                <a:lnTo>
                  <a:pt x="3384970" y="0"/>
                </a:lnTo>
                <a:lnTo>
                  <a:pt x="3384970" y="2352488"/>
                </a:lnTo>
                <a:lnTo>
                  <a:pt x="0" y="23524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12" name="TextBox 12"/>
          <p:cNvSpPr txBox="1"/>
          <p:nvPr/>
        </p:nvSpPr>
        <p:spPr>
          <a:xfrm>
            <a:off x="5889902" y="538162"/>
            <a:ext cx="11369398" cy="981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794"/>
              </a:lnSpc>
              <a:spcBef>
                <a:spcPct val="0"/>
              </a:spcBef>
            </a:pPr>
            <a:r>
              <a:rPr lang="en-US" sz="6495" b="1" dirty="0">
                <a:solidFill>
                  <a:srgbClr val="F4F6F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Client Interface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0" y="610536"/>
            <a:ext cx="4458681" cy="828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99"/>
              </a:lnSpc>
              <a:spcBef>
                <a:spcPct val="0"/>
              </a:spcBef>
            </a:pPr>
            <a:r>
              <a:rPr lang="en-US" sz="5499" b="1" dirty="0">
                <a:solidFill>
                  <a:srgbClr val="F4F6F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Module 5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35131" y="2426562"/>
            <a:ext cx="6447100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600"/>
              </a:lnSpc>
              <a:spcBef>
                <a:spcPct val="0"/>
              </a:spcBef>
            </a:pPr>
            <a:r>
              <a:rPr lang="en-US" sz="3000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Command-Line Interface(CLI)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812200" y="2426562"/>
            <a:ext cx="6447100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600"/>
              </a:lnSpc>
              <a:spcBef>
                <a:spcPct val="0"/>
              </a:spcBef>
            </a:pPr>
            <a:r>
              <a:rPr lang="en-US" sz="3000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Graphical-User Interface(GUI)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326123" y="3303790"/>
            <a:ext cx="4817877" cy="32147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 dirty="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An interactive menu-driven client for performing operations</a:t>
            </a:r>
          </a:p>
          <a:p>
            <a:pPr algn="l">
              <a:lnSpc>
                <a:spcPts val="2760"/>
              </a:lnSpc>
            </a:pPr>
            <a:endParaRPr lang="en-US" sz="2300" dirty="0">
              <a:solidFill>
                <a:srgbClr val="10101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2760"/>
              </a:lnSpc>
              <a:spcBef>
                <a:spcPct val="0"/>
              </a:spcBef>
            </a:pPr>
            <a:r>
              <a:rPr lang="en-US" sz="2300" b="1" dirty="0">
                <a:solidFill>
                  <a:srgbClr val="10101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Smart Failover :</a:t>
            </a:r>
            <a:r>
              <a:rPr lang="en-US" sz="2300" dirty="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 The CLI is configures with a list of server addresses. If a request to the primary fails, it automatically retries the request against next server in the list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3422076" y="3429000"/>
            <a:ext cx="4720935" cy="5829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 b="1" dirty="0">
                <a:solidFill>
                  <a:srgbClr val="10101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Technology: </a:t>
            </a:r>
            <a:r>
              <a:rPr lang="en-US" sz="2300" dirty="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 Real-time web dashboard built with Streamlit.</a:t>
            </a:r>
          </a:p>
          <a:p>
            <a:pPr algn="l">
              <a:lnSpc>
                <a:spcPts val="2760"/>
              </a:lnSpc>
            </a:pPr>
            <a:endParaRPr lang="en-US" sz="2300" dirty="0">
              <a:solidFill>
                <a:srgbClr val="10101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2760"/>
              </a:lnSpc>
            </a:pPr>
            <a:r>
              <a:rPr lang="en-US" sz="2300" b="1" dirty="0">
                <a:solidFill>
                  <a:srgbClr val="10101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Features</a:t>
            </a:r>
          </a:p>
          <a:p>
            <a:pPr marL="496585" lvl="1" indent="-248293" algn="l">
              <a:lnSpc>
                <a:spcPts val="2760"/>
              </a:lnSpc>
              <a:buFont typeface="Arial"/>
              <a:buChar char="•"/>
            </a:pPr>
            <a:r>
              <a:rPr lang="en-US" sz="2300" b="1" dirty="0">
                <a:solidFill>
                  <a:srgbClr val="10101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Live Metrics</a:t>
            </a:r>
            <a:r>
              <a:rPr lang="en-US" sz="2300" dirty="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: Auto-refreshing stats for capacity, size, evictions, hits, and hit ratio.</a:t>
            </a:r>
          </a:p>
          <a:p>
            <a:pPr marL="496585" lvl="1" indent="-248293" algn="l">
              <a:lnSpc>
                <a:spcPts val="2760"/>
              </a:lnSpc>
              <a:buFont typeface="Arial"/>
              <a:buChar char="•"/>
            </a:pPr>
            <a:r>
              <a:rPr lang="en-US" sz="2300" b="1" dirty="0">
                <a:solidFill>
                  <a:srgbClr val="10101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Replication Health</a:t>
            </a:r>
            <a:r>
              <a:rPr lang="en-US" sz="2300" dirty="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: Shows healthy replica status and addresses.</a:t>
            </a:r>
          </a:p>
          <a:p>
            <a:pPr marL="496585" lvl="1" indent="-248293" algn="l">
              <a:lnSpc>
                <a:spcPts val="2760"/>
              </a:lnSpc>
              <a:buFont typeface="Arial"/>
              <a:buChar char="•"/>
            </a:pPr>
            <a:r>
              <a:rPr lang="en-US" sz="2300" b="1" dirty="0">
                <a:solidFill>
                  <a:srgbClr val="10101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Data Browser:</a:t>
            </a:r>
            <a:r>
              <a:rPr lang="en-US" sz="2300" dirty="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 View and verify keys, values, and TTL.</a:t>
            </a:r>
          </a:p>
          <a:p>
            <a:pPr marL="496585" lvl="1" indent="-248293" algn="l">
              <a:lnSpc>
                <a:spcPts val="2760"/>
              </a:lnSpc>
              <a:buFont typeface="Arial"/>
              <a:buChar char="•"/>
            </a:pPr>
            <a:r>
              <a:rPr lang="en-US" sz="2300" b="1" dirty="0">
                <a:solidFill>
                  <a:srgbClr val="10101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Interactive Ops</a:t>
            </a:r>
            <a:r>
              <a:rPr lang="en-US" sz="2300" dirty="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: Execute operations and measure latency.</a:t>
            </a:r>
          </a:p>
          <a:p>
            <a:pPr algn="l">
              <a:lnSpc>
                <a:spcPts val="2760"/>
              </a:lnSpc>
              <a:spcBef>
                <a:spcPct val="0"/>
              </a:spcBef>
            </a:pPr>
            <a:endParaRPr lang="en-US" sz="2300" dirty="0">
              <a:solidFill>
                <a:srgbClr val="10101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8113154" y="-8113154"/>
            <a:ext cx="2061691" cy="18288000"/>
            <a:chOff x="0" y="0"/>
            <a:chExt cx="115687" cy="102619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5687" cy="1026192"/>
            </a:xfrm>
            <a:custGeom>
              <a:avLst/>
              <a:gdLst/>
              <a:ahLst/>
              <a:cxnLst/>
              <a:rect l="l" t="t" r="r" b="b"/>
              <a:pathLst>
                <a:path w="115687" h="1026192">
                  <a:moveTo>
                    <a:pt x="0" y="0"/>
                  </a:moveTo>
                  <a:lnTo>
                    <a:pt x="115687" y="0"/>
                  </a:lnTo>
                  <a:lnTo>
                    <a:pt x="115687" y="1026192"/>
                  </a:lnTo>
                  <a:lnTo>
                    <a:pt x="0" y="1026192"/>
                  </a:lnTo>
                  <a:close/>
                </a:path>
              </a:pathLst>
            </a:custGeom>
            <a:solidFill>
              <a:srgbClr val="1D6CAA"/>
            </a:soli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15687" cy="10642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 dirty="0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625049" y="2505075"/>
            <a:ext cx="11415058" cy="7791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1" dirty="0">
                <a:solidFill>
                  <a:srgbClr val="10101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Purpose of Benchmarking</a:t>
            </a:r>
          </a:p>
          <a:p>
            <a:pPr algn="l">
              <a:lnSpc>
                <a:spcPts val="2999"/>
              </a:lnSpc>
            </a:pPr>
            <a:endParaRPr lang="en-US" sz="2499" b="1" dirty="0">
              <a:solidFill>
                <a:srgbClr val="101010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marL="539749" lvl="1" indent="-269875" algn="l">
              <a:lnSpc>
                <a:spcPts val="2999"/>
              </a:lnSpc>
              <a:buFont typeface="Arial"/>
              <a:buChar char="•"/>
            </a:pPr>
            <a:r>
              <a:rPr lang="en-US" sz="2499" dirty="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To evaluate the performance and efficiency of PyKV under concurrent client load.</a:t>
            </a:r>
          </a:p>
          <a:p>
            <a:pPr marL="539749" lvl="1" indent="-269875" algn="l">
              <a:lnSpc>
                <a:spcPts val="2999"/>
              </a:lnSpc>
              <a:buFont typeface="Arial"/>
              <a:buChar char="•"/>
            </a:pPr>
            <a:r>
              <a:rPr lang="en-US" sz="2499" dirty="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To measure response time, throughput, and reliability of key-value operations.</a:t>
            </a:r>
          </a:p>
          <a:p>
            <a:pPr algn="l">
              <a:lnSpc>
                <a:spcPts val="2999"/>
              </a:lnSpc>
            </a:pPr>
            <a:endParaRPr lang="en-US" sz="2499" dirty="0">
              <a:solidFill>
                <a:srgbClr val="10101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2999"/>
              </a:lnSpc>
            </a:pPr>
            <a:r>
              <a:rPr lang="en-US" sz="2499" b="1" dirty="0">
                <a:solidFill>
                  <a:srgbClr val="10101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Benchmarking Metrics</a:t>
            </a:r>
          </a:p>
          <a:p>
            <a:pPr algn="l">
              <a:lnSpc>
                <a:spcPts val="2999"/>
              </a:lnSpc>
            </a:pPr>
            <a:endParaRPr lang="en-US" sz="2499" b="1" dirty="0">
              <a:solidFill>
                <a:srgbClr val="101010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marL="539749" lvl="1" indent="-269875" algn="l">
              <a:lnSpc>
                <a:spcPts val="2999"/>
              </a:lnSpc>
              <a:buFont typeface="Arial"/>
              <a:buChar char="•"/>
            </a:pPr>
            <a:r>
              <a:rPr lang="en-US" sz="2499" b="1" dirty="0">
                <a:solidFill>
                  <a:srgbClr val="10101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Total Time:</a:t>
            </a:r>
            <a:r>
              <a:rPr lang="en-US" sz="2499" dirty="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 Overall execution duration</a:t>
            </a:r>
          </a:p>
          <a:p>
            <a:pPr marL="539749" lvl="1" indent="-269875" algn="l">
              <a:lnSpc>
                <a:spcPts val="2999"/>
              </a:lnSpc>
              <a:buFont typeface="Arial"/>
              <a:buChar char="•"/>
            </a:pPr>
            <a:r>
              <a:rPr lang="en-US" sz="2499" b="1" dirty="0">
                <a:solidFill>
                  <a:srgbClr val="10101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Success Rate: </a:t>
            </a:r>
            <a:r>
              <a:rPr lang="en-US" sz="2499" dirty="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Percentage of successful operations</a:t>
            </a:r>
          </a:p>
          <a:p>
            <a:pPr marL="539749" lvl="1" indent="-269875" algn="l">
              <a:lnSpc>
                <a:spcPts val="2999"/>
              </a:lnSpc>
              <a:buFont typeface="Arial"/>
              <a:buChar char="•"/>
            </a:pPr>
            <a:r>
              <a:rPr lang="en-US" sz="2499" b="1" dirty="0">
                <a:solidFill>
                  <a:srgbClr val="10101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Throughput</a:t>
            </a:r>
            <a:r>
              <a:rPr lang="en-US" sz="2499" dirty="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: Operations processed per second (ops/sec)</a:t>
            </a:r>
          </a:p>
          <a:p>
            <a:pPr marL="539749" lvl="1" indent="-269875" algn="l">
              <a:lnSpc>
                <a:spcPts val="2999"/>
              </a:lnSpc>
              <a:buFont typeface="Arial"/>
              <a:buChar char="•"/>
            </a:pPr>
            <a:r>
              <a:rPr lang="en-US" sz="2499" b="1" dirty="0">
                <a:solidFill>
                  <a:srgbClr val="10101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Average Latency:</a:t>
            </a:r>
            <a:r>
              <a:rPr lang="en-US" sz="2499" dirty="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 Mean response time per request (ms)</a:t>
            </a:r>
          </a:p>
          <a:p>
            <a:pPr algn="l">
              <a:lnSpc>
                <a:spcPts val="2999"/>
              </a:lnSpc>
            </a:pPr>
            <a:endParaRPr lang="en-US" sz="2499" dirty="0">
              <a:solidFill>
                <a:srgbClr val="10101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2999"/>
              </a:lnSpc>
            </a:pPr>
            <a:r>
              <a:rPr lang="en-US" sz="2499" b="1" dirty="0">
                <a:solidFill>
                  <a:srgbClr val="10101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Test Configuration</a:t>
            </a:r>
          </a:p>
          <a:p>
            <a:pPr algn="l">
              <a:lnSpc>
                <a:spcPts val="2999"/>
              </a:lnSpc>
            </a:pPr>
            <a:endParaRPr lang="en-US" sz="2499" b="1" dirty="0">
              <a:solidFill>
                <a:srgbClr val="101010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marL="539749" lvl="1" indent="-269875" algn="l">
              <a:lnSpc>
                <a:spcPts val="2999"/>
              </a:lnSpc>
              <a:buFont typeface="Arial"/>
              <a:buChar char="•"/>
            </a:pPr>
            <a:r>
              <a:rPr lang="en-US" sz="2499" dirty="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Concurrent Threads: 20</a:t>
            </a:r>
          </a:p>
          <a:p>
            <a:pPr marL="539749" lvl="1" indent="-269875" algn="l">
              <a:lnSpc>
                <a:spcPts val="2999"/>
              </a:lnSpc>
              <a:buFont typeface="Arial"/>
              <a:buChar char="•"/>
            </a:pPr>
            <a:r>
              <a:rPr lang="en-US" sz="2499" dirty="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Total Requests: 5,000</a:t>
            </a:r>
          </a:p>
          <a:p>
            <a:pPr marL="539749" lvl="1" indent="-269875" algn="l">
              <a:lnSpc>
                <a:spcPts val="2999"/>
              </a:lnSpc>
              <a:buFont typeface="Arial"/>
              <a:buChar char="•"/>
            </a:pPr>
            <a:r>
              <a:rPr lang="en-US" sz="2499" dirty="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Cache Capacity: 1,000 keys</a:t>
            </a:r>
          </a:p>
          <a:p>
            <a:pPr marL="539749" lvl="1" indent="-269875" algn="l">
              <a:lnSpc>
                <a:spcPts val="2999"/>
              </a:lnSpc>
              <a:buFont typeface="Arial"/>
              <a:buChar char="•"/>
            </a:pPr>
            <a:r>
              <a:rPr lang="en-US" sz="2499" dirty="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Operations: SET, GET</a:t>
            </a:r>
          </a:p>
          <a:p>
            <a:pPr algn="l">
              <a:lnSpc>
                <a:spcPts val="2999"/>
              </a:lnSpc>
              <a:spcBef>
                <a:spcPct val="0"/>
              </a:spcBef>
            </a:pPr>
            <a:endParaRPr lang="en-US" sz="2499" dirty="0">
              <a:solidFill>
                <a:srgbClr val="10101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12040107" y="2747146"/>
            <a:ext cx="5219193" cy="5670234"/>
          </a:xfrm>
          <a:custGeom>
            <a:avLst/>
            <a:gdLst/>
            <a:ahLst/>
            <a:cxnLst/>
            <a:rect l="l" t="t" r="r" b="b"/>
            <a:pathLst>
              <a:path w="5219193" h="5670234">
                <a:moveTo>
                  <a:pt x="0" y="0"/>
                </a:moveTo>
                <a:lnTo>
                  <a:pt x="5219193" y="0"/>
                </a:lnTo>
                <a:lnTo>
                  <a:pt x="5219193" y="5670234"/>
                </a:lnTo>
                <a:lnTo>
                  <a:pt x="0" y="56702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7" name="TextBox 7"/>
          <p:cNvSpPr txBox="1"/>
          <p:nvPr/>
        </p:nvSpPr>
        <p:spPr>
          <a:xfrm>
            <a:off x="257064" y="614362"/>
            <a:ext cx="17773873" cy="828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594"/>
              </a:lnSpc>
              <a:spcBef>
                <a:spcPct val="0"/>
              </a:spcBef>
            </a:pPr>
            <a:r>
              <a:rPr lang="en-US" sz="5495" b="1" dirty="0">
                <a:solidFill>
                  <a:srgbClr val="F4F6F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Performance Evaluation (Benchmarking)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521557" y="8900743"/>
            <a:ext cx="7509380" cy="727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 i="1" dirty="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~Lower GET success rate is expected due to cache capacity being smaller than total inserted keys.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380</TotalTime>
  <Words>2145</Words>
  <Application>Microsoft Office PowerPoint</Application>
  <PresentationFormat>Custom</PresentationFormat>
  <Paragraphs>247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Montserrat Italics</vt:lpstr>
      <vt:lpstr>Roboto Bold</vt:lpstr>
      <vt:lpstr>Montserrat Bold</vt:lpstr>
      <vt:lpstr>Montserrat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PyKV - </dc:title>
  <cp:lastModifiedBy>Rupali Shewale</cp:lastModifiedBy>
  <cp:revision>7</cp:revision>
  <dcterms:created xsi:type="dcterms:W3CDTF">2006-08-16T00:00:00Z</dcterms:created>
  <dcterms:modified xsi:type="dcterms:W3CDTF">2026-01-08T13:29:11Z</dcterms:modified>
  <dc:identifier>DAG73ZGfP8c</dc:identifier>
</cp:coreProperties>
</file>